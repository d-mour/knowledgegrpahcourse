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notesMasterIdLst>
    <p:notesMasterId r:id="rId16"/>
  </p:notesMasterIdLst>
  <p:sldIdLst>
    <p:sldId id="26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7452-492E-4CEE-FA0E-22238228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86749-5FCE-FC32-2098-DEFC8645B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1605E-B7CA-4F1E-9130-C066B8A77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2B848-A5EC-DF1C-231B-7BA0C5D5F1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4268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6523-3BF4-36B1-0369-5CE98AE7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109DD-E37C-31C3-4FA7-04B9C448B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13383-892F-397B-F86B-841AF3FFB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B60B6-22CE-92C8-3C48-9FDD279446B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9838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DF425-BFB2-44DA-15A2-4F9BC2C3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F8EC62-C320-582F-4107-2B417FE9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2962275"/>
            <a:ext cx="9525000" cy="16192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ru-RU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гитар</a:t>
            </a:r>
            <a:endParaRPr lang="en-US" sz="37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ru-RU" sz="37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ru-RU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Структурирование, разметка и обогащение данных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333500" y="4968333"/>
            <a:ext cx="9525000" cy="5715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ru-RU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Щапов Александр Олегович </a:t>
            </a: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P4223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23096A-B974-42E8-AB1B-152D1116DE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81103C1F-4458-4B3E-AD52-CCF07E166CC8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21ED063-6229-4BE4-86B8-681DAB75E7ED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99249F1-DE95-40A1-A9FA-C8C2D425CCD5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4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87D2BFE7-D32D-4152-9D56-14B421AD894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Оценка гитар</a:t>
            </a:r>
            <a:endParaRPr sz="270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0079F6B-1505-4CCA-BD70-BB4EFF16CDBE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200"/>
          </a:p>
        </p:txBody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1981200"/>
            <a:ext cx="6096000" cy="3048000"/>
          </a:xfrm>
          <a:prstGeom prst="rect">
            <a:avLst/>
          </a:prstGeom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D35AF8E-8B1F-463E-9F9A-0D501A460A13}"/>
              </a:ext>
            </a:extLst>
          </p:cNvPr>
          <p:cNvSpPr>
            <a:spLocks noGrp="1"/>
          </p:cNvSpPr>
          <p:nvPr/>
        </p:nvSpPr>
        <p:spPr>
          <a:xfrm>
            <a:off x="7162800" y="2114550"/>
            <a:ext cx="4238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9307F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07FE"/>
                </a:solidFill>
                <a:latin typeface="Arial"/>
                <a:ea typeface="Arial"/>
                <a:cs typeface="Arial"/>
              </a:rPr>
              <a:t>10 моделей электрогитар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805E419-7537-4198-B7FA-DD217A3F751E}"/>
              </a:ext>
            </a:extLst>
          </p:cNvPr>
          <p:cNvSpPr>
            <a:spLocks noGrp="1"/>
          </p:cNvSpPr>
          <p:nvPr/>
        </p:nvSpPr>
        <p:spPr>
          <a:xfrm>
            <a:off x="7162800" y="2876550"/>
            <a:ext cx="4238625" cy="2133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Конструкция — из описания</a:t>
            </a:r>
          </a:p>
          <a:p>
            <a:endParaRPr sz="2100" b="0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Детали — на фотографии</a:t>
            </a:r>
          </a:p>
          <a:p>
            <a:endParaRPr sz="2100" b="0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Звучание — в аудиопримере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21A5D7D-322A-45CA-9C12-463B8350C66A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1062037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Подбор гитары по конструкции и примерам звучания</a:t>
            </a:r>
          </a:p>
        </p:txBody>
      </p:sp>
    </p:spTree>
    <p:extLst>
      <p:ext uri="{BB962C8B-B14F-4D97-AF65-F5344CB8AC3E}">
        <p14:creationId xmlns:p14="http://schemas.microsoft.com/office/powerpoint/2010/main" val="36287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AA00C7-9E79-4667-90AC-DF3650B62E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D13D7045-6242-4E8B-9BB1-D1E55851C023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6122CE3-1F64-4BE9-A1D9-B0A74EBF624A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5C13A72-E7FA-4471-B806-B9F63E34B4A1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B21A1DBE-B5BA-4370-9CFC-6998092E1BF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Аннотационная схема</a:t>
            </a:r>
            <a:endParaRPr sz="27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287FAE6-E26E-4588-8D0F-615501243159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200"/>
          </a:p>
        </p:txBody>
      </p:sp>
      <p:graphicFrame>
        <p:nvGraphicFramePr>
          <p:cNvPr id="27" name="Таблица 26"/>
          <p:cNvGraphicFramePr/>
          <p:nvPr/>
        </p:nvGraphicFramePr>
        <p:xfrm>
          <a:off x="752475" y="2095500"/>
          <a:ext cx="10668000" cy="356235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Модальность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Уровень 1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Уровень 2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Уровень 3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</a:t>
                      </a:r>
                    </a:p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документа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Документ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Абзац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Предложение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Текст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Именованная</a:t>
                      </a:r>
                    </a:p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сущность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Часть речи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Токен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Изображения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Область</a:t>
                      </a:r>
                    </a:p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изображения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Гитара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Деталь:</a:t>
                      </a:r>
                    </a:p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датчик, бридж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Аудио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Запись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Музыкальная</a:t>
                      </a:r>
                    </a:p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фраза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Звучание / пауза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3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0226-BDCA-4483-A18F-BC8933525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BFE1370-3BCA-4F7E-94F2-9A0E1FB40FBB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2C5D7B-0EC6-4622-9407-9F1911AEAD64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68C460-72AD-4A8C-A8DF-28F534D2498A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ECCB202-289F-476C-AFAB-A17438BB4E3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Правила разметки</a:t>
            </a:r>
            <a:endParaRPr sz="27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F988A5-D222-42C6-8FA9-AA1CB727A715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200"/>
          </a:p>
        </p:txBody>
      </p:sp>
      <p:graphicFrame>
        <p:nvGraphicFramePr>
          <p:cNvPr id="39" name="Таблица 38"/>
          <p:cNvGraphicFramePr/>
          <p:nvPr/>
        </p:nvGraphicFramePr>
        <p:xfrm>
          <a:off x="752475" y="2000250"/>
          <a:ext cx="10668000" cy="291465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Материал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выделяем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Инструмент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Текст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Гитары, датчики, бриджи, регуляторы;</a:t>
                      </a:r>
                    </a:p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связи между ними; слова и части речи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INCEpTION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Изображения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Гитара и видимые детали;</a:t>
                      </a:r>
                    </a:p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положение звукоснимателей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Label Studio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Аудио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Музыкальные фразы, звук и паузы;</a:t>
                      </a:r>
                    </a:p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режимы датчиков, если они известны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Praat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95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0226-BDCA-4483-A18F-BC8933525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BFE1370-3BCA-4F7E-94F2-9A0E1FB40FBB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2C5D7B-0EC6-4622-9407-9F1911AEAD64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68C460-72AD-4A8C-A8DF-28F534D2498A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4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ECCB202-289F-476C-AFAB-A17438BB4E3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Разметка текста</a:t>
            </a:r>
            <a:endParaRPr sz="27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F988A5-D222-42C6-8FA9-AA1CB727A715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20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B36B9E6-06A3-4F1A-B19C-BBEBD943773B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9429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INCEpTION</a:t>
            </a:r>
          </a:p>
        </p:txBody>
      </p:sp>
      <p:graphicFrame>
        <p:nvGraphicFramePr>
          <p:cNvPr id="44" name="Таблица 42"/>
          <p:cNvGraphicFramePr/>
          <p:nvPr/>
        </p:nvGraphicFramePr>
        <p:xfrm>
          <a:off x="752475" y="5086350"/>
          <a:ext cx="10668000" cy="933450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Фрагмент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Признаки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хамбакер HA5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PICKUP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bridge · humbucker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220" y="1428749"/>
            <a:ext cx="4222023" cy="352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59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0226-BDCA-4483-A18F-BC8933525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BFE1370-3BCA-4F7E-94F2-9A0E1FB40FBB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2C5D7B-0EC6-4622-9407-9F1911AEAD64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68C460-72AD-4A8C-A8DF-28F534D2498A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ECCB202-289F-476C-AFAB-A17438BB4E3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 разметки</a:t>
            </a:r>
            <a:endParaRPr sz="27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F988A5-D222-42C6-8FA9-AA1CB727A715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200"/>
          </a:p>
        </p:txBody>
      </p:sp>
      <p:graphicFrame>
        <p:nvGraphicFramePr>
          <p:cNvPr id="39" name="Таблица 38"/>
          <p:cNvGraphicFramePr/>
          <p:nvPr/>
        </p:nvGraphicFramePr>
        <p:xfrm>
          <a:off x="752475" y="2057400"/>
          <a:ext cx="10668000" cy="3419475"/>
        </p:xfrm>
        <a:graphic>
          <a:graphicData uri="http://schemas.openxmlformats.org/drawingml/2006/table">
            <a:tbl>
              <a:tblPr/>
              <a:tblGrid>
                <a:gridCol w="80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размечено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</a:t>
                      </a:r>
                    </a:p>
                  </a:txBody>
                  <a:tcPr marL="152400" marR="114300" marT="76200" marB="76200" anchor="ctr"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Тексты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Токены с частями речи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1 595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Упоминания гитар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Детали: датчики / бриджи / регуляторы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47 / 20 / 31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Связи гитары с деталями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98</a:t>
                      </a:r>
                    </a:p>
                  </a:txBody>
                  <a:tcPr marL="152400" marR="114300" marT="76200" marB="7620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95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0226-BDCA-4483-A18F-BC8933525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BFE1370-3BCA-4F7E-94F2-9A0E1FB40FBB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2C5D7B-0EC6-4622-9407-9F1911AEAD64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68C460-72AD-4A8C-A8DF-28F534D2498A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ECCB202-289F-476C-AFAB-A17438BB4E3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Разметка аудио</a:t>
            </a:r>
            <a:endParaRPr sz="27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F988A5-D222-42C6-8FA9-AA1CB727A715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200"/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5"/>
          <a:srcRect t="13098" b="13098"/>
          <a:stretch>
            <a:fillRect/>
          </a:stretch>
        </p:blipFill>
        <p:spPr>
          <a:xfrm>
            <a:off x="619125" y="1552575"/>
            <a:ext cx="109537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5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0226-BDCA-4483-A18F-BC8933525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BFE1370-3BCA-4F7E-94F2-9A0E1FB40FBB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2C5D7B-0EC6-4622-9407-9F1911AEAD64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68C460-72AD-4A8C-A8DF-28F534D2498A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ECCB202-289F-476C-AFAB-A17438BB4E3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 аудиоразметки</a:t>
            </a:r>
            <a:endParaRPr sz="27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F988A5-D222-42C6-8FA9-AA1CB727A715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1200"/>
          </a:p>
        </p:txBody>
      </p:sp>
      <p:graphicFrame>
        <p:nvGraphicFramePr>
          <p:cNvPr id="39" name="Таблица 38"/>
          <p:cNvGraphicFramePr/>
          <p:nvPr/>
        </p:nvGraphicFramePr>
        <p:xfrm>
          <a:off x="752475" y="2038350"/>
          <a:ext cx="10668000" cy="3286125"/>
        </p:xfrm>
        <a:graphic>
          <a:graphicData uri="http://schemas.openxmlformats.org/drawingml/2006/table">
            <a:tbl>
              <a:tblPr/>
              <a:tblGrid>
                <a:gridCol w="752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Материал / интервалы</a:t>
                      </a:r>
                    </a:p>
                  </a:txBody>
                  <a:tcPr marL="190500" marR="114300" marT="95250" marB="95250" anchor="ctr"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</a:t>
                      </a:r>
                    </a:p>
                  </a:txBody>
                  <a:tcPr marL="190500" marR="114300" marT="95250" marB="95250" anchor="ctr"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Полные записи</a:t>
                      </a:r>
                    </a:p>
                  </a:txBody>
                  <a:tcPr marL="190500" marR="114300" marT="95250" marB="9525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90500" marR="114300" marT="95250" marB="9525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Общая длительность</a:t>
                      </a:r>
                    </a:p>
                  </a:txBody>
                  <a:tcPr marL="1905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17 мин 21,67 с</a:t>
                      </a:r>
                    </a:p>
                  </a:txBody>
                  <a:tcPr marL="190500" marR="1143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Кандидаты фраз</a:t>
                      </a:r>
                    </a:p>
                  </a:txBody>
                  <a:tcPr marL="190500" marR="114300" marT="95250" marB="95250" anchor="ctr"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90500" marR="114300" marT="95250" marB="95250" anchor="ctr"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Кандидаты пауз</a:t>
                      </a:r>
                    </a:p>
                  </a:txBody>
                  <a:tcPr marL="1905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190500" marR="1143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95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0226-BDCA-4483-A18F-BC8933525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BFE1370-3BCA-4F7E-94F2-9A0E1FB40FBB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2C5D7B-0EC6-4622-9407-9F1911AEAD64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68C460-72AD-4A8C-A8DF-28F534D2498A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ECCB202-289F-476C-AFAB-A17438BB4E3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9096375" cy="7048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Разметка изображений</a:t>
            </a:r>
            <a:endParaRPr sz="27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F988A5-D222-42C6-8FA9-AA1CB727A715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1200"/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737179" y="1476375"/>
            <a:ext cx="8717643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5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0226-BDCA-4483-A18F-BC8933525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BFE1370-3BCA-4F7E-94F2-9A0E1FB40FBB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2C5D7B-0EC6-4622-9407-9F1911AEAD64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68C460-72AD-4A8C-A8DF-28F534D2498A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ECCB202-289F-476C-AFAB-A17438BB4E33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048125" cy="933450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 разметки</a:t>
            </a:r>
            <a:endParaRPr sz="2700"/>
          </a:p>
          <a:p>
            <a:pPr marL="0" indent="0"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изображений</a:t>
            </a:r>
            <a:endParaRPr sz="27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F988A5-D222-42C6-8FA9-AA1CB727A715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1200"/>
          </a:p>
        </p:txBody>
      </p:sp>
      <p:graphicFrame>
        <p:nvGraphicFramePr>
          <p:cNvPr id="39" name="Таблица 38"/>
          <p:cNvGraphicFramePr/>
          <p:nvPr/>
        </p:nvGraphicFramePr>
        <p:xfrm>
          <a:off x="752475" y="2009775"/>
          <a:ext cx="10668000" cy="3713801"/>
        </p:xfrm>
        <a:graphic>
          <a:graphicData uri="http://schemas.openxmlformats.org/drawingml/2006/table">
            <a:tbl>
              <a:tblPr/>
              <a:tblGrid>
                <a:gridCol w="752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54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размечено</a:t>
                      </a:r>
                    </a:p>
                  </a:txBody>
                  <a:tcPr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</a:t>
                      </a:r>
                    </a:p>
                  </a:txBody>
                  <a:tcPr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54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Фотографии</a:t>
                      </a:r>
                    </a:p>
                  </a:txBody>
                  <a:tcPr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54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Гитары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54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Звукосниматели</a:t>
                      </a:r>
                    </a:p>
                  </a:txBody>
                  <a:tcPr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54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Бриджи и системы вибрато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54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Органы управления</a:t>
                      </a:r>
                    </a:p>
                  </a:txBody>
                  <a:tcPr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>
                    <a:solidFill>
                      <a:srgbClr val="F4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54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Всего рамок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95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0C3A6-CBAD-64A4-03A8-457ACC07D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5FB6FA-897E-84AD-E2AF-C217FB2DCA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>
            <a:extLst>
              <a:ext uri="{FF2B5EF4-FFF2-40B4-BE49-F238E27FC236}">
                <a16:creationId xmlns:a16="http://schemas.microsoft.com/office/drawing/2014/main" id="{514B3AEE-2142-25E9-C85F-7676A4C42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7C1E17C-16F5-2D33-37EB-CB2C4FE5F8A7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4F3455E-BBDB-5596-C8A6-19E91EB6595F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634CF8B-155C-AA0C-0440-9FA29FBEA0E4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>
            <a:extLst>
              <a:ext uri="{FF2B5EF4-FFF2-40B4-BE49-F238E27FC236}">
                <a16:creationId xmlns:a16="http://schemas.microsoft.com/office/drawing/2014/main" id="{C6D74A87-42A1-62C4-A5DE-4954AFB77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07FDB93-F9DA-2212-38A1-D8ED6A6B355C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612780" cy="905824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2700" dirty="0"/>
              <a:t>Структурирование данных с помощью графов знаний</a:t>
            </a:r>
            <a:endParaRPr sz="27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0F35BA9-D56B-868E-876B-416A6DCFE0E3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ru-RU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1200" dirty="0"/>
          </a:p>
        </p:txBody>
      </p:sp>
      <p:pic>
        <p:nvPicPr>
          <p:cNvPr id="7" name="Рисунок 6" descr="Изображение выглядит как текст, программное обеспечение, веб-страница, Значок на компьютере&#10;&#10;Автоматически созданное описание">
            <a:extLst>
              <a:ext uri="{FF2B5EF4-FFF2-40B4-BE49-F238E27FC236}">
                <a16:creationId xmlns:a16="http://schemas.microsoft.com/office/drawing/2014/main" id="{67F46951-EA6F-BD85-910A-3A9B3A916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5"/>
          <a:stretch/>
        </p:blipFill>
        <p:spPr>
          <a:xfrm>
            <a:off x="2889095" y="1495425"/>
            <a:ext cx="6156933" cy="416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5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85ED1-EEE0-6F54-523A-157308AAA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EB619F-9B28-D319-B8FC-5FCCF42AF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2" name="Image 0">
            <a:extLst>
              <a:ext uri="{FF2B5EF4-FFF2-40B4-BE49-F238E27FC236}">
                <a16:creationId xmlns:a16="http://schemas.microsoft.com/office/drawing/2014/main" id="{35EAC0A8-54DE-954F-F280-88C2603CA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26682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7463E3EE-7DAF-DFAE-B53A-ADC120C8356F}"/>
              </a:ext>
            </a:extLst>
          </p:cNvPr>
          <p:cNvSpPr>
            <a:spLocks noGrp="1"/>
          </p:cNvSpPr>
          <p:nvPr/>
        </p:nvSpPr>
        <p:spPr>
          <a:xfrm>
            <a:off x="409575" y="1284249"/>
            <a:ext cx="11372850" cy="4857750"/>
          </a:xfrm>
          <a:prstGeom prst="roundRect">
            <a:avLst>
              <a:gd name="adj" fmla="val 78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24BE8DF-DAA6-7FDF-E7B2-9AACA54704CF}"/>
              </a:ext>
            </a:extLst>
          </p:cNvPr>
          <p:cNvSpPr>
            <a:spLocks noGrp="1"/>
          </p:cNvSpPr>
          <p:nvPr/>
        </p:nvSpPr>
        <p:spPr>
          <a:xfrm>
            <a:off x="1075372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D0398DE-CAB4-BE02-C02A-D70B1B2C7F27}"/>
              </a:ext>
            </a:extLst>
          </p:cNvPr>
          <p:cNvSpPr>
            <a:spLocks noGrp="1"/>
          </p:cNvSpPr>
          <p:nvPr/>
        </p:nvSpPr>
        <p:spPr>
          <a:xfrm>
            <a:off x="11153775" y="1647825"/>
            <a:ext cx="266700" cy="266700"/>
          </a:xfrm>
          <a:prstGeom prst="ellipse">
            <a:avLst/>
          </a:prstGeom>
          <a:solidFill>
            <a:srgbClr val="9307FE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>
            <a:extLst>
              <a:ext uri="{FF2B5EF4-FFF2-40B4-BE49-F238E27FC236}">
                <a16:creationId xmlns:a16="http://schemas.microsoft.com/office/drawing/2014/main" id="{987B107A-B7E5-364C-7DBE-B82AAA144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174" y="409575"/>
            <a:ext cx="1750828" cy="5334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2E269B5C-8CF1-968F-EFF0-5BE4A5D8421B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612780" cy="905824"/>
          </a:xfrm>
          <a:prstGeom prst="rect">
            <a:avLst/>
          </a:prstGeom>
          <a:noFill/>
        </p:spPr>
        <p:txBody>
          <a:bodyPr wrap="square" lIns="38100" tIns="38100" rIns="38100" bIns="38100" anchor="t"/>
          <a:lstStyle/>
          <a:p>
            <a:pPr marL="0" indent="0"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2700" dirty="0"/>
              <a:t>Структурирование данных с помощью графов знаний</a:t>
            </a:r>
            <a:endParaRPr sz="27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3A664FE5-D6A4-A9BC-06C2-94D2C6B24D6F}"/>
              </a:ext>
            </a:extLst>
          </p:cNvPr>
          <p:cNvSpPr>
            <a:spLocks noGrp="1"/>
          </p:cNvSpPr>
          <p:nvPr/>
        </p:nvSpPr>
        <p:spPr>
          <a:xfrm>
            <a:off x="11487150" y="62960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ru-RU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200" dirty="0"/>
          </a:p>
        </p:txBody>
      </p:sp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0A0252B9-B622-8F0C-1014-21759807D5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287" y="1334449"/>
            <a:ext cx="7772400" cy="2315767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1B450A26-1F04-24F5-CED0-BA33095694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287" y="3574175"/>
            <a:ext cx="7772400" cy="26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240</Words>
  <Application>Microsoft Macintosh PowerPoint</Application>
  <DocSecurity>0</DocSecurity>
  <PresentationFormat>Широкоэкранный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Office Theme</vt:lpstr>
      <vt:lpstr>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Щапов Александр Олегович</cp:lastModifiedBy>
  <cp:revision>4</cp:revision>
  <dcterms:created xsi:type="dcterms:W3CDTF">2026-09-20T22:22:07Z</dcterms:created>
  <dcterms:modified xsi:type="dcterms:W3CDTF">2026-09-20T23:25:04Z</dcterms:modified>
</cp:coreProperties>
</file>