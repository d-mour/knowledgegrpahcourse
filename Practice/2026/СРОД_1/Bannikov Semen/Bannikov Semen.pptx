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4"/>
  </p:notesMasterIdLst>
  <p:handoutMasterIdLst>
    <p:handoutMasterId r:id="rId15"/>
  </p:handoutMasterIdLst>
  <p:sldIdLst>
    <p:sldId id="265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263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1" d="100"/>
          <a:sy n="141" d="100"/>
        </p:scale>
        <p:origin x="870" y="12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2800" b="0" i="0" dirty="0">
                <a:solidFill>
                  <a:schemeClr val="bg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Структурирование, разметка и обогащение данных</a:t>
            </a:r>
            <a:endParaRPr lang="en-US" sz="44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2D7CC-49F5-4B11-9E38-656C32366413}"/>
              </a:ext>
            </a:extLst>
          </p:cNvPr>
          <p:cNvSpPr txBox="1"/>
          <p:nvPr/>
        </p:nvSpPr>
        <p:spPr>
          <a:xfrm>
            <a:off x="5151120" y="3381494"/>
            <a:ext cx="2279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Тема: Виды птиц</a:t>
            </a:r>
            <a:endParaRPr lang="ru-RU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C0D99-3FA4-4BEF-9653-8778C9B78DC0}"/>
              </a:ext>
            </a:extLst>
          </p:cNvPr>
          <p:cNvSpPr txBox="1"/>
          <p:nvPr/>
        </p:nvSpPr>
        <p:spPr>
          <a:xfrm>
            <a:off x="5151120" y="3775611"/>
            <a:ext cx="3507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Выполнил: Банников С.С., группа 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P4122</a:t>
            </a:r>
            <a:endParaRPr lang="ru-RU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Инструменты (рекомендованные в пособии)</a:t>
            </a:r>
          </a:p>
          <a:p>
            <a:r>
              <a:rPr lang="ru-RU" dirty="0"/>
              <a:t>Текст: </a:t>
            </a:r>
            <a:r>
              <a:rPr lang="en-US" dirty="0" err="1"/>
              <a:t>WebAnno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INCEpTION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Аудио: </a:t>
            </a:r>
            <a:r>
              <a:rPr lang="en-US" dirty="0"/>
              <a:t>PRAAT (</a:t>
            </a:r>
            <a:r>
              <a:rPr lang="ru-RU" dirty="0"/>
              <a:t>экспорт </a:t>
            </a:r>
            <a:r>
              <a:rPr lang="en-US" dirty="0" err="1"/>
              <a:t>TextGrid</a:t>
            </a:r>
            <a:r>
              <a:rPr lang="en-US" dirty="0"/>
              <a:t>).</a:t>
            </a:r>
            <a:endParaRPr lang="ru-RU" dirty="0"/>
          </a:p>
          <a:p>
            <a:r>
              <a:rPr lang="ru-RU" dirty="0"/>
              <a:t>Изображения: </a:t>
            </a:r>
            <a:r>
              <a:rPr lang="en-US" dirty="0"/>
              <a:t>CVAT </a:t>
            </a:r>
            <a:r>
              <a:rPr lang="ru-RU" dirty="0"/>
              <a:t>или </a:t>
            </a:r>
            <a:r>
              <a:rPr lang="en-US" dirty="0"/>
              <a:t>Label Studio (JSON/XML).</a:t>
            </a:r>
            <a:endParaRPr lang="ru-RU" dirty="0"/>
          </a:p>
          <a:p>
            <a:r>
              <a:rPr lang="en-US" dirty="0"/>
              <a:t>KG: Protégé + Python (</a:t>
            </a:r>
            <a:r>
              <a:rPr lang="en-US" dirty="0" err="1"/>
              <a:t>rdflib</a:t>
            </a:r>
            <a:r>
              <a:rPr lang="en-US" dirty="0"/>
              <a:t>) + </a:t>
            </a:r>
            <a:r>
              <a:rPr lang="en-US" dirty="0" err="1"/>
              <a:t>Jupyter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22977A-2082-4F79-A367-AA90F8C54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9244"/>
            <a:ext cx="67987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effectLst/>
                <a:latin typeface="+mn-lt"/>
              </a:rPr>
              <a:t>Цель: подготовить реальные мультимодальные данные и построить граф знаний.</a:t>
            </a:r>
            <a:br>
              <a:rPr kumimoji="0" lang="ru-RU" altLang="ru-RU" sz="1200" b="0" i="0" u="none" strike="noStrike" cap="none" normalizeH="0" baseline="0">
                <a:ln>
                  <a:noFill/>
                </a:ln>
                <a:effectLst/>
                <a:latin typeface="+mn-lt"/>
              </a:rPr>
            </a:br>
            <a:r>
              <a:rPr kumimoji="0" lang="ru-RU" altLang="ru-RU" sz="1200" b="0" i="0" u="none" strike="noStrike" cap="none" normalizeH="0" baseline="0">
                <a:ln>
                  <a:noFill/>
                </a:ln>
                <a:effectLst/>
                <a:latin typeface="+mn-lt"/>
              </a:rPr>
              <a:t>Задачи: сбор данных, аннотационная схема, разметка 3 модальностей, онтология, SPARQL-запросы.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3EB018D-480F-45D8-83EA-9848D7176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85210"/>
            <a:ext cx="2505425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ЛР1: сбор реальных данных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10 видов птиц, 3 модальности.</a:t>
            </a:r>
          </a:p>
          <a:p>
            <a:r>
              <a:rPr lang="ru-RU" dirty="0"/>
              <a:t>Текст: Wikipedia.</a:t>
            </a:r>
          </a:p>
          <a:p>
            <a:r>
              <a:rPr lang="ru-RU" dirty="0"/>
              <a:t>Изображения/аудио: </a:t>
            </a:r>
            <a:r>
              <a:rPr lang="ru-RU" dirty="0" err="1"/>
              <a:t>Wikimedia</a:t>
            </a:r>
            <a:r>
              <a:rPr lang="ru-RU" dirty="0"/>
              <a:t> </a:t>
            </a:r>
            <a:r>
              <a:rPr lang="ru-RU" dirty="0" err="1"/>
              <a:t>Commons</a:t>
            </a:r>
            <a:r>
              <a:rPr lang="ru-RU" dirty="0"/>
              <a:t>.</a:t>
            </a:r>
          </a:p>
          <a:p>
            <a:r>
              <a:rPr lang="ru-RU" dirty="0"/>
              <a:t>Источники и лицензии зафиксированы.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6D2081-81AC-4B15-BF86-96387D6B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3039000"/>
            <a:ext cx="8920480" cy="195878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28A9801-8666-4486-B42B-7A382FFCA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3719"/>
            <a:ext cx="2962688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9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ЛР2: аннотационная схема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833719"/>
            <a:ext cx="5526315" cy="1130548"/>
          </a:xfrm>
        </p:spPr>
        <p:txBody>
          <a:bodyPr/>
          <a:lstStyle/>
          <a:p>
            <a:r>
              <a:rPr lang="ru-RU" dirty="0"/>
              <a:t>Сущности текста: </a:t>
            </a:r>
            <a:r>
              <a:rPr lang="en-US" dirty="0"/>
              <a:t>BIRD_SPECIES, HABITAT, BEHAVIOR, VOCALIZATION, COLOR_FEATURE.</a:t>
            </a:r>
          </a:p>
          <a:p>
            <a:r>
              <a:rPr lang="ru-RU" dirty="0"/>
              <a:t>Изображения: </a:t>
            </a:r>
            <a:r>
              <a:rPr lang="en-US" dirty="0" err="1"/>
              <a:t>BirdInstance</a:t>
            </a:r>
            <a:r>
              <a:rPr lang="en-US" dirty="0"/>
              <a:t> (+ </a:t>
            </a:r>
            <a:r>
              <a:rPr lang="ru-RU" dirty="0"/>
              <a:t>атрибут </a:t>
            </a:r>
            <a:r>
              <a:rPr lang="en-US" dirty="0" err="1"/>
              <a:t>species_id</a:t>
            </a:r>
            <a:r>
              <a:rPr lang="en-US" dirty="0"/>
              <a:t>, occluded).</a:t>
            </a:r>
          </a:p>
          <a:p>
            <a:r>
              <a:rPr lang="ru-RU" dirty="0"/>
              <a:t>Аудио: </a:t>
            </a:r>
            <a:r>
              <a:rPr lang="en-US" dirty="0" err="1"/>
              <a:t>BirdCallSegment</a:t>
            </a:r>
            <a:r>
              <a:rPr lang="en-US" dirty="0"/>
              <a:t>, </a:t>
            </a:r>
            <a:r>
              <a:rPr lang="en-US" dirty="0" err="1"/>
              <a:t>BackgroundSound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07CF08-0956-4CEA-B4EB-8446B3E7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9937"/>
            <a:ext cx="7306695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238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ЛР3: разметка текстов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1788" y="842207"/>
            <a:ext cx="5526315" cy="52728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Размечено 10 текстов в формате </a:t>
            </a:r>
            <a:r>
              <a:rPr lang="ru-RU" dirty="0" err="1"/>
              <a:t>WebAnno</a:t>
            </a:r>
            <a:r>
              <a:rPr lang="ru-RU" dirty="0"/>
              <a:t> TSV.</a:t>
            </a:r>
          </a:p>
          <a:p>
            <a:r>
              <a:rPr lang="ru-RU" dirty="0"/>
              <a:t>Сущности связаны с видами птиц через </a:t>
            </a:r>
            <a:r>
              <a:rPr lang="ru-RU" dirty="0" err="1"/>
              <a:t>species_id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A03D82-212A-4A57-AD4D-86A142019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88" y="1369491"/>
            <a:ext cx="5412228" cy="352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44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ЛР4: разметка аудио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842207"/>
            <a:ext cx="5526315" cy="3875536"/>
          </a:xfrm>
        </p:spPr>
        <p:txBody>
          <a:bodyPr/>
          <a:lstStyle/>
          <a:p>
            <a:r>
              <a:rPr lang="ru-RU" dirty="0"/>
              <a:t>Подготовлено 30 аудиофайлов.</a:t>
            </a:r>
          </a:p>
          <a:p>
            <a:r>
              <a:rPr lang="ru-RU" dirty="0"/>
              <a:t>Аннотации в </a:t>
            </a:r>
            <a:r>
              <a:rPr lang="ru-RU" dirty="0" err="1"/>
              <a:t>TextGrid</a:t>
            </a:r>
            <a:r>
              <a:rPr lang="ru-RU" dirty="0"/>
              <a:t>: интервалы птицы и фоновые интервалы.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0C169F-F710-4707-8EE6-1CDAADD4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7433"/>
            <a:ext cx="4978518" cy="357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0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ЛР5: разметка изображений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38149"/>
            <a:ext cx="5526315" cy="3875536"/>
          </a:xfrm>
        </p:spPr>
        <p:txBody>
          <a:bodyPr/>
          <a:lstStyle/>
          <a:p>
            <a:r>
              <a:rPr lang="ru-RU" dirty="0"/>
              <a:t>Разметка в </a:t>
            </a:r>
            <a:r>
              <a:rPr lang="en-US" dirty="0"/>
              <a:t>COCO JSON.</a:t>
            </a:r>
          </a:p>
          <a:p>
            <a:r>
              <a:rPr lang="ru-RU" dirty="0"/>
              <a:t>Класс: </a:t>
            </a:r>
            <a:r>
              <a:rPr lang="en-US" dirty="0" err="1"/>
              <a:t>BirdInstance</a:t>
            </a:r>
            <a:r>
              <a:rPr lang="en-US" dirty="0"/>
              <a:t>.</a:t>
            </a:r>
          </a:p>
          <a:p>
            <a:r>
              <a:rPr lang="ru-RU" dirty="0"/>
              <a:t>Ключевой атрибут: </a:t>
            </a:r>
            <a:r>
              <a:rPr lang="en-US" dirty="0" err="1"/>
              <a:t>species_id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60D627-3228-47C1-84EE-0718A179F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9813"/>
            <a:ext cx="6226537" cy="317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9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ЛР6: онтология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Классы: </a:t>
            </a:r>
            <a:r>
              <a:rPr lang="en-US" dirty="0" err="1"/>
              <a:t>BirdSpecies</a:t>
            </a:r>
            <a:r>
              <a:rPr lang="en-US" dirty="0"/>
              <a:t>, </a:t>
            </a:r>
            <a:r>
              <a:rPr lang="en-US" dirty="0" err="1"/>
              <a:t>TextMention</a:t>
            </a:r>
            <a:r>
              <a:rPr lang="en-US" dirty="0"/>
              <a:t>, </a:t>
            </a:r>
            <a:r>
              <a:rPr lang="en-US" dirty="0" err="1"/>
              <a:t>AudioSegment</a:t>
            </a:r>
            <a:r>
              <a:rPr lang="en-US" dirty="0"/>
              <a:t>, </a:t>
            </a:r>
            <a:r>
              <a:rPr lang="en-US" dirty="0" err="1"/>
              <a:t>BirdDetection</a:t>
            </a:r>
            <a:r>
              <a:rPr lang="en-US" dirty="0"/>
              <a:t>, ...</a:t>
            </a:r>
          </a:p>
          <a:p>
            <a:r>
              <a:rPr lang="ru-RU" dirty="0"/>
              <a:t>Связи: </a:t>
            </a:r>
            <a:r>
              <a:rPr lang="en-US" dirty="0" err="1"/>
              <a:t>aboutSpecies</a:t>
            </a:r>
            <a:r>
              <a:rPr lang="en-US" dirty="0"/>
              <a:t>, </a:t>
            </a:r>
            <a:r>
              <a:rPr lang="en-US" dirty="0" err="1"/>
              <a:t>segmentSpecies</a:t>
            </a:r>
            <a:r>
              <a:rPr lang="en-US" dirty="0"/>
              <a:t>, </a:t>
            </a:r>
            <a:r>
              <a:rPr lang="en-US" dirty="0" err="1"/>
              <a:t>detectedSpecies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3DA157-A532-4468-A4BA-20BD33ECB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56" y="2880976"/>
            <a:ext cx="2238687" cy="203863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3AA7B8A-DE69-415D-AA13-256B258A6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976"/>
            <a:ext cx="2619741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6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ЛР6: сборка графа знаний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Скрипт: </a:t>
            </a:r>
            <a:r>
              <a:rPr lang="en-US" dirty="0"/>
              <a:t>scripts/build_knowledge_graph.py.</a:t>
            </a:r>
          </a:p>
          <a:p>
            <a:r>
              <a:rPr lang="ru-RU" dirty="0"/>
              <a:t>Выход: </a:t>
            </a:r>
            <a:r>
              <a:rPr lang="en-US" dirty="0" err="1"/>
              <a:t>birds_instances.ttl</a:t>
            </a:r>
            <a:r>
              <a:rPr lang="en-US" dirty="0"/>
              <a:t> + </a:t>
            </a:r>
            <a:r>
              <a:rPr lang="en-US" dirty="0" err="1"/>
              <a:t>birds_kg.ttl</a:t>
            </a:r>
            <a:r>
              <a:rPr lang="en-US" dirty="0"/>
              <a:t>.</a:t>
            </a:r>
          </a:p>
          <a:p>
            <a:r>
              <a:rPr lang="ru-RU" dirty="0"/>
              <a:t>Текущее число триплетов: 13251.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9A8BFD-63F8-43CC-B062-CDFA033B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8" y="2147828"/>
            <a:ext cx="8164064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98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SPARQL: </a:t>
            </a:r>
            <a:r>
              <a:rPr lang="ru-RU" dirty="0"/>
              <a:t>примеры вопросов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43208"/>
            <a:ext cx="5526315" cy="3875536"/>
          </a:xfrm>
        </p:spPr>
        <p:txBody>
          <a:bodyPr/>
          <a:lstStyle/>
          <a:p>
            <a:r>
              <a:rPr lang="ru-RU" dirty="0"/>
              <a:t>Какие виды покрыты всеми 3 модальностями?</a:t>
            </a:r>
          </a:p>
          <a:p>
            <a:r>
              <a:rPr lang="ru-RU" dirty="0"/>
              <a:t>Сколько </a:t>
            </a:r>
            <a:r>
              <a:rPr lang="ru-RU" dirty="0" err="1"/>
              <a:t>аудиосегментов</a:t>
            </a:r>
            <a:r>
              <a:rPr lang="ru-RU" dirty="0"/>
              <a:t> на вид?</a:t>
            </a:r>
          </a:p>
          <a:p>
            <a:r>
              <a:rPr lang="ru-RU" dirty="0"/>
              <a:t>Сколько детекций на изображениях на вид?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AB3C76-4CFF-4D7E-99D9-E2E94C5A2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80" y="943208"/>
            <a:ext cx="3849244" cy="371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2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Выполнение SPARQL в </a:t>
            </a:r>
            <a:r>
              <a:rPr lang="ru-RU" dirty="0" err="1"/>
              <a:t>Colab</a:t>
            </a:r>
            <a:r>
              <a:rPr lang="ru-RU" dirty="0"/>
              <a:t>/</a:t>
            </a:r>
            <a:r>
              <a:rPr lang="ru-RU" dirty="0" err="1"/>
              <a:t>Jupyter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SPARQL выполнялся через </a:t>
            </a:r>
            <a:r>
              <a:rPr lang="ru-RU" dirty="0" err="1"/>
              <a:t>rdflib</a:t>
            </a:r>
            <a:r>
              <a:rPr lang="ru-RU" dirty="0"/>
              <a:t> в </a:t>
            </a:r>
            <a:r>
              <a:rPr lang="ru-RU" dirty="0" err="1"/>
              <a:t>Colab</a:t>
            </a:r>
            <a:r>
              <a:rPr lang="ru-RU" dirty="0"/>
              <a:t>.</a:t>
            </a:r>
          </a:p>
          <a:p>
            <a:r>
              <a:rPr lang="ru-RU" dirty="0"/>
              <a:t>Проверено корректное выполнение запросов и результаты по всем видам.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979120-8695-49E6-8F60-04505ED0C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23" y="3559765"/>
            <a:ext cx="5113867" cy="15781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6FAF98-8750-4146-9EB5-8FD3860A8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701992"/>
            <a:ext cx="3801907" cy="179085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D07140-645C-47C1-8949-E1D26F486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357" y="1701992"/>
            <a:ext cx="3779856" cy="179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0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5376</TotalTime>
  <Words>324</Words>
  <Application>Microsoft Office PowerPoint</Application>
  <PresentationFormat>Экран (16:9)</PresentationFormat>
  <Paragraphs>43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ALS Gorizont Bold Expanded</vt:lpstr>
      <vt:lpstr>Arial</vt:lpstr>
      <vt:lpstr>Calibri</vt:lpstr>
      <vt:lpstr>Cascadia Code</vt:lpstr>
      <vt:lpstr>Golos Text</vt:lpstr>
      <vt:lpstr>Golos Text DemiBold</vt:lpstr>
      <vt:lpstr>Тема1</vt:lpstr>
      <vt:lpstr>Структурирование, разметка и обогащение данных</vt:lpstr>
      <vt:lpstr>Цель: подготовить реальные мультимодальные данные и построить граф знаний. Задачи: сбор данных, аннотационная схема, разметка 3 модальностей, онтология, SPARQL-запросы. </vt:lpstr>
      <vt:lpstr>ЛР1: сбор реальных данных</vt:lpstr>
      <vt:lpstr>ЛР2: аннотационная схема</vt:lpstr>
      <vt:lpstr>ЛР3: разметка текстов</vt:lpstr>
      <vt:lpstr>ЛР4: разметка аудио</vt:lpstr>
      <vt:lpstr>ЛР5: разметка изображений</vt:lpstr>
      <vt:lpstr>ЛР6: онтология</vt:lpstr>
      <vt:lpstr>ЛР6: сборка графа знаний</vt:lpstr>
      <vt:lpstr>SPARQL: примеры вопросов</vt:lpstr>
      <vt:lpstr>Выполнение SPARQL в Colab/Jupyter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Семён Банников</cp:lastModifiedBy>
  <cp:revision>107</cp:revision>
  <dcterms:created xsi:type="dcterms:W3CDTF">2014-06-27T12:30:22Z</dcterms:created>
  <dcterms:modified xsi:type="dcterms:W3CDTF">2026-05-05T15:41:07Z</dcterms:modified>
</cp:coreProperties>
</file>