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  <p:sldId id="271" r:id="rId23"/>
    <p:sldId id="272" r:id="rId24"/>
  </p:sldIdLst>
  <p:notesMasterIdLst>
    <p:notesMasterId r:id="rId21"/>
  </p:notesMasterIdLst>
  <p:sldSz cx="12192000" cy="6858000" type="screen16x9"/>
  <p:notesSz cx="6858000" cy="9144000"/>
  <p:embeddedFontLst>
    <p:embeddedFont>
      <p:font typeface="Liter" charset="-122"/>
      <p:regular r:id="rId26"/>
    </p:embeddedFont>
    <p:embeddedFont>
      <p:font typeface="MiSans" charset="-122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customXml" Target="../customXml/item1.xml"/><Relationship Id="rId26" Type="http://schemas.openxmlformats.org/officeDocument/2006/relationships/font" Target="fonts/font1.fntdata"/><Relationship Id="rId27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dpi="0" rotWithShape="1">
            <a:blip r:embed="rId2">
              <a:alphaModFix amt="40000"/>
            </a:blip>
            <a:srcRect l="20" r="20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shape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191919">
                  <a:alpha val="94901"/>
                </a:srgbClr>
              </a:gs>
              <a:gs pos="50000">
                <a:srgbClr val="191919">
                  <a:alpha val="84705"/>
                </a:srgbClr>
              </a:gs>
              <a:gs pos="100000">
                <a:srgbClr val="000000">
                  <a:alpha val="0"/>
                </a:srgbClr>
              </a:gs>
            </a:gsLst>
            <a:lin scaled="0" ang="2700000"/>
          </a:gradFill>
          <a:ln>
            <a:noFill/>
          </a:ln>
          <a:effectLst/>
        </p:spPr>
      </p:sp>
      <p:sp>
        <p:nvSpPr>
          <p:cNvPr id="4" name="dsl:shape2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5" name="dsl:shape3"/>
          <p:cNvSpPr/>
          <p:nvPr/>
        </p:nvSpPr>
        <p:spPr>
          <a:xfrm>
            <a:off x="538162" y="514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35719" y="35719"/>
                </a:moveTo>
                <a:cubicBezTo>
                  <a:pt x="35719" y="15999"/>
                  <a:pt x="51718" y="0"/>
                  <a:pt x="71438" y="0"/>
                </a:cubicBezTo>
                <a:cubicBezTo>
                  <a:pt x="90153" y="0"/>
                  <a:pt x="105519" y="14399"/>
                  <a:pt x="107045" y="32742"/>
                </a:cubicBezTo>
                <a:lnTo>
                  <a:pt x="86320" y="32742"/>
                </a:lnTo>
                <a:cubicBezTo>
                  <a:pt x="81372" y="32742"/>
                  <a:pt x="77391" y="36723"/>
                  <a:pt x="77391" y="41672"/>
                </a:cubicBezTo>
                <a:cubicBezTo>
                  <a:pt x="77391" y="46620"/>
                  <a:pt x="81372" y="50602"/>
                  <a:pt x="86320" y="50602"/>
                </a:cubicBezTo>
                <a:lnTo>
                  <a:pt x="107156" y="50602"/>
                </a:lnTo>
                <a:lnTo>
                  <a:pt x="107156" y="68461"/>
                </a:lnTo>
                <a:lnTo>
                  <a:pt x="86320" y="68461"/>
                </a:lnTo>
                <a:cubicBezTo>
                  <a:pt x="81372" y="68461"/>
                  <a:pt x="77391" y="72442"/>
                  <a:pt x="77391" y="77391"/>
                </a:cubicBezTo>
                <a:cubicBezTo>
                  <a:pt x="77391" y="82339"/>
                  <a:pt x="81372" y="86320"/>
                  <a:pt x="86320" y="86320"/>
                </a:cubicBezTo>
                <a:lnTo>
                  <a:pt x="107045" y="86320"/>
                </a:lnTo>
                <a:cubicBezTo>
                  <a:pt x="105519" y="104663"/>
                  <a:pt x="90190" y="119063"/>
                  <a:pt x="71438" y="119063"/>
                </a:cubicBezTo>
                <a:cubicBezTo>
                  <a:pt x="51718" y="119063"/>
                  <a:pt x="35719" y="103063"/>
                  <a:pt x="35719" y="83344"/>
                </a:cubicBezTo>
                <a:lnTo>
                  <a:pt x="35719" y="35719"/>
                </a:lnTo>
                <a:close/>
                <a:moveTo>
                  <a:pt x="8930" y="59531"/>
                </a:moveTo>
                <a:cubicBezTo>
                  <a:pt x="13878" y="59531"/>
                  <a:pt x="17859" y="63512"/>
                  <a:pt x="17859" y="68461"/>
                </a:cubicBezTo>
                <a:lnTo>
                  <a:pt x="17859" y="83344"/>
                </a:lnTo>
                <a:cubicBezTo>
                  <a:pt x="17859" y="112923"/>
                  <a:pt x="41858" y="136922"/>
                  <a:pt x="71438" y="136922"/>
                </a:cubicBezTo>
                <a:cubicBezTo>
                  <a:pt x="101017" y="136922"/>
                  <a:pt x="125016" y="112923"/>
                  <a:pt x="125016" y="83344"/>
                </a:cubicBezTo>
                <a:lnTo>
                  <a:pt x="125016" y="68461"/>
                </a:lnTo>
                <a:cubicBezTo>
                  <a:pt x="125016" y="63512"/>
                  <a:pt x="128997" y="59531"/>
                  <a:pt x="133945" y="59531"/>
                </a:cubicBezTo>
                <a:cubicBezTo>
                  <a:pt x="138894" y="59531"/>
                  <a:pt x="142875" y="63512"/>
                  <a:pt x="142875" y="68461"/>
                </a:cubicBezTo>
                <a:lnTo>
                  <a:pt x="142875" y="83344"/>
                </a:lnTo>
                <a:cubicBezTo>
                  <a:pt x="142875" y="119769"/>
                  <a:pt x="115602" y="149833"/>
                  <a:pt x="80367" y="154223"/>
                </a:cubicBezTo>
                <a:lnTo>
                  <a:pt x="80367" y="172641"/>
                </a:lnTo>
                <a:lnTo>
                  <a:pt x="98227" y="172641"/>
                </a:lnTo>
                <a:cubicBezTo>
                  <a:pt x="103175" y="172641"/>
                  <a:pt x="107156" y="176622"/>
                  <a:pt x="107156" y="181570"/>
                </a:cubicBezTo>
                <a:cubicBezTo>
                  <a:pt x="107156" y="186519"/>
                  <a:pt x="103175" y="190500"/>
                  <a:pt x="98227" y="190500"/>
                </a:cubicBezTo>
                <a:lnTo>
                  <a:pt x="44648" y="190500"/>
                </a:lnTo>
                <a:cubicBezTo>
                  <a:pt x="39700" y="190500"/>
                  <a:pt x="35719" y="186519"/>
                  <a:pt x="35719" y="181570"/>
                </a:cubicBezTo>
                <a:cubicBezTo>
                  <a:pt x="35719" y="176622"/>
                  <a:pt x="39700" y="172641"/>
                  <a:pt x="44648" y="172641"/>
                </a:cubicBezTo>
                <a:lnTo>
                  <a:pt x="62508" y="172641"/>
                </a:lnTo>
                <a:lnTo>
                  <a:pt x="62508" y="154223"/>
                </a:lnTo>
                <a:cubicBezTo>
                  <a:pt x="27273" y="149833"/>
                  <a:pt x="0" y="119769"/>
                  <a:pt x="0" y="83344"/>
                </a:cubicBezTo>
                <a:lnTo>
                  <a:pt x="0" y="68461"/>
                </a:lnTo>
                <a:cubicBezTo>
                  <a:pt x="0" y="63512"/>
                  <a:pt x="3981" y="59531"/>
                  <a:pt x="8930" y="595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</p:sp>
      <p:sp>
        <p:nvSpPr>
          <p:cNvPr id="6" name="dsl:shape4"/>
          <p:cNvSpPr/>
          <p:nvPr/>
        </p:nvSpPr>
        <p:spPr>
          <a:xfrm>
            <a:off x="952500" y="495300"/>
            <a:ext cx="23145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text5"/>
          <p:cNvSpPr txBox="1"/>
          <p:nvPr/>
        </p:nvSpPr>
        <p:spPr>
          <a:xfrm>
            <a:off x="861060" y="449580"/>
            <a:ext cx="2497455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 spc="120">
                <a:solidFill>
                  <a:srgbClr val="8F8F8F"/>
                </a:solidFill>
                <a:latin typeface="Liter"/>
                <a:ea typeface="Liter"/>
              </a:rPr>
              <a:t>Аннотационная схема</a:t>
            </a:r>
          </a:p>
        </p:txBody>
      </p:sp>
      <p:sp>
        <p:nvSpPr>
          <p:cNvPr id="8" name="dsl:shape6"/>
          <p:cNvSpPr/>
          <p:nvPr/>
        </p:nvSpPr>
        <p:spPr>
          <a:xfrm>
            <a:off x="381000" y="2162175"/>
            <a:ext cx="7658100" cy="1714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text7"/>
          <p:cNvSpPr txBox="1"/>
          <p:nvPr/>
        </p:nvSpPr>
        <p:spPr>
          <a:xfrm>
            <a:off x="289560" y="2116455"/>
            <a:ext cx="7840980" cy="1805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5400" noProof="1">
                <a:solidFill>
                  <a:srgbClr val="EFEFEF"/>
                </a:solidFill>
                <a:latin typeface="Liter"/>
                <a:ea typeface="Liter"/>
              </a:rPr>
              <a:t>Голосовые команды</a:t>
            </a:r>
          </a:p>
          <a:p>
            <a:pPr algn="l"/>
            <a:r>
              <a:rPr b="1" sz="5400" noProof="1">
                <a:solidFill>
                  <a:srgbClr val="EFEFEF"/>
                </a:solidFill>
                <a:latin typeface="Liter"/>
                <a:ea typeface="Liter"/>
              </a:rPr>
              <a:t>для </a:t>
            </a:r>
            <a:r>
              <a:rPr b="1" sz="5400" noProof="1">
                <a:solidFill>
                  <a:srgbClr val="6366F1"/>
                </a:solidFill>
                <a:latin typeface="Liter"/>
                <a:ea typeface="Liter"/>
              </a:rPr>
              <a:t>IoT-устройств</a:t>
            </a:r>
          </a:p>
        </p:txBody>
      </p:sp>
      <p:sp>
        <p:nvSpPr>
          <p:cNvPr id="10" name="dsl:shape8"/>
          <p:cNvSpPr/>
          <p:nvPr/>
        </p:nvSpPr>
        <p:spPr>
          <a:xfrm>
            <a:off x="381000" y="4181475"/>
            <a:ext cx="7429500" cy="742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xt9"/>
          <p:cNvSpPr txBox="1"/>
          <p:nvPr/>
        </p:nvSpPr>
        <p:spPr>
          <a:xfrm>
            <a:off x="289560" y="4135755"/>
            <a:ext cx="7612380" cy="83439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noProof="1">
                <a:solidFill>
                  <a:srgbClr val="8F8F8F"/>
                </a:solidFill>
                <a:latin typeface="Liter"/>
                <a:ea typeface="Liter"/>
              </a:rPr>
              <a:t>Многоуровневая разметка речевых данных для систем умного дома: от акустики до семантики</a:t>
            </a:r>
          </a:p>
        </p:txBody>
      </p:sp>
      <p:sp>
        <p:nvSpPr>
          <p:cNvPr id="12" name="dsl:shape10"/>
          <p:cNvSpPr/>
          <p:nvPr/>
        </p:nvSpPr>
        <p:spPr>
          <a:xfrm>
            <a:off x="4000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3" name="dsl:shape11"/>
          <p:cNvSpPr/>
          <p:nvPr/>
        </p:nvSpPr>
        <p:spPr>
          <a:xfrm>
            <a:off x="647700" y="6248400"/>
            <a:ext cx="1447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xt12"/>
          <p:cNvSpPr txBox="1"/>
          <p:nvPr/>
        </p:nvSpPr>
        <p:spPr>
          <a:xfrm>
            <a:off x="556260" y="6202680"/>
            <a:ext cx="16306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8F8F8F"/>
                </a:solidFill>
                <a:latin typeface="Liter"/>
                <a:ea typeface="Liter"/>
              </a:rPr>
              <a:t>7 уровней разметки</a:t>
            </a:r>
          </a:p>
        </p:txBody>
      </p:sp>
      <p:sp>
        <p:nvSpPr>
          <p:cNvPr id="15" name="dsl:shape13"/>
          <p:cNvSpPr/>
          <p:nvPr/>
        </p:nvSpPr>
        <p:spPr>
          <a:xfrm>
            <a:off x="2355151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6" name="dsl:shape14"/>
          <p:cNvSpPr/>
          <p:nvPr/>
        </p:nvSpPr>
        <p:spPr>
          <a:xfrm>
            <a:off x="2593276" y="6248400"/>
            <a:ext cx="12858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ext15"/>
          <p:cNvSpPr txBox="1"/>
          <p:nvPr/>
        </p:nvSpPr>
        <p:spPr>
          <a:xfrm>
            <a:off x="2501836" y="6202680"/>
            <a:ext cx="1468755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8F8F8F"/>
                </a:solidFill>
                <a:latin typeface="Liter"/>
                <a:ea typeface="Liter"/>
              </a:rPr>
              <a:t>JSON-LD формат</a:t>
            </a:r>
          </a:p>
        </p:txBody>
      </p:sp>
      <p:sp>
        <p:nvSpPr>
          <p:cNvPr id="18" name="dsl:shape16"/>
          <p:cNvSpPr/>
          <p:nvPr/>
        </p:nvSpPr>
        <p:spPr>
          <a:xfrm>
            <a:off x="4148423" y="6286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9" name="dsl:shape17"/>
          <p:cNvSpPr/>
          <p:nvPr/>
        </p:nvSpPr>
        <p:spPr>
          <a:xfrm>
            <a:off x="4377023" y="6248400"/>
            <a:ext cx="139065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text18"/>
          <p:cNvSpPr txBox="1"/>
          <p:nvPr/>
        </p:nvSpPr>
        <p:spPr>
          <a:xfrm>
            <a:off x="4285583" y="6202680"/>
            <a:ext cx="157353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8F8F8F"/>
                </a:solidFill>
                <a:latin typeface="Liter"/>
                <a:ea typeface="Liter"/>
              </a:rPr>
              <a:t>Контроль качества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3" name="dsl:shape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4" name="dsl:shape2"/>
          <p:cNvSpPr/>
          <p:nvPr/>
        </p:nvSpPr>
        <p:spPr>
          <a:xfrm>
            <a:off x="876300" y="457200"/>
            <a:ext cx="93345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ext3"/>
          <p:cNvSpPr txBox="1"/>
          <p:nvPr/>
        </p:nvSpPr>
        <p:spPr>
          <a:xfrm>
            <a:off x="784860" y="411480"/>
            <a:ext cx="111633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 spc="60">
                <a:solidFill>
                  <a:srgbClr val="6366F1"/>
                </a:solidFill>
                <a:latin typeface="Liter"/>
                <a:ea typeface="Liter"/>
              </a:rPr>
              <a:t>Введение</a:t>
            </a:r>
          </a:p>
        </p:txBody>
      </p:sp>
      <p:sp>
        <p:nvSpPr>
          <p:cNvPr id="6" name="dsl:shape4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text5"/>
          <p:cNvSpPr txBox="1"/>
          <p:nvPr/>
        </p:nvSpPr>
        <p:spPr>
          <a:xfrm>
            <a:off x="289560" y="830580"/>
            <a:ext cx="11784330" cy="472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b="1" sz="2700" noProof="1">
                <a:solidFill>
                  <a:srgbClr val="EFEFEF"/>
                </a:solidFill>
                <a:latin typeface="Liter"/>
                <a:ea typeface="Liter"/>
              </a:rPr>
              <a:t>Общее описание предметной области</a:t>
            </a:r>
          </a:p>
        </p:txBody>
      </p:sp>
      <p:sp>
        <p:nvSpPr>
          <p:cNvPr id="8" name="dsl:shape6"/>
          <p:cNvSpPr/>
          <p:nvPr/>
        </p:nvSpPr>
        <p:spPr>
          <a:xfrm>
            <a:off x="384143" y="1489043"/>
            <a:ext cx="5597556" cy="3330606"/>
          </a:xfrm>
          <a:custGeom>
            <a:avLst/>
            <a:gdLst/>
            <a:ahLst/>
            <a:cxnLst/>
            <a:rect l="l" t="t" r="r" b="b"/>
            <a:pathLst>
              <a:path w="5597556" h="3330606">
                <a:moveTo>
                  <a:pt x="114305" y="0"/>
                </a:moveTo>
                <a:lnTo>
                  <a:pt x="5483250" y="0"/>
                </a:lnTo>
                <a:cubicBezTo>
                  <a:pt x="5546379" y="0"/>
                  <a:pt x="5597556" y="51176"/>
                  <a:pt x="5597556" y="114306"/>
                </a:cubicBezTo>
                <a:lnTo>
                  <a:pt x="5597556" y="3216299"/>
                </a:lnTo>
                <a:cubicBezTo>
                  <a:pt x="5597556" y="3279429"/>
                  <a:pt x="5546379" y="3330606"/>
                  <a:pt x="5483250" y="3330606"/>
                </a:cubicBezTo>
                <a:lnTo>
                  <a:pt x="114305" y="3330606"/>
                </a:lnTo>
                <a:cubicBezTo>
                  <a:pt x="51176" y="3330606"/>
                  <a:pt x="0" y="3279429"/>
                  <a:pt x="0" y="3216299"/>
                </a:cubicBezTo>
                <a:lnTo>
                  <a:pt x="0" y="114306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9" name="dsl:shape7"/>
          <p:cNvSpPr/>
          <p:nvPr/>
        </p:nvSpPr>
        <p:spPr>
          <a:xfrm>
            <a:off x="615981" y="17208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0" name="dsl:shape8"/>
          <p:cNvSpPr/>
          <p:nvPr/>
        </p:nvSpPr>
        <p:spPr>
          <a:xfrm>
            <a:off x="761238" y="1854231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7" h="190500">
                <a:moveTo>
                  <a:pt x="166687" y="76572"/>
                </a:moveTo>
                <a:cubicBezTo>
                  <a:pt x="161180" y="80218"/>
                  <a:pt x="154855" y="83158"/>
                  <a:pt x="148269" y="85502"/>
                </a:cubicBezTo>
                <a:cubicBezTo>
                  <a:pt x="130782" y="91753"/>
                  <a:pt x="107825" y="95250"/>
                  <a:pt x="83343" y="95250"/>
                </a:cubicBezTo>
                <a:cubicBezTo>
                  <a:pt x="58861" y="95250"/>
                  <a:pt x="35867" y="91715"/>
                  <a:pt x="18416" y="85502"/>
                </a:cubicBezTo>
                <a:cubicBezTo>
                  <a:pt x="11868" y="83158"/>
                  <a:pt x="5506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8" y="136922"/>
                  <a:pt x="83343" y="136922"/>
                </a:cubicBezTo>
                <a:cubicBezTo>
                  <a:pt x="129368" y="136922"/>
                  <a:pt x="166687" y="123602"/>
                  <a:pt x="166687" y="107156"/>
                </a:cubicBezTo>
                <a:lnTo>
                  <a:pt x="166687" y="76572"/>
                </a:lnTo>
                <a:close/>
                <a:moveTo>
                  <a:pt x="166687" y="47625"/>
                </a:moveTo>
                <a:lnTo>
                  <a:pt x="166687" y="29766"/>
                </a:lnTo>
                <a:cubicBezTo>
                  <a:pt x="166687" y="13320"/>
                  <a:pt x="129368" y="0"/>
                  <a:pt x="83343" y="0"/>
                </a:cubicBezTo>
                <a:cubicBezTo>
                  <a:pt x="37318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8" y="77391"/>
                  <a:pt x="83343" y="77391"/>
                </a:cubicBezTo>
                <a:cubicBezTo>
                  <a:pt x="129368" y="77391"/>
                  <a:pt x="166687" y="64071"/>
                  <a:pt x="166687" y="47625"/>
                </a:cubicBezTo>
                <a:close/>
                <a:moveTo>
                  <a:pt x="148269" y="145033"/>
                </a:moveTo>
                <a:cubicBezTo>
                  <a:pt x="130819" y="151247"/>
                  <a:pt x="107862" y="154781"/>
                  <a:pt x="83343" y="154781"/>
                </a:cubicBezTo>
                <a:cubicBezTo>
                  <a:pt x="58823" y="154781"/>
                  <a:pt x="35867" y="151247"/>
                  <a:pt x="18416" y="145033"/>
                </a:cubicBezTo>
                <a:cubicBezTo>
                  <a:pt x="11868" y="142689"/>
                  <a:pt x="5506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8" y="190500"/>
                  <a:pt x="83343" y="190500"/>
                </a:cubicBezTo>
                <a:cubicBezTo>
                  <a:pt x="129368" y="190500"/>
                  <a:pt x="166687" y="177180"/>
                  <a:pt x="166687" y="160734"/>
                </a:cubicBezTo>
                <a:lnTo>
                  <a:pt x="166687" y="136103"/>
                </a:lnTo>
                <a:cubicBezTo>
                  <a:pt x="161180" y="139750"/>
                  <a:pt x="154855" y="142689"/>
                  <a:pt x="148269" y="1450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</p:sp>
      <p:sp>
        <p:nvSpPr>
          <p:cNvPr id="11" name="dsl:shape9"/>
          <p:cNvSpPr/>
          <p:nvPr/>
        </p:nvSpPr>
        <p:spPr>
          <a:xfrm>
            <a:off x="1187481" y="1797081"/>
            <a:ext cx="2066925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text10"/>
          <p:cNvSpPr txBox="1"/>
          <p:nvPr/>
        </p:nvSpPr>
        <p:spPr>
          <a:xfrm>
            <a:off x="1096041" y="1751361"/>
            <a:ext cx="2249805" cy="396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b="1" sz="1800" noProof="1">
                <a:solidFill>
                  <a:srgbClr val="EFEFEF"/>
                </a:solidFill>
                <a:latin typeface="Liter"/>
                <a:ea typeface="Liter"/>
              </a:rPr>
              <a:t>Источники данных</a:t>
            </a:r>
          </a:p>
        </p:txBody>
      </p:sp>
      <p:sp>
        <p:nvSpPr>
          <p:cNvPr id="13" name="dsl:shape11"/>
          <p:cNvSpPr/>
          <p:nvPr/>
        </p:nvSpPr>
        <p:spPr>
          <a:xfrm>
            <a:off x="615981" y="246383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4" name="dsl:shape12"/>
          <p:cNvSpPr/>
          <p:nvPr/>
        </p:nvSpPr>
        <p:spPr>
          <a:xfrm>
            <a:off x="806481" y="2368581"/>
            <a:ext cx="5019675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xt13"/>
          <p:cNvSpPr txBox="1"/>
          <p:nvPr/>
        </p:nvSpPr>
        <p:spPr>
          <a:xfrm>
            <a:off x="715041" y="2322861"/>
            <a:ext cx="5202555" cy="5867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6366F1"/>
                </a:solidFill>
                <a:latin typeface="Liter"/>
                <a:ea typeface="Liter"/>
              </a:rPr>
              <a:t>Записи пользователей:</a:t>
            </a: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 голосовые команды к умным колонкам и IoT-устройствам в реальных условиях использования</a:t>
            </a:r>
          </a:p>
        </p:txBody>
      </p:sp>
      <p:sp>
        <p:nvSpPr>
          <p:cNvPr id="16" name="dsl:shape14"/>
          <p:cNvSpPr/>
          <p:nvPr/>
        </p:nvSpPr>
        <p:spPr>
          <a:xfrm>
            <a:off x="615981" y="311153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7" name="dsl:shape15"/>
          <p:cNvSpPr/>
          <p:nvPr/>
        </p:nvSpPr>
        <p:spPr>
          <a:xfrm>
            <a:off x="806481" y="3016281"/>
            <a:ext cx="5019675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xt16"/>
          <p:cNvSpPr txBox="1"/>
          <p:nvPr/>
        </p:nvSpPr>
        <p:spPr>
          <a:xfrm>
            <a:off x="715041" y="2970561"/>
            <a:ext cx="5202555" cy="5867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6366F1"/>
                </a:solidFill>
                <a:latin typeface="Liter"/>
                <a:ea typeface="Liter"/>
              </a:rPr>
              <a:t>Публичные датасеты:</a:t>
            </a: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 Snips, Fluent Speech Commands и другие специализированные корпуса</a:t>
            </a:r>
          </a:p>
        </p:txBody>
      </p:sp>
      <p:sp>
        <p:nvSpPr>
          <p:cNvPr id="19" name="dsl:shape17"/>
          <p:cNvSpPr/>
          <p:nvPr/>
        </p:nvSpPr>
        <p:spPr>
          <a:xfrm>
            <a:off x="615981" y="375923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0" name="dsl:shape18"/>
          <p:cNvSpPr/>
          <p:nvPr/>
        </p:nvSpPr>
        <p:spPr>
          <a:xfrm>
            <a:off x="806481" y="3663981"/>
            <a:ext cx="5019675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xt19"/>
          <p:cNvSpPr txBox="1"/>
          <p:nvPr/>
        </p:nvSpPr>
        <p:spPr>
          <a:xfrm>
            <a:off x="715041" y="3618261"/>
            <a:ext cx="5202555" cy="5867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6366F1"/>
                </a:solidFill>
                <a:latin typeface="Liter"/>
                <a:ea typeface="Liter"/>
              </a:rPr>
              <a:t>Собственные записи:</a:t>
            </a: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 контролируемые сессии записи с целевыми сценариями использования</a:t>
            </a:r>
          </a:p>
        </p:txBody>
      </p:sp>
      <p:sp>
        <p:nvSpPr>
          <p:cNvPr id="22" name="dsl:shape20"/>
          <p:cNvSpPr/>
          <p:nvPr/>
        </p:nvSpPr>
        <p:spPr>
          <a:xfrm>
            <a:off x="384143" y="5057775"/>
            <a:ext cx="5597556" cy="1416081"/>
          </a:xfrm>
          <a:custGeom>
            <a:avLst/>
            <a:gdLst/>
            <a:ahLst/>
            <a:cxnLst/>
            <a:rect l="l" t="t" r="r" b="b"/>
            <a:pathLst>
              <a:path w="5597556" h="1416081">
                <a:moveTo>
                  <a:pt x="114304" y="0"/>
                </a:moveTo>
                <a:lnTo>
                  <a:pt x="5483251" y="0"/>
                </a:lnTo>
                <a:cubicBezTo>
                  <a:pt x="5546380" y="0"/>
                  <a:pt x="5597556" y="51176"/>
                  <a:pt x="5597556" y="114306"/>
                </a:cubicBezTo>
                <a:lnTo>
                  <a:pt x="5597556" y="1301774"/>
                </a:lnTo>
                <a:cubicBezTo>
                  <a:pt x="5597556" y="1364904"/>
                  <a:pt x="5546380" y="1416080"/>
                  <a:pt x="5483251" y="1416080"/>
                </a:cubicBezTo>
                <a:lnTo>
                  <a:pt x="114304" y="1416080"/>
                </a:lnTo>
                <a:cubicBezTo>
                  <a:pt x="51175" y="1416080"/>
                  <a:pt x="0" y="1364904"/>
                  <a:pt x="0" y="1301774"/>
                </a:cubicBezTo>
                <a:lnTo>
                  <a:pt x="0" y="114306"/>
                </a:lnTo>
                <a:cubicBezTo>
                  <a:pt x="0" y="51176"/>
                  <a:pt x="51175" y="0"/>
                  <a:pt x="114304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23" name="dsl:shape21"/>
          <p:cNvSpPr/>
          <p:nvPr/>
        </p:nvSpPr>
        <p:spPr>
          <a:xfrm>
            <a:off x="644556" y="53276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4" name="dsl:shape22"/>
          <p:cNvSpPr/>
          <p:nvPr/>
        </p:nvSpPr>
        <p:spPr>
          <a:xfrm>
            <a:off x="1016031" y="5289518"/>
            <a:ext cx="16764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text23"/>
          <p:cNvSpPr txBox="1"/>
          <p:nvPr/>
        </p:nvSpPr>
        <p:spPr>
          <a:xfrm>
            <a:off x="924591" y="5243798"/>
            <a:ext cx="1859280" cy="396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b="1" sz="1800" noProof="1">
                <a:solidFill>
                  <a:srgbClr val="EFEFEF"/>
                </a:solidFill>
                <a:latin typeface="Liter"/>
                <a:ea typeface="Liter"/>
              </a:rPr>
              <a:t>Цель разметки</a:t>
            </a:r>
          </a:p>
        </p:txBody>
      </p:sp>
      <p:sp>
        <p:nvSpPr>
          <p:cNvPr id="26" name="dsl:shape24"/>
          <p:cNvSpPr/>
          <p:nvPr/>
        </p:nvSpPr>
        <p:spPr>
          <a:xfrm>
            <a:off x="615981" y="5746718"/>
            <a:ext cx="5210175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text25"/>
          <p:cNvSpPr txBox="1"/>
          <p:nvPr/>
        </p:nvSpPr>
        <p:spPr>
          <a:xfrm>
            <a:off x="524541" y="5700998"/>
            <a:ext cx="5393055" cy="5867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Извлечение </a:t>
            </a:r>
            <a:r>
              <a:rPr b="1" sz="1200" noProof="1">
                <a:solidFill>
                  <a:srgbClr val="6366F1"/>
                </a:solidFill>
                <a:highlight>
                  <a:srgbClr val="6366F1"/>
                </a:highlight>
                <a:latin typeface="Liter"/>
                <a:ea typeface="Liter"/>
              </a:rPr>
              <a:t>интента </a:t>
            </a: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(намерения пользователя) и </a:t>
            </a:r>
            <a:r>
              <a:rPr b="1" sz="1200" noProof="1">
                <a:solidFill>
                  <a:srgbClr val="6366F1"/>
                </a:solidFill>
                <a:highlight>
                  <a:srgbClr val="6366F1"/>
                </a:highlight>
                <a:latin typeface="Liter"/>
                <a:ea typeface="Liter"/>
              </a:rPr>
              <a:t>слотов </a:t>
            </a: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(параметров команды) для управления устройствами умного дома</a:t>
            </a:r>
          </a:p>
        </p:txBody>
      </p:sp>
      <p:sp>
        <p:nvSpPr>
          <p:cNvPr id="28" name="dsl:shape26"/>
          <p:cNvSpPr/>
          <p:nvPr/>
        </p:nvSpPr>
        <p:spPr>
          <a:xfrm>
            <a:off x="6213443" y="1489043"/>
            <a:ext cx="5597556" cy="4987956"/>
          </a:xfrm>
          <a:custGeom>
            <a:avLst/>
            <a:gdLst/>
            <a:ahLst/>
            <a:cxnLst/>
            <a:rect l="l" t="t" r="r" b="b"/>
            <a:pathLst>
              <a:path w="5597556" h="4987956">
                <a:moveTo>
                  <a:pt x="114323" y="0"/>
                </a:moveTo>
                <a:lnTo>
                  <a:pt x="5483232" y="0"/>
                </a:lnTo>
                <a:cubicBezTo>
                  <a:pt x="5546371" y="0"/>
                  <a:pt x="5597556" y="51184"/>
                  <a:pt x="5597556" y="114323"/>
                </a:cubicBezTo>
                <a:lnTo>
                  <a:pt x="5597556" y="4873632"/>
                </a:lnTo>
                <a:cubicBezTo>
                  <a:pt x="5597556" y="4936771"/>
                  <a:pt x="5546371" y="4987956"/>
                  <a:pt x="5483232" y="4987956"/>
                </a:cubicBezTo>
                <a:lnTo>
                  <a:pt x="114323" y="4987956"/>
                </a:lnTo>
                <a:cubicBezTo>
                  <a:pt x="51184" y="4987956"/>
                  <a:pt x="0" y="4936771"/>
                  <a:pt x="0" y="4873632"/>
                </a:cubicBezTo>
                <a:lnTo>
                  <a:pt x="0" y="114323"/>
                </a:lnTo>
                <a:cubicBezTo>
                  <a:pt x="0" y="51184"/>
                  <a:pt x="51184" y="0"/>
                  <a:pt x="114323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29" name="dsl:shape27"/>
          <p:cNvSpPr/>
          <p:nvPr/>
        </p:nvSpPr>
        <p:spPr>
          <a:xfrm>
            <a:off x="6473856" y="17589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30" name="dsl:shape28"/>
          <p:cNvSpPr/>
          <p:nvPr/>
        </p:nvSpPr>
        <p:spPr>
          <a:xfrm>
            <a:off x="6731031" y="1720881"/>
            <a:ext cx="4962525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sl:text29"/>
          <p:cNvSpPr txBox="1"/>
          <p:nvPr/>
        </p:nvSpPr>
        <p:spPr>
          <a:xfrm>
            <a:off x="6639591" y="1675161"/>
            <a:ext cx="5145405" cy="396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b="1" sz="1800" noProof="1">
                <a:solidFill>
                  <a:srgbClr val="EFEFEF"/>
                </a:solidFill>
                <a:latin typeface="Liter"/>
                <a:ea typeface="Liter"/>
              </a:rPr>
              <a:t>Пример команды</a:t>
            </a:r>
          </a:p>
        </p:txBody>
      </p:sp>
      <p:sp>
        <p:nvSpPr>
          <p:cNvPr id="32" name="dsl:shape30"/>
          <p:cNvSpPr/>
          <p:nvPr/>
        </p:nvSpPr>
        <p:spPr>
          <a:xfrm>
            <a:off x="6448425" y="2219325"/>
            <a:ext cx="5121306" cy="4016406"/>
          </a:xfrm>
          <a:custGeom>
            <a:avLst/>
            <a:gdLst/>
            <a:ahLst/>
            <a:cxnLst/>
            <a:rect l="l" t="t" r="r" b="b"/>
            <a:pathLst>
              <a:path w="5121306" h="4016406">
                <a:moveTo>
                  <a:pt x="76191" y="0"/>
                </a:moveTo>
                <a:lnTo>
                  <a:pt x="5045114" y="0"/>
                </a:lnTo>
                <a:cubicBezTo>
                  <a:pt x="5087193" y="0"/>
                  <a:pt x="5121306" y="34112"/>
                  <a:pt x="5121306" y="76191"/>
                </a:cubicBezTo>
                <a:lnTo>
                  <a:pt x="5121306" y="3940214"/>
                </a:lnTo>
                <a:cubicBezTo>
                  <a:pt x="5121306" y="3982293"/>
                  <a:pt x="5087193" y="4016406"/>
                  <a:pt x="5045114" y="4016406"/>
                </a:cubicBezTo>
                <a:lnTo>
                  <a:pt x="76191" y="4016406"/>
                </a:lnTo>
                <a:cubicBezTo>
                  <a:pt x="34112" y="4016406"/>
                  <a:pt x="0" y="3982293"/>
                  <a:pt x="0" y="3940214"/>
                </a:cubicBezTo>
                <a:lnTo>
                  <a:pt x="0" y="76191"/>
                </a:lnTo>
                <a:cubicBezTo>
                  <a:pt x="0" y="34112"/>
                  <a:pt x="34112" y="0"/>
                  <a:pt x="76191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33" name="dsl:shape31"/>
          <p:cNvSpPr/>
          <p:nvPr/>
        </p:nvSpPr>
        <p:spPr>
          <a:xfrm>
            <a:off x="6608730" y="3197256"/>
            <a:ext cx="48006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text32"/>
          <p:cNvSpPr txBox="1"/>
          <p:nvPr/>
        </p:nvSpPr>
        <p:spPr>
          <a:xfrm>
            <a:off x="6517290" y="3151536"/>
            <a:ext cx="4983480" cy="4343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2250" noProof="1">
                <a:solidFill>
                  <a:srgbClr val="EFEFEF"/>
                </a:solidFill>
                <a:latin typeface="Liter"/>
                <a:ea typeface="Liter"/>
              </a:rPr>
              <a:t>«Включи свет в спальне»</a:t>
            </a:r>
          </a:p>
        </p:txBody>
      </p:sp>
      <p:sp>
        <p:nvSpPr>
          <p:cNvPr id="35" name="dsl:shape33"/>
          <p:cNvSpPr/>
          <p:nvPr/>
        </p:nvSpPr>
        <p:spPr>
          <a:xfrm>
            <a:off x="8705850" y="3654456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36" name="dsl:shape34"/>
          <p:cNvSpPr/>
          <p:nvPr/>
        </p:nvSpPr>
        <p:spPr>
          <a:xfrm>
            <a:off x="6680168" y="4019550"/>
            <a:ext cx="990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sl:text35"/>
          <p:cNvSpPr txBox="1"/>
          <p:nvPr/>
        </p:nvSpPr>
        <p:spPr>
          <a:xfrm>
            <a:off x="6588728" y="3973830"/>
            <a:ext cx="11734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8F8F8F"/>
                </a:solidFill>
                <a:latin typeface="Liter"/>
                <a:ea typeface="Liter"/>
              </a:rPr>
              <a:t>Интент:</a:t>
            </a:r>
          </a:p>
        </p:txBody>
      </p:sp>
      <p:sp>
        <p:nvSpPr>
          <p:cNvPr id="38" name="dsl:shape36"/>
          <p:cNvSpPr/>
          <p:nvPr/>
        </p:nvSpPr>
        <p:spPr>
          <a:xfrm>
            <a:off x="7746968" y="3921156"/>
            <a:ext cx="3590925" cy="428625"/>
          </a:xfrm>
          <a:custGeom>
            <a:avLst/>
            <a:gdLst/>
            <a:ahLst/>
            <a:cxnLst/>
            <a:rect l="l" t="t" r="r" b="b"/>
            <a:pathLst>
              <a:path w="3590925" h="428625">
                <a:moveTo>
                  <a:pt x="76201" y="0"/>
                </a:moveTo>
                <a:lnTo>
                  <a:pt x="3514724" y="0"/>
                </a:lnTo>
                <a:cubicBezTo>
                  <a:pt x="3556809" y="0"/>
                  <a:pt x="3590925" y="34116"/>
                  <a:pt x="3590925" y="76201"/>
                </a:cubicBezTo>
                <a:lnTo>
                  <a:pt x="3590925" y="352424"/>
                </a:lnTo>
                <a:cubicBezTo>
                  <a:pt x="3590925" y="394509"/>
                  <a:pt x="3556809" y="428625"/>
                  <a:pt x="35147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39" name="dsl:shape37"/>
          <p:cNvSpPr/>
          <p:nvPr/>
        </p:nvSpPr>
        <p:spPr>
          <a:xfrm>
            <a:off x="7899368" y="4041743"/>
            <a:ext cx="1919573" cy="1778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sl:text38"/>
          <p:cNvSpPr txBox="1"/>
          <p:nvPr/>
        </p:nvSpPr>
        <p:spPr>
          <a:xfrm>
            <a:off x="7807928" y="3996023"/>
            <a:ext cx="2102453" cy="2692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6366F1"/>
                </a:solidFill>
                <a:latin typeface="MiSans"/>
                <a:ea typeface="MiSans"/>
              </a:rPr>
              <a:t>device_control.turn_on</a:t>
            </a:r>
          </a:p>
        </p:txBody>
      </p:sp>
      <p:sp>
        <p:nvSpPr>
          <p:cNvPr id="41" name="dsl:shape39"/>
          <p:cNvSpPr/>
          <p:nvPr/>
        </p:nvSpPr>
        <p:spPr>
          <a:xfrm>
            <a:off x="6680168" y="4575143"/>
            <a:ext cx="990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sl:text40"/>
          <p:cNvSpPr txBox="1"/>
          <p:nvPr/>
        </p:nvSpPr>
        <p:spPr>
          <a:xfrm>
            <a:off x="6588728" y="4529423"/>
            <a:ext cx="11734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8F8F8F"/>
                </a:solidFill>
                <a:latin typeface="Liter"/>
                <a:ea typeface="Liter"/>
              </a:rPr>
              <a:t>Слоты:</a:t>
            </a:r>
          </a:p>
        </p:txBody>
      </p:sp>
      <p:sp>
        <p:nvSpPr>
          <p:cNvPr id="43" name="dsl:shape41"/>
          <p:cNvSpPr/>
          <p:nvPr/>
        </p:nvSpPr>
        <p:spPr>
          <a:xfrm>
            <a:off x="7746968" y="4556093"/>
            <a:ext cx="60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sl:text42"/>
          <p:cNvSpPr txBox="1"/>
          <p:nvPr/>
        </p:nvSpPr>
        <p:spPr>
          <a:xfrm>
            <a:off x="7655528" y="4510373"/>
            <a:ext cx="7924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DEVICE</a:t>
            </a:r>
          </a:p>
        </p:txBody>
      </p:sp>
      <p:sp>
        <p:nvSpPr>
          <p:cNvPr id="45" name="dsl:shape43"/>
          <p:cNvSpPr/>
          <p:nvPr/>
        </p:nvSpPr>
        <p:spPr>
          <a:xfrm>
            <a:off x="8395144" y="4556093"/>
            <a:ext cx="228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sl:text44"/>
          <p:cNvSpPr txBox="1"/>
          <p:nvPr/>
        </p:nvSpPr>
        <p:spPr>
          <a:xfrm>
            <a:off x="8303704" y="4510373"/>
            <a:ext cx="4114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8F8F8F"/>
                </a:solidFill>
                <a:latin typeface="Liter"/>
                <a:ea typeface="Liter"/>
              </a:rPr>
              <a:t>→</a:t>
            </a:r>
          </a:p>
        </p:txBody>
      </p:sp>
      <p:sp>
        <p:nvSpPr>
          <p:cNvPr id="47" name="dsl:shape45"/>
          <p:cNvSpPr/>
          <p:nvPr/>
        </p:nvSpPr>
        <p:spPr>
          <a:xfrm>
            <a:off x="8661844" y="4498943"/>
            <a:ext cx="647700" cy="342900"/>
          </a:xfrm>
          <a:custGeom>
            <a:avLst/>
            <a:gdLst/>
            <a:ahLst/>
            <a:cxnLst/>
            <a:rect l="l" t="t" r="r" b="b"/>
            <a:pathLst>
              <a:path w="647700" h="342900">
                <a:moveTo>
                  <a:pt x="38100" y="0"/>
                </a:moveTo>
                <a:lnTo>
                  <a:pt x="609600" y="0"/>
                </a:lnTo>
                <a:cubicBezTo>
                  <a:pt x="630642" y="0"/>
                  <a:pt x="647700" y="17058"/>
                  <a:pt x="647700" y="38100"/>
                </a:cubicBezTo>
                <a:lnTo>
                  <a:pt x="647700" y="304800"/>
                </a:lnTo>
                <a:cubicBezTo>
                  <a:pt x="647700" y="325828"/>
                  <a:pt x="630628" y="342900"/>
                  <a:pt x="6096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</p:sp>
      <p:sp>
        <p:nvSpPr>
          <p:cNvPr id="48" name="dsl:shape46"/>
          <p:cNvSpPr/>
          <p:nvPr/>
        </p:nvSpPr>
        <p:spPr>
          <a:xfrm>
            <a:off x="8661844" y="4498943"/>
            <a:ext cx="7239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sl:text47"/>
          <p:cNvSpPr txBox="1"/>
          <p:nvPr/>
        </p:nvSpPr>
        <p:spPr>
          <a:xfrm>
            <a:off x="8684704" y="4510373"/>
            <a:ext cx="6781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6366F1"/>
                </a:solidFill>
                <a:latin typeface="MiSans"/>
                <a:ea typeface="MiSans"/>
              </a:rPr>
              <a:t>light</a:t>
            </a:r>
          </a:p>
        </p:txBody>
      </p:sp>
      <p:sp>
        <p:nvSpPr>
          <p:cNvPr id="50" name="dsl:shape48"/>
          <p:cNvSpPr/>
          <p:nvPr/>
        </p:nvSpPr>
        <p:spPr>
          <a:xfrm>
            <a:off x="7746968" y="4975193"/>
            <a:ext cx="8382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sl:text49"/>
          <p:cNvSpPr txBox="1"/>
          <p:nvPr/>
        </p:nvSpPr>
        <p:spPr>
          <a:xfrm>
            <a:off x="7655528" y="4929473"/>
            <a:ext cx="10210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LOCATION</a:t>
            </a:r>
          </a:p>
        </p:txBody>
      </p:sp>
      <p:sp>
        <p:nvSpPr>
          <p:cNvPr id="52" name="dsl:shape50"/>
          <p:cNvSpPr/>
          <p:nvPr/>
        </p:nvSpPr>
        <p:spPr>
          <a:xfrm>
            <a:off x="8618601" y="4975193"/>
            <a:ext cx="228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sl:text51"/>
          <p:cNvSpPr txBox="1"/>
          <p:nvPr/>
        </p:nvSpPr>
        <p:spPr>
          <a:xfrm>
            <a:off x="8527161" y="4929473"/>
            <a:ext cx="4114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8F8F8F"/>
                </a:solidFill>
                <a:latin typeface="Liter"/>
                <a:ea typeface="Liter"/>
              </a:rPr>
              <a:t>→</a:t>
            </a:r>
          </a:p>
        </p:txBody>
      </p:sp>
      <p:sp>
        <p:nvSpPr>
          <p:cNvPr id="54" name="dsl:shape52"/>
          <p:cNvSpPr/>
          <p:nvPr/>
        </p:nvSpPr>
        <p:spPr>
          <a:xfrm>
            <a:off x="8885301" y="4918043"/>
            <a:ext cx="819150" cy="342900"/>
          </a:xfrm>
          <a:custGeom>
            <a:avLst/>
            <a:gdLst/>
            <a:ahLst/>
            <a:cxnLst/>
            <a:rect l="l" t="t" r="r" b="b"/>
            <a:pathLst>
              <a:path w="819150" h="342900">
                <a:moveTo>
                  <a:pt x="38100" y="0"/>
                </a:moveTo>
                <a:lnTo>
                  <a:pt x="781050" y="0"/>
                </a:lnTo>
                <a:cubicBezTo>
                  <a:pt x="802092" y="0"/>
                  <a:pt x="819150" y="17058"/>
                  <a:pt x="819150" y="38100"/>
                </a:cubicBezTo>
                <a:lnTo>
                  <a:pt x="819150" y="304800"/>
                </a:lnTo>
                <a:cubicBezTo>
                  <a:pt x="819150" y="325828"/>
                  <a:pt x="802078" y="342900"/>
                  <a:pt x="7810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</p:sp>
      <p:sp>
        <p:nvSpPr>
          <p:cNvPr id="55" name="dsl:shape53"/>
          <p:cNvSpPr/>
          <p:nvPr/>
        </p:nvSpPr>
        <p:spPr>
          <a:xfrm>
            <a:off x="8885301" y="4918043"/>
            <a:ext cx="8953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sl:text54"/>
          <p:cNvSpPr txBox="1"/>
          <p:nvPr/>
        </p:nvSpPr>
        <p:spPr>
          <a:xfrm>
            <a:off x="8908161" y="4929473"/>
            <a:ext cx="84963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6366F1"/>
                </a:solidFill>
                <a:latin typeface="MiSans"/>
                <a:ea typeface="MiSans"/>
              </a:rPr>
              <a:t>bedroom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3" name="dsl:shape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4" name="dsl:shape2"/>
          <p:cNvSpPr/>
          <p:nvPr/>
        </p:nvSpPr>
        <p:spPr>
          <a:xfrm>
            <a:off x="876300" y="457200"/>
            <a:ext cx="12192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ext3"/>
          <p:cNvSpPr txBox="1"/>
          <p:nvPr/>
        </p:nvSpPr>
        <p:spPr>
          <a:xfrm>
            <a:off x="784860" y="411480"/>
            <a:ext cx="14020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 spc="60">
                <a:solidFill>
                  <a:srgbClr val="6366F1"/>
                </a:solidFill>
                <a:latin typeface="Liter"/>
                <a:ea typeface="Liter"/>
              </a:rPr>
              <a:t>Архитектура</a:t>
            </a:r>
          </a:p>
        </p:txBody>
      </p:sp>
      <p:sp>
        <p:nvSpPr>
          <p:cNvPr id="6" name="dsl:shape4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text5"/>
          <p:cNvSpPr txBox="1"/>
          <p:nvPr/>
        </p:nvSpPr>
        <p:spPr>
          <a:xfrm>
            <a:off x="289560" y="830580"/>
            <a:ext cx="11784330" cy="472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b="1" sz="2700" noProof="1">
                <a:solidFill>
                  <a:srgbClr val="EFEFEF"/>
                </a:solidFill>
                <a:latin typeface="Liter"/>
                <a:ea typeface="Liter"/>
              </a:rPr>
              <a:t>Семь уровней разметки</a:t>
            </a:r>
          </a:p>
        </p:txBody>
      </p:sp>
      <p:sp>
        <p:nvSpPr>
          <p:cNvPr id="8" name="dsl:shape6"/>
          <p:cNvSpPr/>
          <p:nvPr/>
        </p:nvSpPr>
        <p:spPr>
          <a:xfrm>
            <a:off x="384143" y="1412843"/>
            <a:ext cx="11426856" cy="5064156"/>
          </a:xfrm>
          <a:custGeom>
            <a:avLst/>
            <a:gdLst/>
            <a:ahLst/>
            <a:cxnLst/>
            <a:rect l="l" t="t" r="r" b="b"/>
            <a:pathLst>
              <a:path w="11426856" h="5064156">
                <a:moveTo>
                  <a:pt x="114297" y="0"/>
                </a:moveTo>
                <a:lnTo>
                  <a:pt x="11312558" y="0"/>
                </a:lnTo>
                <a:cubicBezTo>
                  <a:pt x="11375682" y="0"/>
                  <a:pt x="11426856" y="51173"/>
                  <a:pt x="11426856" y="114297"/>
                </a:cubicBezTo>
                <a:lnTo>
                  <a:pt x="11426856" y="4949858"/>
                </a:lnTo>
                <a:cubicBezTo>
                  <a:pt x="11426856" y="5012982"/>
                  <a:pt x="11375682" y="5064156"/>
                  <a:pt x="11312558" y="5064156"/>
                </a:cubicBezTo>
                <a:lnTo>
                  <a:pt x="114297" y="5064156"/>
                </a:lnTo>
                <a:cubicBezTo>
                  <a:pt x="51173" y="5064156"/>
                  <a:pt x="0" y="5012982"/>
                  <a:pt x="0" y="494985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graphicFrame>
        <p:nvGraphicFramePr>
          <p:cNvPr id="9" name="dsl:table7"/>
          <p:cNvGraphicFramePr>
            <a:graphicFrameLocks noGrp="1"/>
          </p:cNvGraphicFramePr>
          <p:nvPr/>
        </p:nvGraphicFramePr>
        <p:xfrm>
          <a:off x="387381" y="1416081"/>
          <a:ext cx="11420472" cy="507682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59111"/>
                <a:gridCol w="2183594"/>
                <a:gridCol w="1906077"/>
                <a:gridCol w="1324775"/>
                <a:gridCol w="1668531"/>
                <a:gridCol w="2278384"/>
              </a:tblGrid>
              <a:tr h="634603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1200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Уровень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1200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Тип разметки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1200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Модальность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1200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Формат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1200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Визуализация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1200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ID сущности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634603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1. Акустико-фонетический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Сегментация речи, паузы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Аудиосигнал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Praat TextGrid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Praat, WaveSurfer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speaker_id, utterance_id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603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2. Лексический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Токенизация, лемматизация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Текстовая транскрипция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CoNLL-U / TSV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WebAnno, INCEpTION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speaker_id, utter_id, token_id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603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3. Морфосинтаксический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Частеречная разметка (POS)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Текстовая транскрипция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CoNLL-U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WebAnno, UD tools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speaker_id, utter_id, token_id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603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4. Синтаксический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Дерево зависимостей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Текстовая транскрипция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CoNLL-U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WebAnno, Brat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speaker_id, utter_id, token_id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603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5. Семантический (интент)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Классификация намерений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Текст + Аудио (просодия)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JSON / TSV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Custom dashboard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speaker_id, utter_id, intent_id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603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6. Семантический (слоты)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NER + нормализация значений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Текстовая транскрипция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IOB2 / JSON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WebAnno, INCEpTION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speaker_id, utter_id, slot_id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603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7. Дискурсивный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Диалоговый контекст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Текст + Аудио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JSON / RDF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Custom tool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dialog_id, turn_id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3" name="dsl:shape1"/>
          <p:cNvSpPr/>
          <p:nvPr/>
        </p:nvSpPr>
        <p:spPr>
          <a:xfrm>
            <a:off x="537210" y="438150"/>
            <a:ext cx="152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ext2"/>
          <p:cNvSpPr txBox="1"/>
          <p:nvPr/>
        </p:nvSpPr>
        <p:spPr>
          <a:xfrm>
            <a:off x="445770" y="392430"/>
            <a:ext cx="33528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350" noProof="1">
                <a:solidFill>
                  <a:srgbClr val="6366F1"/>
                </a:solidFill>
                <a:latin typeface="Liter"/>
                <a:ea typeface="Liter"/>
              </a:rPr>
              <a:t>1</a:t>
            </a:r>
          </a:p>
        </p:txBody>
      </p:sp>
      <p:sp>
        <p:nvSpPr>
          <p:cNvPr id="5" name="dsl:shape3"/>
          <p:cNvSpPr/>
          <p:nvPr/>
        </p:nvSpPr>
        <p:spPr>
          <a:xfrm>
            <a:off x="876300" y="457200"/>
            <a:ext cx="92392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ext4"/>
          <p:cNvSpPr txBox="1"/>
          <p:nvPr/>
        </p:nvSpPr>
        <p:spPr>
          <a:xfrm>
            <a:off x="784860" y="411480"/>
            <a:ext cx="1106805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 spc="60">
                <a:solidFill>
                  <a:srgbClr val="6366F1"/>
                </a:solidFill>
                <a:latin typeface="Liter"/>
                <a:ea typeface="Liter"/>
              </a:rPr>
              <a:t>Уровень 1</a:t>
            </a:r>
          </a:p>
        </p:txBody>
      </p:sp>
      <p:sp>
        <p:nvSpPr>
          <p:cNvPr id="7" name="dsl:shape5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text6"/>
          <p:cNvSpPr txBox="1"/>
          <p:nvPr/>
        </p:nvSpPr>
        <p:spPr>
          <a:xfrm>
            <a:off x="289560" y="830580"/>
            <a:ext cx="11784330" cy="472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b="1" sz="2700" noProof="1">
                <a:solidFill>
                  <a:srgbClr val="EFEFEF"/>
                </a:solidFill>
                <a:latin typeface="Liter"/>
                <a:ea typeface="Liter"/>
              </a:rPr>
              <a:t>Акустико-фонетический уровень</a:t>
            </a:r>
          </a:p>
        </p:txBody>
      </p:sp>
      <p:sp>
        <p:nvSpPr>
          <p:cNvPr id="9" name="dsl:shape7"/>
          <p:cNvSpPr/>
          <p:nvPr/>
        </p:nvSpPr>
        <p:spPr>
          <a:xfrm>
            <a:off x="381000" y="1333500"/>
            <a:ext cx="115157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ext8"/>
          <p:cNvSpPr txBox="1"/>
          <p:nvPr/>
        </p:nvSpPr>
        <p:spPr>
          <a:xfrm>
            <a:off x="289560" y="1287780"/>
            <a:ext cx="1169860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noProof="1">
                <a:solidFill>
                  <a:srgbClr val="8F8F8F"/>
                </a:solidFill>
                <a:latin typeface="Liter"/>
                <a:ea typeface="Liter"/>
              </a:rPr>
              <a:t>Сегментация речи и выделение пауз</a:t>
            </a:r>
          </a:p>
        </p:txBody>
      </p:sp>
      <p:sp>
        <p:nvSpPr>
          <p:cNvPr id="11" name="dsl:shape9"/>
          <p:cNvSpPr/>
          <p:nvPr/>
        </p:nvSpPr>
        <p:spPr>
          <a:xfrm>
            <a:off x="384143" y="1755743"/>
            <a:ext cx="4473606" cy="3559206"/>
          </a:xfrm>
          <a:custGeom>
            <a:avLst/>
            <a:gdLst/>
            <a:ahLst/>
            <a:cxnLst/>
            <a:rect l="l" t="t" r="r" b="b"/>
            <a:pathLst>
              <a:path w="4473606" h="3559206">
                <a:moveTo>
                  <a:pt x="114285" y="0"/>
                </a:moveTo>
                <a:lnTo>
                  <a:pt x="4359320" y="0"/>
                </a:lnTo>
                <a:cubicBezTo>
                  <a:pt x="4422438" y="0"/>
                  <a:pt x="4473606" y="51167"/>
                  <a:pt x="4473606" y="114285"/>
                </a:cubicBezTo>
                <a:lnTo>
                  <a:pt x="4473606" y="3444920"/>
                </a:lnTo>
                <a:cubicBezTo>
                  <a:pt x="4473606" y="3508038"/>
                  <a:pt x="4422438" y="3559205"/>
                  <a:pt x="4359320" y="3559205"/>
                </a:cubicBezTo>
                <a:lnTo>
                  <a:pt x="114285" y="3559205"/>
                </a:lnTo>
                <a:cubicBezTo>
                  <a:pt x="51167" y="3559205"/>
                  <a:pt x="0" y="3508038"/>
                  <a:pt x="0" y="3444920"/>
                </a:cubicBezTo>
                <a:lnTo>
                  <a:pt x="0" y="114285"/>
                </a:lnTo>
                <a:cubicBezTo>
                  <a:pt x="0" y="51167"/>
                  <a:pt x="51167" y="0"/>
                  <a:pt x="114285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2" name="dsl:shape10"/>
          <p:cNvSpPr/>
          <p:nvPr/>
        </p:nvSpPr>
        <p:spPr>
          <a:xfrm>
            <a:off x="601694" y="19875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3" name="dsl:shape11"/>
          <p:cNvSpPr/>
          <p:nvPr/>
        </p:nvSpPr>
        <p:spPr>
          <a:xfrm>
            <a:off x="816006" y="1949481"/>
            <a:ext cx="3943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xt12"/>
          <p:cNvSpPr txBox="1"/>
          <p:nvPr/>
        </p:nvSpPr>
        <p:spPr>
          <a:xfrm>
            <a:off x="724566" y="1903761"/>
            <a:ext cx="412623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Что размечаем</a:t>
            </a:r>
          </a:p>
        </p:txBody>
      </p:sp>
      <p:sp>
        <p:nvSpPr>
          <p:cNvPr id="15" name="dsl:shape13"/>
          <p:cNvSpPr/>
          <p:nvPr/>
        </p:nvSpPr>
        <p:spPr>
          <a:xfrm>
            <a:off x="577881" y="23876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16" name="dsl:shape14"/>
          <p:cNvSpPr/>
          <p:nvPr/>
        </p:nvSpPr>
        <p:spPr>
          <a:xfrm>
            <a:off x="665988" y="247335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25003"/>
                </a:moveTo>
                <a:cubicBezTo>
                  <a:pt x="16669" y="20393"/>
                  <a:pt x="20393" y="16669"/>
                  <a:pt x="25003" y="16669"/>
                </a:cubicBezTo>
                <a:lnTo>
                  <a:pt x="66675" y="16669"/>
                </a:lnTo>
                <a:cubicBezTo>
                  <a:pt x="71285" y="16669"/>
                  <a:pt x="75009" y="20393"/>
                  <a:pt x="75009" y="25003"/>
                </a:cubicBezTo>
                <a:lnTo>
                  <a:pt x="75009" y="100013"/>
                </a:lnTo>
                <a:lnTo>
                  <a:pt x="100013" y="100013"/>
                </a:lnTo>
                <a:lnTo>
                  <a:pt x="100013" y="66675"/>
                </a:lnTo>
                <a:cubicBezTo>
                  <a:pt x="100013" y="62065"/>
                  <a:pt x="103737" y="58341"/>
                  <a:pt x="108347" y="58341"/>
                </a:cubicBez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116681" y="75009"/>
                </a:lnTo>
                <a:lnTo>
                  <a:pt x="116681" y="108347"/>
                </a:lnTo>
                <a:cubicBezTo>
                  <a:pt x="116681" y="112957"/>
                  <a:pt x="112957" y="116681"/>
                  <a:pt x="108347" y="116681"/>
                </a:cubicBezTo>
                <a:lnTo>
                  <a:pt x="66675" y="116681"/>
                </a:lnTo>
                <a:cubicBezTo>
                  <a:pt x="62065" y="116681"/>
                  <a:pt x="58341" y="112957"/>
                  <a:pt x="58341" y="108347"/>
                </a:cubicBezTo>
                <a:lnTo>
                  <a:pt x="58341" y="33337"/>
                </a:lnTo>
                <a:lnTo>
                  <a:pt x="33337" y="33337"/>
                </a:lnTo>
                <a:lnTo>
                  <a:pt x="33337" y="66675"/>
                </a:lnTo>
                <a:cubicBezTo>
                  <a:pt x="33337" y="71285"/>
                  <a:pt x="29613" y="75009"/>
                  <a:pt x="25003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ubicBezTo>
                  <a:pt x="0" y="62065"/>
                  <a:pt x="3724" y="58341"/>
                  <a:pt x="8334" y="58341"/>
                </a:cubicBezTo>
                <a:lnTo>
                  <a:pt x="16669" y="58341"/>
                </a:lnTo>
                <a:lnTo>
                  <a:pt x="16669" y="25003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7" name="dsl:shape15"/>
          <p:cNvSpPr/>
          <p:nvPr/>
        </p:nvSpPr>
        <p:spPr>
          <a:xfrm>
            <a:off x="996981" y="2368581"/>
            <a:ext cx="29337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xt16"/>
          <p:cNvSpPr txBox="1"/>
          <p:nvPr/>
        </p:nvSpPr>
        <p:spPr>
          <a:xfrm>
            <a:off x="905541" y="2322861"/>
            <a:ext cx="31165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EFEFEF"/>
                </a:solidFill>
                <a:latin typeface="Liter"/>
                <a:ea typeface="Liter"/>
              </a:rPr>
              <a:t>Voice Activity Detection</a:t>
            </a:r>
          </a:p>
        </p:txBody>
      </p:sp>
      <p:sp>
        <p:nvSpPr>
          <p:cNvPr id="19" name="dsl:shape17"/>
          <p:cNvSpPr/>
          <p:nvPr/>
        </p:nvSpPr>
        <p:spPr>
          <a:xfrm>
            <a:off x="996981" y="2635281"/>
            <a:ext cx="29241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text18"/>
          <p:cNvSpPr txBox="1"/>
          <p:nvPr/>
        </p:nvSpPr>
        <p:spPr>
          <a:xfrm>
            <a:off x="905541" y="2589561"/>
            <a:ext cx="310705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Определение начала и конца речевого сигнала</a:t>
            </a:r>
          </a:p>
        </p:txBody>
      </p:sp>
      <p:sp>
        <p:nvSpPr>
          <p:cNvPr id="21" name="dsl:shape19"/>
          <p:cNvSpPr/>
          <p:nvPr/>
        </p:nvSpPr>
        <p:spPr>
          <a:xfrm>
            <a:off x="577881" y="29591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22" name="dsl:shape20"/>
          <p:cNvSpPr/>
          <p:nvPr/>
        </p:nvSpPr>
        <p:spPr>
          <a:xfrm>
            <a:off x="682656" y="3044856"/>
            <a:ext cx="100012" cy="133350"/>
          </a:xfrm>
          <a:custGeom>
            <a:avLst/>
            <a:gdLst/>
            <a:ahLst/>
            <a:cxnLst/>
            <a:rect l="l" t="t" r="r" b="b"/>
            <a:pathLst>
              <a:path w="100012" h="133350">
                <a:moveTo>
                  <a:pt x="12501" y="8334"/>
                </a:moveTo>
                <a:cubicBezTo>
                  <a:pt x="5599" y="8334"/>
                  <a:pt x="0" y="13934"/>
                  <a:pt x="0" y="20836"/>
                </a:cubicBezTo>
                <a:lnTo>
                  <a:pt x="0" y="112514"/>
                </a:lnTo>
                <a:cubicBezTo>
                  <a:pt x="0" y="119416"/>
                  <a:pt x="5599" y="125016"/>
                  <a:pt x="12501" y="125016"/>
                </a:cubicBezTo>
                <a:lnTo>
                  <a:pt x="29169" y="125016"/>
                </a:lnTo>
                <a:cubicBezTo>
                  <a:pt x="36071" y="125016"/>
                  <a:pt x="41671" y="119416"/>
                  <a:pt x="41671" y="112514"/>
                </a:cubicBezTo>
                <a:lnTo>
                  <a:pt x="41671" y="20836"/>
                </a:lnTo>
                <a:cubicBezTo>
                  <a:pt x="41671" y="13934"/>
                  <a:pt x="36071" y="8334"/>
                  <a:pt x="29169" y="8334"/>
                </a:cubicBezTo>
                <a:lnTo>
                  <a:pt x="12501" y="8334"/>
                </a:lnTo>
                <a:close/>
                <a:moveTo>
                  <a:pt x="70841" y="8334"/>
                </a:moveTo>
                <a:cubicBezTo>
                  <a:pt x="63939" y="8334"/>
                  <a:pt x="58340" y="13934"/>
                  <a:pt x="58340" y="20836"/>
                </a:cubicBezTo>
                <a:lnTo>
                  <a:pt x="58340" y="112514"/>
                </a:lnTo>
                <a:cubicBezTo>
                  <a:pt x="58340" y="119416"/>
                  <a:pt x="63939" y="125016"/>
                  <a:pt x="70841" y="125016"/>
                </a:cubicBezTo>
                <a:lnTo>
                  <a:pt x="87510" y="125016"/>
                </a:lnTo>
                <a:cubicBezTo>
                  <a:pt x="94412" y="125016"/>
                  <a:pt x="100012" y="119416"/>
                  <a:pt x="100012" y="112514"/>
                </a:cubicBezTo>
                <a:lnTo>
                  <a:pt x="100012" y="20836"/>
                </a:lnTo>
                <a:cubicBezTo>
                  <a:pt x="100012" y="13934"/>
                  <a:pt x="94412" y="8334"/>
                  <a:pt x="87510" y="8334"/>
                </a:cubicBezTo>
                <a:lnTo>
                  <a:pt x="70841" y="8334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3" name="dsl:shape21"/>
          <p:cNvSpPr/>
          <p:nvPr/>
        </p:nvSpPr>
        <p:spPr>
          <a:xfrm>
            <a:off x="996981" y="2940081"/>
            <a:ext cx="22479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text22"/>
          <p:cNvSpPr txBox="1"/>
          <p:nvPr/>
        </p:nvSpPr>
        <p:spPr>
          <a:xfrm>
            <a:off x="905541" y="2894361"/>
            <a:ext cx="24307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EFEFEF"/>
                </a:solidFill>
                <a:latin typeface="Liter"/>
                <a:ea typeface="Liter"/>
              </a:rPr>
              <a:t>Паузы между словами</a:t>
            </a:r>
          </a:p>
        </p:txBody>
      </p:sp>
      <p:sp>
        <p:nvSpPr>
          <p:cNvPr id="25" name="dsl:shape23"/>
          <p:cNvSpPr/>
          <p:nvPr/>
        </p:nvSpPr>
        <p:spPr>
          <a:xfrm>
            <a:off x="996981" y="3206781"/>
            <a:ext cx="22383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text24"/>
          <p:cNvSpPr txBox="1"/>
          <p:nvPr/>
        </p:nvSpPr>
        <p:spPr>
          <a:xfrm>
            <a:off x="905541" y="3161061"/>
            <a:ext cx="242125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Сегментация на уровне слов и фраз</a:t>
            </a:r>
          </a:p>
        </p:txBody>
      </p:sp>
      <p:sp>
        <p:nvSpPr>
          <p:cNvPr id="27" name="dsl:shape25"/>
          <p:cNvSpPr/>
          <p:nvPr/>
        </p:nvSpPr>
        <p:spPr>
          <a:xfrm>
            <a:off x="577881" y="35306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28" name="dsl:shape26"/>
          <p:cNvSpPr/>
          <p:nvPr/>
        </p:nvSpPr>
        <p:spPr>
          <a:xfrm>
            <a:off x="665988" y="361635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9" name="dsl:shape27"/>
          <p:cNvSpPr/>
          <p:nvPr/>
        </p:nvSpPr>
        <p:spPr>
          <a:xfrm>
            <a:off x="996981" y="3511581"/>
            <a:ext cx="21717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text28"/>
          <p:cNvSpPr txBox="1"/>
          <p:nvPr/>
        </p:nvSpPr>
        <p:spPr>
          <a:xfrm>
            <a:off x="905541" y="3465861"/>
            <a:ext cx="23545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EFEFEF"/>
                </a:solidFill>
                <a:latin typeface="Liter"/>
                <a:ea typeface="Liter"/>
              </a:rPr>
              <a:t>Нестандартные явления</a:t>
            </a:r>
          </a:p>
        </p:txBody>
      </p:sp>
      <p:sp>
        <p:nvSpPr>
          <p:cNvPr id="31" name="dsl:shape29"/>
          <p:cNvSpPr/>
          <p:nvPr/>
        </p:nvSpPr>
        <p:spPr>
          <a:xfrm>
            <a:off x="996981" y="3778281"/>
            <a:ext cx="21621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text30"/>
          <p:cNvSpPr txBox="1"/>
          <p:nvPr/>
        </p:nvSpPr>
        <p:spPr>
          <a:xfrm>
            <a:off x="905541" y="3732561"/>
            <a:ext cx="234505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Запинки, междометия («эм», «ну»)</a:t>
            </a:r>
          </a:p>
        </p:txBody>
      </p:sp>
      <p:sp>
        <p:nvSpPr>
          <p:cNvPr id="33" name="dsl:shape31"/>
          <p:cNvSpPr/>
          <p:nvPr/>
        </p:nvSpPr>
        <p:spPr>
          <a:xfrm>
            <a:off x="384143" y="5476875"/>
            <a:ext cx="4473606" cy="996981"/>
          </a:xfrm>
          <a:custGeom>
            <a:avLst/>
            <a:gdLst/>
            <a:ahLst/>
            <a:cxnLst/>
            <a:rect l="l" t="t" r="r" b="b"/>
            <a:pathLst>
              <a:path w="4473606" h="996981">
                <a:moveTo>
                  <a:pt x="114300" y="0"/>
                </a:moveTo>
                <a:lnTo>
                  <a:pt x="4359305" y="0"/>
                </a:lnTo>
                <a:cubicBezTo>
                  <a:pt x="4422431" y="0"/>
                  <a:pt x="4473606" y="51175"/>
                  <a:pt x="4473606" y="114303"/>
                </a:cubicBezTo>
                <a:lnTo>
                  <a:pt x="4473606" y="882677"/>
                </a:lnTo>
                <a:cubicBezTo>
                  <a:pt x="4473606" y="945805"/>
                  <a:pt x="4422431" y="996980"/>
                  <a:pt x="4359305" y="996980"/>
                </a:cubicBezTo>
                <a:lnTo>
                  <a:pt x="114300" y="996980"/>
                </a:lnTo>
                <a:cubicBezTo>
                  <a:pt x="51174" y="996980"/>
                  <a:pt x="0" y="945805"/>
                  <a:pt x="0" y="882677"/>
                </a:cubicBezTo>
                <a:lnTo>
                  <a:pt x="0" y="114303"/>
                </a:lnTo>
                <a:cubicBezTo>
                  <a:pt x="0" y="51217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34" name="dsl:shape32"/>
          <p:cNvSpPr/>
          <p:nvPr/>
        </p:nvSpPr>
        <p:spPr>
          <a:xfrm>
            <a:off x="587406" y="567051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97408" y="90674"/>
                </a:moveTo>
                <a:cubicBezTo>
                  <a:pt x="94022" y="88329"/>
                  <a:pt x="89408" y="89148"/>
                  <a:pt x="87064" y="92534"/>
                </a:cubicBezTo>
                <a:cubicBezTo>
                  <a:pt x="84720" y="95920"/>
                  <a:pt x="85539" y="100533"/>
                  <a:pt x="88925" y="102877"/>
                </a:cubicBezTo>
                <a:cubicBezTo>
                  <a:pt x="97817" y="109091"/>
                  <a:pt x="103584" y="119360"/>
                  <a:pt x="103584" y="130969"/>
                </a:cubicBezTo>
                <a:cubicBezTo>
                  <a:pt x="103584" y="142577"/>
                  <a:pt x="97780" y="152884"/>
                  <a:pt x="88925" y="159060"/>
                </a:cubicBezTo>
                <a:cubicBezTo>
                  <a:pt x="85539" y="161404"/>
                  <a:pt x="84720" y="166055"/>
                  <a:pt x="87064" y="169404"/>
                </a:cubicBezTo>
                <a:cubicBezTo>
                  <a:pt x="89408" y="172752"/>
                  <a:pt x="94059" y="173608"/>
                  <a:pt x="97408" y="171264"/>
                </a:cubicBezTo>
                <a:cubicBezTo>
                  <a:pt x="110096" y="162409"/>
                  <a:pt x="118467" y="147638"/>
                  <a:pt x="118467" y="130969"/>
                </a:cubicBezTo>
                <a:cubicBezTo>
                  <a:pt x="118467" y="114300"/>
                  <a:pt x="110133" y="99529"/>
                  <a:pt x="97408" y="90674"/>
                </a:cubicBezTo>
                <a:close/>
                <a:moveTo>
                  <a:pt x="29766" y="116086"/>
                </a:moveTo>
                <a:cubicBezTo>
                  <a:pt x="26491" y="116086"/>
                  <a:pt x="23812" y="118765"/>
                  <a:pt x="23812" y="122039"/>
                </a:cubicBezTo>
                <a:lnTo>
                  <a:pt x="23812" y="139898"/>
                </a:lnTo>
                <a:cubicBezTo>
                  <a:pt x="23812" y="143173"/>
                  <a:pt x="26491" y="145852"/>
                  <a:pt x="29766" y="145852"/>
                </a:cubicBezTo>
                <a:lnTo>
                  <a:pt x="38695" y="145852"/>
                </a:lnTo>
                <a:lnTo>
                  <a:pt x="48816" y="158502"/>
                </a:lnTo>
                <a:cubicBezTo>
                  <a:pt x="49932" y="159916"/>
                  <a:pt x="51643" y="160734"/>
                  <a:pt x="53467" y="160734"/>
                </a:cubicBezTo>
                <a:lnTo>
                  <a:pt x="53578" y="160734"/>
                </a:lnTo>
                <a:cubicBezTo>
                  <a:pt x="56852" y="160734"/>
                  <a:pt x="59531" y="158055"/>
                  <a:pt x="59531" y="154781"/>
                </a:cubicBezTo>
                <a:lnTo>
                  <a:pt x="59531" y="107156"/>
                </a:lnTo>
                <a:cubicBezTo>
                  <a:pt x="59531" y="103882"/>
                  <a:pt x="56852" y="101203"/>
                  <a:pt x="53578" y="101203"/>
                </a:cubicBezTo>
                <a:lnTo>
                  <a:pt x="53467" y="101203"/>
                </a:lnTo>
                <a:cubicBezTo>
                  <a:pt x="51643" y="101203"/>
                  <a:pt x="49932" y="102022"/>
                  <a:pt x="48816" y="103436"/>
                </a:cubicBezTo>
                <a:lnTo>
                  <a:pt x="38695" y="116086"/>
                </a:lnTo>
                <a:lnTo>
                  <a:pt x="29766" y="116086"/>
                </a:lnTo>
                <a:close/>
                <a:moveTo>
                  <a:pt x="77391" y="142949"/>
                </a:moveTo>
                <a:cubicBezTo>
                  <a:pt x="77391" y="146931"/>
                  <a:pt x="81297" y="149721"/>
                  <a:pt x="84423" y="147265"/>
                </a:cubicBezTo>
                <a:cubicBezTo>
                  <a:pt x="89222" y="143433"/>
                  <a:pt x="92273" y="137554"/>
                  <a:pt x="92273" y="130969"/>
                </a:cubicBezTo>
                <a:cubicBezTo>
                  <a:pt x="92273" y="124383"/>
                  <a:pt x="89222" y="118504"/>
                  <a:pt x="84423" y="114672"/>
                </a:cubicBezTo>
                <a:cubicBezTo>
                  <a:pt x="81297" y="112179"/>
                  <a:pt x="77391" y="115007"/>
                  <a:pt x="77391" y="118988"/>
                </a:cubicBezTo>
                <a:lnTo>
                  <a:pt x="77391" y="142987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35" name="dsl:shape33"/>
          <p:cNvSpPr/>
          <p:nvPr/>
        </p:nvSpPr>
        <p:spPr>
          <a:xfrm>
            <a:off x="892206" y="5632418"/>
            <a:ext cx="18669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sl:text34"/>
          <p:cNvSpPr txBox="1"/>
          <p:nvPr/>
        </p:nvSpPr>
        <p:spPr>
          <a:xfrm>
            <a:off x="800766" y="5586698"/>
            <a:ext cx="204978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350" noProof="1">
                <a:solidFill>
                  <a:srgbClr val="EFEFEF"/>
                </a:solidFill>
                <a:latin typeface="Liter"/>
                <a:ea typeface="Liter"/>
              </a:rPr>
              <a:t>Формат: Praat TextGrid</a:t>
            </a:r>
          </a:p>
        </p:txBody>
      </p:sp>
      <p:sp>
        <p:nvSpPr>
          <p:cNvPr id="37" name="dsl:shape35"/>
          <p:cNvSpPr/>
          <p:nvPr/>
        </p:nvSpPr>
        <p:spPr>
          <a:xfrm>
            <a:off x="539781" y="6070568"/>
            <a:ext cx="9429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sl:text36"/>
          <p:cNvSpPr txBox="1"/>
          <p:nvPr/>
        </p:nvSpPr>
        <p:spPr>
          <a:xfrm>
            <a:off x="448341" y="6024848"/>
            <a:ext cx="112585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Инструменты:</a:t>
            </a:r>
          </a:p>
        </p:txBody>
      </p:sp>
      <p:sp>
        <p:nvSpPr>
          <p:cNvPr id="39" name="dsl:shape37"/>
          <p:cNvSpPr/>
          <p:nvPr/>
        </p:nvSpPr>
        <p:spPr>
          <a:xfrm>
            <a:off x="1491138" y="6013418"/>
            <a:ext cx="533400" cy="304800"/>
          </a:xfrm>
          <a:custGeom>
            <a:avLst/>
            <a:gdLst/>
            <a:ahLst/>
            <a:cxnLst/>
            <a:rect l="l" t="t" r="r" b="b"/>
            <a:pathLst>
              <a:path w="533400" h="304800">
                <a:moveTo>
                  <a:pt x="38100" y="0"/>
                </a:moveTo>
                <a:lnTo>
                  <a:pt x="495300" y="0"/>
                </a:lnTo>
                <a:cubicBezTo>
                  <a:pt x="516328" y="0"/>
                  <a:pt x="533400" y="17072"/>
                  <a:pt x="533400" y="38100"/>
                </a:cubicBezTo>
                <a:lnTo>
                  <a:pt x="533400" y="266700"/>
                </a:lnTo>
                <a:cubicBezTo>
                  <a:pt x="533400" y="287728"/>
                  <a:pt x="516328" y="304800"/>
                  <a:pt x="4953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  <a:effectLst/>
        </p:spPr>
      </p:sp>
      <p:sp>
        <p:nvSpPr>
          <p:cNvPr id="40" name="dsl:shape38"/>
          <p:cNvSpPr/>
          <p:nvPr/>
        </p:nvSpPr>
        <p:spPr>
          <a:xfrm>
            <a:off x="1491138" y="6013418"/>
            <a:ext cx="600075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sl:text39"/>
          <p:cNvSpPr txBox="1"/>
          <p:nvPr/>
        </p:nvSpPr>
        <p:spPr>
          <a:xfrm>
            <a:off x="1513998" y="6024848"/>
            <a:ext cx="55435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366F1"/>
                </a:solidFill>
                <a:latin typeface="Liter"/>
                <a:ea typeface="Liter"/>
              </a:rPr>
              <a:t>Praat</a:t>
            </a:r>
          </a:p>
        </p:txBody>
      </p:sp>
      <p:sp>
        <p:nvSpPr>
          <p:cNvPr id="42" name="dsl:shape40"/>
          <p:cNvSpPr/>
          <p:nvPr/>
        </p:nvSpPr>
        <p:spPr>
          <a:xfrm>
            <a:off x="2105025" y="6013418"/>
            <a:ext cx="933450" cy="304800"/>
          </a:xfrm>
          <a:custGeom>
            <a:avLst/>
            <a:gdLst/>
            <a:ahLst/>
            <a:cxnLst/>
            <a:rect l="l" t="t" r="r" b="b"/>
            <a:pathLst>
              <a:path w="933450" h="304800">
                <a:moveTo>
                  <a:pt x="38100" y="0"/>
                </a:moveTo>
                <a:lnTo>
                  <a:pt x="895350" y="0"/>
                </a:lnTo>
                <a:cubicBezTo>
                  <a:pt x="916378" y="0"/>
                  <a:pt x="933450" y="17072"/>
                  <a:pt x="933450" y="38100"/>
                </a:cubicBezTo>
                <a:lnTo>
                  <a:pt x="933450" y="266700"/>
                </a:lnTo>
                <a:cubicBezTo>
                  <a:pt x="933450" y="287728"/>
                  <a:pt x="916378" y="304800"/>
                  <a:pt x="8953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  <a:effectLst/>
        </p:spPr>
      </p:sp>
      <p:sp>
        <p:nvSpPr>
          <p:cNvPr id="43" name="dsl:shape41"/>
          <p:cNvSpPr/>
          <p:nvPr/>
        </p:nvSpPr>
        <p:spPr>
          <a:xfrm>
            <a:off x="2105025" y="6013418"/>
            <a:ext cx="1000125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sl:text42"/>
          <p:cNvSpPr txBox="1"/>
          <p:nvPr/>
        </p:nvSpPr>
        <p:spPr>
          <a:xfrm>
            <a:off x="2127885" y="6024848"/>
            <a:ext cx="95440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366F1"/>
                </a:solidFill>
                <a:latin typeface="Liter"/>
                <a:ea typeface="Liter"/>
              </a:rPr>
              <a:t>WaveSurfer</a:t>
            </a:r>
          </a:p>
        </p:txBody>
      </p:sp>
      <p:sp>
        <p:nvSpPr>
          <p:cNvPr id="45" name="dsl:shape43"/>
          <p:cNvSpPr/>
          <p:nvPr/>
        </p:nvSpPr>
        <p:spPr>
          <a:xfrm>
            <a:off x="5017103" y="1755743"/>
            <a:ext cx="6788181" cy="4721256"/>
          </a:xfrm>
          <a:custGeom>
            <a:avLst/>
            <a:gdLst/>
            <a:ahLst/>
            <a:cxnLst/>
            <a:rect l="l" t="t" r="r" b="b"/>
            <a:pathLst>
              <a:path w="6788181" h="4721256">
                <a:moveTo>
                  <a:pt x="114301" y="0"/>
                </a:moveTo>
                <a:lnTo>
                  <a:pt x="6673879" y="0"/>
                </a:lnTo>
                <a:cubicBezTo>
                  <a:pt x="6737006" y="0"/>
                  <a:pt x="6788181" y="51174"/>
                  <a:pt x="6788181" y="114301"/>
                </a:cubicBezTo>
                <a:lnTo>
                  <a:pt x="6788181" y="4606954"/>
                </a:lnTo>
                <a:cubicBezTo>
                  <a:pt x="6788181" y="4670081"/>
                  <a:pt x="6737006" y="4721256"/>
                  <a:pt x="6673879" y="4721256"/>
                </a:cubicBezTo>
                <a:lnTo>
                  <a:pt x="114301" y="4721256"/>
                </a:lnTo>
                <a:cubicBezTo>
                  <a:pt x="51174" y="4721256"/>
                  <a:pt x="0" y="4670081"/>
                  <a:pt x="0" y="46069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46" name="dsl:shape44"/>
          <p:cNvSpPr/>
          <p:nvPr/>
        </p:nvSpPr>
        <p:spPr>
          <a:xfrm>
            <a:off x="5222652" y="1987581"/>
            <a:ext cx="214312" cy="190500"/>
          </a:xfrm>
          <a:custGeom>
            <a:avLst/>
            <a:gdLst/>
            <a:ahLst/>
            <a:cxnLst/>
            <a:rect l="l" t="t" r="r" b="b"/>
            <a:pathLst>
              <a:path w="214312" h="190500">
                <a:moveTo>
                  <a:pt x="134242" y="446"/>
                </a:moveTo>
                <a:cubicBezTo>
                  <a:pt x="127917" y="-1377"/>
                  <a:pt x="121331" y="2307"/>
                  <a:pt x="119508" y="8632"/>
                </a:cubicBezTo>
                <a:lnTo>
                  <a:pt x="71883" y="175320"/>
                </a:lnTo>
                <a:cubicBezTo>
                  <a:pt x="70060" y="181645"/>
                  <a:pt x="73743" y="188230"/>
                  <a:pt x="80069" y="190054"/>
                </a:cubicBezTo>
                <a:cubicBezTo>
                  <a:pt x="86394" y="191877"/>
                  <a:pt x="92979" y="188193"/>
                  <a:pt x="94803" y="181868"/>
                </a:cubicBezTo>
                <a:lnTo>
                  <a:pt x="142428" y="15180"/>
                </a:lnTo>
                <a:cubicBezTo>
                  <a:pt x="144251" y="8855"/>
                  <a:pt x="140567" y="2270"/>
                  <a:pt x="134242" y="446"/>
                </a:cubicBezTo>
                <a:close/>
                <a:moveTo>
                  <a:pt x="158278" y="51085"/>
                </a:moveTo>
                <a:cubicBezTo>
                  <a:pt x="153627" y="55736"/>
                  <a:pt x="153627" y="63289"/>
                  <a:pt x="158278" y="67940"/>
                </a:cubicBezTo>
                <a:lnTo>
                  <a:pt x="185588" y="95250"/>
                </a:lnTo>
                <a:lnTo>
                  <a:pt x="158278" y="122560"/>
                </a:lnTo>
                <a:cubicBezTo>
                  <a:pt x="153627" y="127211"/>
                  <a:pt x="153627" y="134764"/>
                  <a:pt x="158278" y="139415"/>
                </a:cubicBezTo>
                <a:cubicBezTo>
                  <a:pt x="162929" y="144066"/>
                  <a:pt x="170482" y="144066"/>
                  <a:pt x="175132" y="139415"/>
                </a:cubicBezTo>
                <a:lnTo>
                  <a:pt x="210851" y="103696"/>
                </a:lnTo>
                <a:cubicBezTo>
                  <a:pt x="215501" y="99045"/>
                  <a:pt x="215501" y="91492"/>
                  <a:pt x="210851" y="86841"/>
                </a:cubicBezTo>
                <a:lnTo>
                  <a:pt x="175132" y="51122"/>
                </a:lnTo>
                <a:cubicBezTo>
                  <a:pt x="170482" y="46472"/>
                  <a:pt x="162929" y="46472"/>
                  <a:pt x="158278" y="51122"/>
                </a:cubicBezTo>
                <a:close/>
                <a:moveTo>
                  <a:pt x="56070" y="51085"/>
                </a:moveTo>
                <a:cubicBezTo>
                  <a:pt x="51419" y="46434"/>
                  <a:pt x="43866" y="46434"/>
                  <a:pt x="39215" y="51085"/>
                </a:cubicBezTo>
                <a:lnTo>
                  <a:pt x="3496" y="86804"/>
                </a:lnTo>
                <a:cubicBezTo>
                  <a:pt x="-1152" y="91455"/>
                  <a:pt x="-1152" y="99008"/>
                  <a:pt x="3496" y="103659"/>
                </a:cubicBezTo>
                <a:lnTo>
                  <a:pt x="39215" y="139378"/>
                </a:lnTo>
                <a:cubicBezTo>
                  <a:pt x="43866" y="144028"/>
                  <a:pt x="51419" y="144028"/>
                  <a:pt x="56070" y="139378"/>
                </a:cubicBezTo>
                <a:cubicBezTo>
                  <a:pt x="60721" y="134727"/>
                  <a:pt x="60721" y="127174"/>
                  <a:pt x="56070" y="122523"/>
                </a:cubicBezTo>
                <a:lnTo>
                  <a:pt x="28760" y="95250"/>
                </a:lnTo>
                <a:lnTo>
                  <a:pt x="56033" y="67940"/>
                </a:lnTo>
                <a:cubicBezTo>
                  <a:pt x="60684" y="63289"/>
                  <a:pt x="60684" y="55736"/>
                  <a:pt x="56033" y="5108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47" name="dsl:shape45"/>
          <p:cNvSpPr/>
          <p:nvPr/>
        </p:nvSpPr>
        <p:spPr>
          <a:xfrm>
            <a:off x="5448871" y="1949481"/>
            <a:ext cx="62579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sl:text46"/>
          <p:cNvSpPr txBox="1"/>
          <p:nvPr/>
        </p:nvSpPr>
        <p:spPr>
          <a:xfrm>
            <a:off x="5357431" y="1903761"/>
            <a:ext cx="644080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Пример разметки</a:t>
            </a:r>
          </a:p>
        </p:txBody>
      </p:sp>
      <p:sp>
        <p:nvSpPr>
          <p:cNvPr id="49" name="dsl:shape47"/>
          <p:cNvSpPr/>
          <p:nvPr/>
        </p:nvSpPr>
        <p:spPr>
          <a:xfrm>
            <a:off x="5213985" y="2371725"/>
            <a:ext cx="6397656" cy="3559206"/>
          </a:xfrm>
          <a:custGeom>
            <a:avLst/>
            <a:gdLst/>
            <a:ahLst/>
            <a:cxnLst/>
            <a:rect l="l" t="t" r="r" b="b"/>
            <a:pathLst>
              <a:path w="6397656" h="3559206">
                <a:moveTo>
                  <a:pt x="76202" y="0"/>
                </a:moveTo>
                <a:lnTo>
                  <a:pt x="6321453" y="0"/>
                </a:lnTo>
                <a:cubicBezTo>
                  <a:pt x="6363538" y="0"/>
                  <a:pt x="6397656" y="34117"/>
                  <a:pt x="6397656" y="76202"/>
                </a:cubicBezTo>
                <a:lnTo>
                  <a:pt x="6397656" y="3483003"/>
                </a:lnTo>
                <a:cubicBezTo>
                  <a:pt x="6397656" y="3525088"/>
                  <a:pt x="6363538" y="3559205"/>
                  <a:pt x="6321453" y="3559205"/>
                </a:cubicBezTo>
                <a:lnTo>
                  <a:pt x="76202" y="3559205"/>
                </a:lnTo>
                <a:cubicBezTo>
                  <a:pt x="34117" y="3559205"/>
                  <a:pt x="0" y="3525088"/>
                  <a:pt x="0" y="348300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50" name="dsl:shape48"/>
          <p:cNvSpPr/>
          <p:nvPr/>
        </p:nvSpPr>
        <p:spPr>
          <a:xfrm>
            <a:off x="5407628" y="2565368"/>
            <a:ext cx="607695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sl:text49"/>
          <p:cNvSpPr txBox="1"/>
          <p:nvPr/>
        </p:nvSpPr>
        <p:spPr>
          <a:xfrm>
            <a:off x="5316188" y="2519648"/>
            <a:ext cx="625983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MiSans"/>
                <a:ea typeface="MiSans"/>
              </a:rPr>
              <a:t>IntervalTier "words"</a:t>
            </a:r>
          </a:p>
        </p:txBody>
      </p:sp>
      <p:sp>
        <p:nvSpPr>
          <p:cNvPr id="52" name="dsl:shape50"/>
          <p:cNvSpPr/>
          <p:nvPr/>
        </p:nvSpPr>
        <p:spPr>
          <a:xfrm>
            <a:off x="5407628" y="2870168"/>
            <a:ext cx="5143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sl:text51"/>
          <p:cNvSpPr txBox="1"/>
          <p:nvPr/>
        </p:nvSpPr>
        <p:spPr>
          <a:xfrm>
            <a:off x="5316188" y="2824448"/>
            <a:ext cx="6972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0.0</a:t>
            </a:r>
          </a:p>
        </p:txBody>
      </p:sp>
      <p:sp>
        <p:nvSpPr>
          <p:cNvPr id="54" name="dsl:shape52"/>
          <p:cNvSpPr/>
          <p:nvPr/>
        </p:nvSpPr>
        <p:spPr>
          <a:xfrm>
            <a:off x="6017228" y="2870168"/>
            <a:ext cx="5143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sl:text53"/>
          <p:cNvSpPr txBox="1"/>
          <p:nvPr/>
        </p:nvSpPr>
        <p:spPr>
          <a:xfrm>
            <a:off x="5925788" y="2824448"/>
            <a:ext cx="6972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0.5</a:t>
            </a:r>
          </a:p>
        </p:txBody>
      </p:sp>
      <p:sp>
        <p:nvSpPr>
          <p:cNvPr id="56" name="dsl:shape54"/>
          <p:cNvSpPr/>
          <p:nvPr/>
        </p:nvSpPr>
        <p:spPr>
          <a:xfrm>
            <a:off x="6626828" y="2870168"/>
            <a:ext cx="6191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sl:text55"/>
          <p:cNvSpPr txBox="1"/>
          <p:nvPr/>
        </p:nvSpPr>
        <p:spPr>
          <a:xfrm>
            <a:off x="6535388" y="2824448"/>
            <a:ext cx="802005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#silence#</a:t>
            </a:r>
          </a:p>
        </p:txBody>
      </p:sp>
      <p:sp>
        <p:nvSpPr>
          <p:cNvPr id="58" name="dsl:shape56"/>
          <p:cNvSpPr/>
          <p:nvPr/>
        </p:nvSpPr>
        <p:spPr>
          <a:xfrm>
            <a:off x="5331428" y="3068288"/>
            <a:ext cx="6162675" cy="238125"/>
          </a:xfrm>
          <a:custGeom>
            <a:avLst/>
            <a:gdLst/>
            <a:ahLst/>
            <a:cxnLst/>
            <a:rect l="l" t="t" r="r" b="b"/>
            <a:pathLst>
              <a:path w="6162675" h="238125">
                <a:moveTo>
                  <a:pt x="38100" y="0"/>
                </a:moveTo>
                <a:lnTo>
                  <a:pt x="6124575" y="0"/>
                </a:lnTo>
                <a:cubicBezTo>
                  <a:pt x="6145603" y="0"/>
                  <a:pt x="6162675" y="17072"/>
                  <a:pt x="6162675" y="38100"/>
                </a:cubicBezTo>
                <a:lnTo>
                  <a:pt x="6162675" y="200025"/>
                </a:lnTo>
                <a:cubicBezTo>
                  <a:pt x="6162675" y="221053"/>
                  <a:pt x="6145603" y="238125"/>
                  <a:pt x="6124575" y="238125"/>
                </a:cubicBezTo>
                <a:lnTo>
                  <a:pt x="38100" y="238125"/>
                </a:lnTo>
                <a:cubicBezTo>
                  <a:pt x="17072" y="238125"/>
                  <a:pt x="0" y="221053"/>
                  <a:pt x="0" y="200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>
              <a:alpha val="10000"/>
            </a:srgbClr>
          </a:solidFill>
          <a:ln>
            <a:noFill/>
          </a:ln>
          <a:effectLst/>
        </p:spPr>
      </p:sp>
      <p:sp>
        <p:nvSpPr>
          <p:cNvPr id="59" name="dsl:shape57"/>
          <p:cNvSpPr/>
          <p:nvPr/>
        </p:nvSpPr>
        <p:spPr>
          <a:xfrm>
            <a:off x="5407628" y="3106388"/>
            <a:ext cx="5143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sl:text58"/>
          <p:cNvSpPr txBox="1"/>
          <p:nvPr/>
        </p:nvSpPr>
        <p:spPr>
          <a:xfrm>
            <a:off x="5316188" y="3060668"/>
            <a:ext cx="6972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0.5</a:t>
            </a:r>
          </a:p>
        </p:txBody>
      </p:sp>
      <p:sp>
        <p:nvSpPr>
          <p:cNvPr id="61" name="dsl:shape59"/>
          <p:cNvSpPr/>
          <p:nvPr/>
        </p:nvSpPr>
        <p:spPr>
          <a:xfrm>
            <a:off x="6017228" y="3106388"/>
            <a:ext cx="5143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sl:text60"/>
          <p:cNvSpPr txBox="1"/>
          <p:nvPr/>
        </p:nvSpPr>
        <p:spPr>
          <a:xfrm>
            <a:off x="5925788" y="3060668"/>
            <a:ext cx="6972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1.2</a:t>
            </a:r>
          </a:p>
        </p:txBody>
      </p:sp>
      <p:sp>
        <p:nvSpPr>
          <p:cNvPr id="63" name="dsl:shape61"/>
          <p:cNvSpPr/>
          <p:nvPr/>
        </p:nvSpPr>
        <p:spPr>
          <a:xfrm>
            <a:off x="6626828" y="3106388"/>
            <a:ext cx="56197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sl:text62"/>
          <p:cNvSpPr txBox="1"/>
          <p:nvPr/>
        </p:nvSpPr>
        <p:spPr>
          <a:xfrm>
            <a:off x="6535388" y="3060668"/>
            <a:ext cx="744855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900" noProof="1">
                <a:solidFill>
                  <a:srgbClr val="EFEFEF"/>
                </a:solidFill>
                <a:latin typeface="MiSans"/>
                <a:ea typeface="MiSans"/>
              </a:rPr>
              <a:t>"включи"</a:t>
            </a:r>
          </a:p>
        </p:txBody>
      </p:sp>
      <p:sp>
        <p:nvSpPr>
          <p:cNvPr id="65" name="dsl:shape63"/>
          <p:cNvSpPr/>
          <p:nvPr/>
        </p:nvSpPr>
        <p:spPr>
          <a:xfrm>
            <a:off x="5407628" y="3342513"/>
            <a:ext cx="5143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sl:text64"/>
          <p:cNvSpPr txBox="1"/>
          <p:nvPr/>
        </p:nvSpPr>
        <p:spPr>
          <a:xfrm>
            <a:off x="5316188" y="3296793"/>
            <a:ext cx="6972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1.2</a:t>
            </a:r>
          </a:p>
        </p:txBody>
      </p:sp>
      <p:sp>
        <p:nvSpPr>
          <p:cNvPr id="67" name="dsl:shape65"/>
          <p:cNvSpPr/>
          <p:nvPr/>
        </p:nvSpPr>
        <p:spPr>
          <a:xfrm>
            <a:off x="6017228" y="3342513"/>
            <a:ext cx="5143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sl:text66"/>
          <p:cNvSpPr txBox="1"/>
          <p:nvPr/>
        </p:nvSpPr>
        <p:spPr>
          <a:xfrm>
            <a:off x="5925788" y="3296793"/>
            <a:ext cx="6972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1.5</a:t>
            </a:r>
          </a:p>
        </p:txBody>
      </p:sp>
      <p:sp>
        <p:nvSpPr>
          <p:cNvPr id="69" name="dsl:shape67"/>
          <p:cNvSpPr/>
          <p:nvPr/>
        </p:nvSpPr>
        <p:spPr>
          <a:xfrm>
            <a:off x="6626828" y="3342513"/>
            <a:ext cx="49530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sl:text68"/>
          <p:cNvSpPr txBox="1"/>
          <p:nvPr/>
        </p:nvSpPr>
        <p:spPr>
          <a:xfrm>
            <a:off x="6535388" y="3296793"/>
            <a:ext cx="67818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#pause#</a:t>
            </a:r>
          </a:p>
        </p:txBody>
      </p:sp>
      <p:sp>
        <p:nvSpPr>
          <p:cNvPr id="71" name="dsl:shape69"/>
          <p:cNvSpPr/>
          <p:nvPr/>
        </p:nvSpPr>
        <p:spPr>
          <a:xfrm>
            <a:off x="5331428" y="3540537"/>
            <a:ext cx="6162675" cy="238125"/>
          </a:xfrm>
          <a:custGeom>
            <a:avLst/>
            <a:gdLst/>
            <a:ahLst/>
            <a:cxnLst/>
            <a:rect l="l" t="t" r="r" b="b"/>
            <a:pathLst>
              <a:path w="6162675" h="238125">
                <a:moveTo>
                  <a:pt x="38100" y="0"/>
                </a:moveTo>
                <a:lnTo>
                  <a:pt x="6124575" y="0"/>
                </a:lnTo>
                <a:cubicBezTo>
                  <a:pt x="6145603" y="0"/>
                  <a:pt x="6162675" y="17072"/>
                  <a:pt x="6162675" y="38100"/>
                </a:cubicBezTo>
                <a:lnTo>
                  <a:pt x="6162675" y="200025"/>
                </a:lnTo>
                <a:cubicBezTo>
                  <a:pt x="6162675" y="221053"/>
                  <a:pt x="6145603" y="238125"/>
                  <a:pt x="6124575" y="238125"/>
                </a:cubicBezTo>
                <a:lnTo>
                  <a:pt x="38100" y="238125"/>
                </a:lnTo>
                <a:cubicBezTo>
                  <a:pt x="17072" y="238125"/>
                  <a:pt x="0" y="221053"/>
                  <a:pt x="0" y="2000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>
              <a:alpha val="10000"/>
            </a:srgbClr>
          </a:solidFill>
          <a:ln>
            <a:noFill/>
          </a:ln>
          <a:effectLst/>
        </p:spPr>
      </p:sp>
      <p:sp>
        <p:nvSpPr>
          <p:cNvPr id="72" name="dsl:shape70"/>
          <p:cNvSpPr/>
          <p:nvPr/>
        </p:nvSpPr>
        <p:spPr>
          <a:xfrm>
            <a:off x="5407628" y="3578637"/>
            <a:ext cx="5143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sl:text71"/>
          <p:cNvSpPr txBox="1"/>
          <p:nvPr/>
        </p:nvSpPr>
        <p:spPr>
          <a:xfrm>
            <a:off x="5316188" y="3532917"/>
            <a:ext cx="6972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1.5</a:t>
            </a:r>
          </a:p>
        </p:txBody>
      </p:sp>
      <p:sp>
        <p:nvSpPr>
          <p:cNvPr id="74" name="dsl:shape72"/>
          <p:cNvSpPr/>
          <p:nvPr/>
        </p:nvSpPr>
        <p:spPr>
          <a:xfrm>
            <a:off x="6017228" y="3578637"/>
            <a:ext cx="5143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sl:text73"/>
          <p:cNvSpPr txBox="1"/>
          <p:nvPr/>
        </p:nvSpPr>
        <p:spPr>
          <a:xfrm>
            <a:off x="5925788" y="3532917"/>
            <a:ext cx="6972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2.1</a:t>
            </a:r>
          </a:p>
        </p:txBody>
      </p:sp>
      <p:sp>
        <p:nvSpPr>
          <p:cNvPr id="76" name="dsl:shape74"/>
          <p:cNvSpPr/>
          <p:nvPr/>
        </p:nvSpPr>
        <p:spPr>
          <a:xfrm>
            <a:off x="6626828" y="3578637"/>
            <a:ext cx="4381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sl:text75"/>
          <p:cNvSpPr txBox="1"/>
          <p:nvPr/>
        </p:nvSpPr>
        <p:spPr>
          <a:xfrm>
            <a:off x="6535388" y="3532917"/>
            <a:ext cx="6210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900" noProof="1">
                <a:solidFill>
                  <a:srgbClr val="EFEFEF"/>
                </a:solidFill>
                <a:latin typeface="MiSans"/>
                <a:ea typeface="MiSans"/>
              </a:rPr>
              <a:t>"свет"</a:t>
            </a:r>
          </a:p>
        </p:txBody>
      </p:sp>
      <p:sp>
        <p:nvSpPr>
          <p:cNvPr id="78" name="dsl:shape76"/>
          <p:cNvSpPr/>
          <p:nvPr/>
        </p:nvSpPr>
        <p:spPr>
          <a:xfrm>
            <a:off x="5407628" y="3814762"/>
            <a:ext cx="5143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sl:text77"/>
          <p:cNvSpPr txBox="1"/>
          <p:nvPr/>
        </p:nvSpPr>
        <p:spPr>
          <a:xfrm>
            <a:off x="5316188" y="3769042"/>
            <a:ext cx="6972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2.1</a:t>
            </a:r>
          </a:p>
        </p:txBody>
      </p:sp>
      <p:sp>
        <p:nvSpPr>
          <p:cNvPr id="80" name="dsl:shape78"/>
          <p:cNvSpPr/>
          <p:nvPr/>
        </p:nvSpPr>
        <p:spPr>
          <a:xfrm>
            <a:off x="6017228" y="3814762"/>
            <a:ext cx="5143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sl:text79"/>
          <p:cNvSpPr txBox="1"/>
          <p:nvPr/>
        </p:nvSpPr>
        <p:spPr>
          <a:xfrm>
            <a:off x="5925788" y="3769042"/>
            <a:ext cx="6972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2.3</a:t>
            </a:r>
          </a:p>
        </p:txBody>
      </p:sp>
      <p:sp>
        <p:nvSpPr>
          <p:cNvPr id="82" name="dsl:shape80"/>
          <p:cNvSpPr/>
          <p:nvPr/>
        </p:nvSpPr>
        <p:spPr>
          <a:xfrm>
            <a:off x="6626828" y="3814762"/>
            <a:ext cx="6191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sl:text81"/>
          <p:cNvSpPr txBox="1"/>
          <p:nvPr/>
        </p:nvSpPr>
        <p:spPr>
          <a:xfrm>
            <a:off x="6535388" y="3769042"/>
            <a:ext cx="802005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#silence#</a:t>
            </a:r>
          </a:p>
        </p:txBody>
      </p:sp>
      <p:sp>
        <p:nvSpPr>
          <p:cNvPr id="84" name="dsl:shape82"/>
          <p:cNvSpPr/>
          <p:nvPr/>
        </p:nvSpPr>
        <p:spPr>
          <a:xfrm>
            <a:off x="5213985" y="6130956"/>
            <a:ext cx="111156" cy="111156"/>
          </a:xfrm>
          <a:custGeom>
            <a:avLst/>
            <a:gdLst/>
            <a:ahLst/>
            <a:cxnLst/>
            <a:rect l="l" t="t" r="r" b="b"/>
            <a:pathLst>
              <a:path w="111156" h="111156">
                <a:moveTo>
                  <a:pt x="38110" y="0"/>
                </a:moveTo>
                <a:lnTo>
                  <a:pt x="73045" y="0"/>
                </a:lnTo>
                <a:cubicBezTo>
                  <a:pt x="94079" y="0"/>
                  <a:pt x="111156" y="17076"/>
                  <a:pt x="111156" y="38110"/>
                </a:cubicBezTo>
                <a:lnTo>
                  <a:pt x="111156" y="73045"/>
                </a:lnTo>
                <a:cubicBezTo>
                  <a:pt x="111156" y="94079"/>
                  <a:pt x="94079" y="111156"/>
                  <a:pt x="73045" y="111156"/>
                </a:cubicBezTo>
                <a:lnTo>
                  <a:pt x="38110" y="111156"/>
                </a:lnTo>
                <a:cubicBezTo>
                  <a:pt x="17076" y="111156"/>
                  <a:pt x="0" y="94079"/>
                  <a:pt x="0" y="73045"/>
                </a:cubicBezTo>
                <a:lnTo>
                  <a:pt x="0" y="38110"/>
                </a:lnTo>
                <a:cubicBezTo>
                  <a:pt x="0" y="17076"/>
                  <a:pt x="17076" y="0"/>
                  <a:pt x="3811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8509">
            <a:solidFill>
              <a:srgbClr val="6366F1"/>
            </a:solidFill>
            <a:prstDash val="solid"/>
          </a:ln>
          <a:effectLst/>
        </p:spPr>
      </p:sp>
      <p:sp>
        <p:nvSpPr>
          <p:cNvPr id="85" name="dsl:shape83"/>
          <p:cNvSpPr/>
          <p:nvPr/>
        </p:nvSpPr>
        <p:spPr>
          <a:xfrm>
            <a:off x="5401246" y="6089618"/>
            <a:ext cx="10953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sl:text84"/>
          <p:cNvSpPr txBox="1"/>
          <p:nvPr/>
        </p:nvSpPr>
        <p:spPr>
          <a:xfrm>
            <a:off x="5309806" y="6043898"/>
            <a:ext cx="127825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Речевой сегмент</a:t>
            </a:r>
          </a:p>
        </p:txBody>
      </p:sp>
      <p:sp>
        <p:nvSpPr>
          <p:cNvPr id="87" name="dsl:shape85"/>
          <p:cNvSpPr/>
          <p:nvPr/>
        </p:nvSpPr>
        <p:spPr>
          <a:xfrm>
            <a:off x="6589680" y="6130956"/>
            <a:ext cx="111156" cy="111156"/>
          </a:xfrm>
          <a:custGeom>
            <a:avLst/>
            <a:gdLst/>
            <a:ahLst/>
            <a:cxnLst/>
            <a:rect l="l" t="t" r="r" b="b"/>
            <a:pathLst>
              <a:path w="111156" h="111156">
                <a:moveTo>
                  <a:pt x="38110" y="0"/>
                </a:moveTo>
                <a:lnTo>
                  <a:pt x="73045" y="0"/>
                </a:lnTo>
                <a:cubicBezTo>
                  <a:pt x="94079" y="0"/>
                  <a:pt x="111156" y="17076"/>
                  <a:pt x="111156" y="38110"/>
                </a:cubicBezTo>
                <a:lnTo>
                  <a:pt x="111156" y="73045"/>
                </a:lnTo>
                <a:cubicBezTo>
                  <a:pt x="111156" y="94079"/>
                  <a:pt x="94079" y="111156"/>
                  <a:pt x="73045" y="111156"/>
                </a:cubicBezTo>
                <a:lnTo>
                  <a:pt x="38110" y="111156"/>
                </a:lnTo>
                <a:cubicBezTo>
                  <a:pt x="17076" y="111156"/>
                  <a:pt x="0" y="94079"/>
                  <a:pt x="0" y="73045"/>
                </a:cubicBezTo>
                <a:lnTo>
                  <a:pt x="0" y="38110"/>
                </a:lnTo>
                <a:cubicBezTo>
                  <a:pt x="0" y="17076"/>
                  <a:pt x="17076" y="0"/>
                  <a:pt x="38110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88" name="dsl:shape86"/>
          <p:cNvSpPr/>
          <p:nvPr/>
        </p:nvSpPr>
        <p:spPr>
          <a:xfrm>
            <a:off x="6777037" y="6089618"/>
            <a:ext cx="9906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sl:text87"/>
          <p:cNvSpPr txBox="1"/>
          <p:nvPr/>
        </p:nvSpPr>
        <p:spPr>
          <a:xfrm>
            <a:off x="6685597" y="6043898"/>
            <a:ext cx="117348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Пауза / тишина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3" name="dsl:shape1"/>
          <p:cNvSpPr/>
          <p:nvPr/>
        </p:nvSpPr>
        <p:spPr>
          <a:xfrm>
            <a:off x="521684" y="438150"/>
            <a:ext cx="18097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ext2"/>
          <p:cNvSpPr txBox="1"/>
          <p:nvPr/>
        </p:nvSpPr>
        <p:spPr>
          <a:xfrm>
            <a:off x="430244" y="392430"/>
            <a:ext cx="36385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350" noProof="1">
                <a:solidFill>
                  <a:srgbClr val="6366F1"/>
                </a:solidFill>
                <a:latin typeface="Liter"/>
                <a:ea typeface="Liter"/>
              </a:rPr>
              <a:t>2</a:t>
            </a:r>
          </a:p>
        </p:txBody>
      </p:sp>
      <p:sp>
        <p:nvSpPr>
          <p:cNvPr id="5" name="dsl:shape3"/>
          <p:cNvSpPr/>
          <p:nvPr/>
        </p:nvSpPr>
        <p:spPr>
          <a:xfrm>
            <a:off x="876300" y="457200"/>
            <a:ext cx="9525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ext4"/>
          <p:cNvSpPr txBox="1"/>
          <p:nvPr/>
        </p:nvSpPr>
        <p:spPr>
          <a:xfrm>
            <a:off x="784860" y="411480"/>
            <a:ext cx="11353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 spc="60">
                <a:solidFill>
                  <a:srgbClr val="6366F1"/>
                </a:solidFill>
                <a:latin typeface="Liter"/>
                <a:ea typeface="Liter"/>
              </a:rPr>
              <a:t>Уровень 2</a:t>
            </a:r>
          </a:p>
        </p:txBody>
      </p:sp>
      <p:sp>
        <p:nvSpPr>
          <p:cNvPr id="7" name="dsl:shape5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text6"/>
          <p:cNvSpPr txBox="1"/>
          <p:nvPr/>
        </p:nvSpPr>
        <p:spPr>
          <a:xfrm>
            <a:off x="289560" y="830580"/>
            <a:ext cx="11784330" cy="472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b="1" sz="2700" noProof="1">
                <a:solidFill>
                  <a:srgbClr val="EFEFEF"/>
                </a:solidFill>
                <a:latin typeface="Liter"/>
                <a:ea typeface="Liter"/>
              </a:rPr>
              <a:t>Лексический уровень</a:t>
            </a:r>
          </a:p>
        </p:txBody>
      </p:sp>
      <p:sp>
        <p:nvSpPr>
          <p:cNvPr id="9" name="dsl:shape7"/>
          <p:cNvSpPr/>
          <p:nvPr/>
        </p:nvSpPr>
        <p:spPr>
          <a:xfrm>
            <a:off x="381000" y="1333500"/>
            <a:ext cx="115157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ext8"/>
          <p:cNvSpPr txBox="1"/>
          <p:nvPr/>
        </p:nvSpPr>
        <p:spPr>
          <a:xfrm>
            <a:off x="289560" y="1287780"/>
            <a:ext cx="1169860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noProof="1">
                <a:solidFill>
                  <a:srgbClr val="8F8F8F"/>
                </a:solidFill>
                <a:latin typeface="Liter"/>
                <a:ea typeface="Liter"/>
              </a:rPr>
              <a:t>Токенизация и лемматизация</a:t>
            </a:r>
          </a:p>
        </p:txBody>
      </p:sp>
      <p:sp>
        <p:nvSpPr>
          <p:cNvPr id="11" name="dsl:shape9"/>
          <p:cNvSpPr/>
          <p:nvPr/>
        </p:nvSpPr>
        <p:spPr>
          <a:xfrm>
            <a:off x="384143" y="1755743"/>
            <a:ext cx="5616606" cy="4016406"/>
          </a:xfrm>
          <a:custGeom>
            <a:avLst/>
            <a:gdLst/>
            <a:ahLst/>
            <a:cxnLst/>
            <a:rect l="l" t="t" r="r" b="b"/>
            <a:pathLst>
              <a:path w="5616606" h="4016406">
                <a:moveTo>
                  <a:pt x="114306" y="0"/>
                </a:moveTo>
                <a:lnTo>
                  <a:pt x="5502299" y="0"/>
                </a:lnTo>
                <a:cubicBezTo>
                  <a:pt x="5565428" y="0"/>
                  <a:pt x="5616606" y="51177"/>
                  <a:pt x="5616606" y="114306"/>
                </a:cubicBezTo>
                <a:lnTo>
                  <a:pt x="5616606" y="3902099"/>
                </a:lnTo>
                <a:cubicBezTo>
                  <a:pt x="5616606" y="3965228"/>
                  <a:pt x="5565428" y="4016406"/>
                  <a:pt x="5502299" y="4016406"/>
                </a:cubicBezTo>
                <a:lnTo>
                  <a:pt x="114306" y="4016406"/>
                </a:lnTo>
                <a:cubicBezTo>
                  <a:pt x="51177" y="4016406"/>
                  <a:pt x="0" y="3965228"/>
                  <a:pt x="0" y="390209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2" name="dsl:shape10"/>
          <p:cNvSpPr/>
          <p:nvPr/>
        </p:nvSpPr>
        <p:spPr>
          <a:xfrm>
            <a:off x="601694" y="19875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3" name="dsl:shape11"/>
          <p:cNvSpPr/>
          <p:nvPr/>
        </p:nvSpPr>
        <p:spPr>
          <a:xfrm>
            <a:off x="816006" y="1949481"/>
            <a:ext cx="5086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xt12"/>
          <p:cNvSpPr txBox="1"/>
          <p:nvPr/>
        </p:nvSpPr>
        <p:spPr>
          <a:xfrm>
            <a:off x="724566" y="1903761"/>
            <a:ext cx="526923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Правила токенизации</a:t>
            </a:r>
          </a:p>
        </p:txBody>
      </p:sp>
      <p:sp>
        <p:nvSpPr>
          <p:cNvPr id="15" name="dsl:shape13"/>
          <p:cNvSpPr/>
          <p:nvPr/>
        </p:nvSpPr>
        <p:spPr>
          <a:xfrm>
            <a:off x="581025" y="2371725"/>
            <a:ext cx="5216556" cy="882681"/>
          </a:xfrm>
          <a:custGeom>
            <a:avLst/>
            <a:gdLst/>
            <a:ahLst/>
            <a:cxnLst/>
            <a:rect l="l" t="t" r="r" b="b"/>
            <a:pathLst>
              <a:path w="5216556" h="882681">
                <a:moveTo>
                  <a:pt x="76199" y="0"/>
                </a:moveTo>
                <a:lnTo>
                  <a:pt x="5140356" y="0"/>
                </a:lnTo>
                <a:cubicBezTo>
                  <a:pt x="5182439" y="0"/>
                  <a:pt x="5216556" y="34117"/>
                  <a:pt x="5216556" y="76201"/>
                </a:cubicBezTo>
                <a:lnTo>
                  <a:pt x="5216556" y="806479"/>
                </a:lnTo>
                <a:cubicBezTo>
                  <a:pt x="5216556" y="848563"/>
                  <a:pt x="5182439" y="882681"/>
                  <a:pt x="5140356" y="882681"/>
                </a:cubicBezTo>
                <a:lnTo>
                  <a:pt x="76199" y="882681"/>
                </a:lnTo>
                <a:cubicBezTo>
                  <a:pt x="34116" y="882681"/>
                  <a:pt x="0" y="848563"/>
                  <a:pt x="0" y="806479"/>
                </a:cubicBezTo>
                <a:lnTo>
                  <a:pt x="0" y="76201"/>
                </a:lnTo>
                <a:cubicBezTo>
                  <a:pt x="0" y="34145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6" name="dsl:shape14"/>
          <p:cNvSpPr/>
          <p:nvPr/>
        </p:nvSpPr>
        <p:spPr>
          <a:xfrm>
            <a:off x="755618" y="25653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  <a:effectLst/>
        </p:spPr>
      </p:sp>
      <p:sp>
        <p:nvSpPr>
          <p:cNvPr id="17" name="dsl:shape15"/>
          <p:cNvSpPr/>
          <p:nvPr/>
        </p:nvSpPr>
        <p:spPr>
          <a:xfrm>
            <a:off x="1003268" y="2527268"/>
            <a:ext cx="200025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xt16"/>
          <p:cNvSpPr txBox="1"/>
          <p:nvPr/>
        </p:nvSpPr>
        <p:spPr>
          <a:xfrm>
            <a:off x="911828" y="2481548"/>
            <a:ext cx="218313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FF6467"/>
                </a:solidFill>
                <a:latin typeface="Liter"/>
                <a:ea typeface="Liter"/>
              </a:rPr>
              <a:t>НЕ используем дефисы в ID</a:t>
            </a:r>
          </a:p>
        </p:txBody>
      </p:sp>
      <p:sp>
        <p:nvSpPr>
          <p:cNvPr id="19" name="dsl:shape17"/>
          <p:cNvSpPr/>
          <p:nvPr/>
        </p:nvSpPr>
        <p:spPr>
          <a:xfrm>
            <a:off x="736568" y="2870168"/>
            <a:ext cx="47625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text18"/>
          <p:cNvSpPr txBox="1"/>
          <p:nvPr/>
        </p:nvSpPr>
        <p:spPr>
          <a:xfrm>
            <a:off x="645128" y="2824448"/>
            <a:ext cx="65913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word-1</a:t>
            </a:r>
          </a:p>
        </p:txBody>
      </p:sp>
      <p:sp>
        <p:nvSpPr>
          <p:cNvPr id="21" name="dsl:shape19"/>
          <p:cNvSpPr/>
          <p:nvPr/>
        </p:nvSpPr>
        <p:spPr>
          <a:xfrm>
            <a:off x="1312926" y="28987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2" name="dsl:shape20"/>
          <p:cNvSpPr/>
          <p:nvPr/>
        </p:nvSpPr>
        <p:spPr>
          <a:xfrm>
            <a:off x="1612963" y="2832068"/>
            <a:ext cx="742950" cy="266700"/>
          </a:xfrm>
          <a:custGeom>
            <a:avLst/>
            <a:gdLst/>
            <a:ahLst/>
            <a:cxnLst/>
            <a:rect l="l" t="t" r="r" b="b"/>
            <a:pathLst>
              <a:path w="742950" h="266700">
                <a:moveTo>
                  <a:pt x="38101" y="0"/>
                </a:moveTo>
                <a:lnTo>
                  <a:pt x="704849" y="0"/>
                </a:lnTo>
                <a:cubicBezTo>
                  <a:pt x="725892" y="0"/>
                  <a:pt x="742950" y="17058"/>
                  <a:pt x="742950" y="38101"/>
                </a:cubicBezTo>
                <a:lnTo>
                  <a:pt x="742950" y="228599"/>
                </a:lnTo>
                <a:cubicBezTo>
                  <a:pt x="742950" y="249628"/>
                  <a:pt x="725878" y="266700"/>
                  <a:pt x="7048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10000"/>
            </a:srgbClr>
          </a:solidFill>
          <a:ln>
            <a:noFill/>
          </a:ln>
          <a:effectLst/>
        </p:spPr>
      </p:sp>
      <p:sp>
        <p:nvSpPr>
          <p:cNvPr id="23" name="dsl:shape21"/>
          <p:cNvSpPr/>
          <p:nvPr/>
        </p:nvSpPr>
        <p:spPr>
          <a:xfrm>
            <a:off x="1612963" y="2832068"/>
            <a:ext cx="8096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text22"/>
          <p:cNvSpPr txBox="1"/>
          <p:nvPr/>
        </p:nvSpPr>
        <p:spPr>
          <a:xfrm>
            <a:off x="1597723" y="2824448"/>
            <a:ext cx="84010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366F1"/>
                </a:solidFill>
                <a:latin typeface="MiSans"/>
                <a:ea typeface="MiSans"/>
              </a:rPr>
              <a:t>word_001</a:t>
            </a:r>
          </a:p>
        </p:txBody>
      </p:sp>
      <p:sp>
        <p:nvSpPr>
          <p:cNvPr id="25" name="dsl:shape23"/>
          <p:cNvSpPr/>
          <p:nvPr/>
        </p:nvSpPr>
        <p:spPr>
          <a:xfrm>
            <a:off x="581025" y="3413093"/>
            <a:ext cx="5216556" cy="806481"/>
          </a:xfrm>
          <a:custGeom>
            <a:avLst/>
            <a:gdLst/>
            <a:ahLst/>
            <a:cxnLst/>
            <a:rect l="l" t="t" r="r" b="b"/>
            <a:pathLst>
              <a:path w="5216556" h="806481">
                <a:moveTo>
                  <a:pt x="76201" y="0"/>
                </a:moveTo>
                <a:lnTo>
                  <a:pt x="5140354" y="0"/>
                </a:lnTo>
                <a:cubicBezTo>
                  <a:pt x="5182438" y="0"/>
                  <a:pt x="5216556" y="34118"/>
                  <a:pt x="5216556" y="76203"/>
                </a:cubicBezTo>
                <a:lnTo>
                  <a:pt x="5216556" y="730277"/>
                </a:lnTo>
                <a:cubicBezTo>
                  <a:pt x="5216556" y="772362"/>
                  <a:pt x="5182438" y="806481"/>
                  <a:pt x="5140354" y="806481"/>
                </a:cubicBezTo>
                <a:lnTo>
                  <a:pt x="76201" y="806481"/>
                </a:lnTo>
                <a:cubicBezTo>
                  <a:pt x="34145" y="806481"/>
                  <a:pt x="0" y="772334"/>
                  <a:pt x="0" y="730277"/>
                </a:cubicBezTo>
                <a:lnTo>
                  <a:pt x="0" y="76203"/>
                </a:lnTo>
                <a:cubicBezTo>
                  <a:pt x="0" y="34146"/>
                  <a:pt x="34145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26" name="dsl:shape24"/>
          <p:cNvSpPr/>
          <p:nvPr/>
        </p:nvSpPr>
        <p:spPr>
          <a:xfrm>
            <a:off x="755618" y="36068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76200"/>
                </a:moveTo>
                <a:lnTo>
                  <a:pt x="45393" y="87957"/>
                </a:lnTo>
                <a:cubicBezTo>
                  <a:pt x="41642" y="86499"/>
                  <a:pt x="37594" y="85725"/>
                  <a:pt x="33338" y="85725"/>
                </a:cubicBezTo>
                <a:cubicBezTo>
                  <a:pt x="14913" y="85725"/>
                  <a:pt x="0" y="100638"/>
                  <a:pt x="0" y="119062"/>
                </a:cubicBezTo>
                <a:cubicBezTo>
                  <a:pt x="0" y="137487"/>
                  <a:pt x="14913" y="152400"/>
                  <a:pt x="33338" y="152400"/>
                </a:cubicBezTo>
                <a:cubicBezTo>
                  <a:pt x="51762" y="152400"/>
                  <a:pt x="66675" y="137487"/>
                  <a:pt x="66675" y="119062"/>
                </a:cubicBezTo>
                <a:cubicBezTo>
                  <a:pt x="66675" y="114806"/>
                  <a:pt x="65871" y="110758"/>
                  <a:pt x="64443" y="107007"/>
                </a:cubicBezTo>
                <a:lnTo>
                  <a:pt x="148590" y="22860"/>
                </a:lnTo>
                <a:cubicBezTo>
                  <a:pt x="150703" y="20747"/>
                  <a:pt x="150703" y="17353"/>
                  <a:pt x="148590" y="15240"/>
                </a:cubicBezTo>
                <a:cubicBezTo>
                  <a:pt x="140166" y="6816"/>
                  <a:pt x="126534" y="6816"/>
                  <a:pt x="118110" y="15240"/>
                </a:cubicBezTo>
                <a:lnTo>
                  <a:pt x="76200" y="57150"/>
                </a:lnTo>
                <a:lnTo>
                  <a:pt x="64443" y="45393"/>
                </a:lnTo>
                <a:cubicBezTo>
                  <a:pt x="65901" y="41642"/>
                  <a:pt x="66675" y="37594"/>
                  <a:pt x="66675" y="33338"/>
                </a:cubicBezTo>
                <a:cubicBezTo>
                  <a:pt x="66675" y="14913"/>
                  <a:pt x="51762" y="0"/>
                  <a:pt x="33338" y="0"/>
                </a:cubicBezTo>
                <a:cubicBezTo>
                  <a:pt x="14913" y="0"/>
                  <a:pt x="0" y="14913"/>
                  <a:pt x="0" y="33338"/>
                </a:cubicBezTo>
                <a:cubicBezTo>
                  <a:pt x="0" y="51762"/>
                  <a:pt x="14913" y="66675"/>
                  <a:pt x="33338" y="66675"/>
                </a:cubicBezTo>
                <a:cubicBezTo>
                  <a:pt x="37594" y="66675"/>
                  <a:pt x="41642" y="65871"/>
                  <a:pt x="45393" y="64443"/>
                </a:cubicBezTo>
                <a:lnTo>
                  <a:pt x="57150" y="76200"/>
                </a:lnTo>
                <a:close/>
                <a:moveTo>
                  <a:pt x="86291" y="105341"/>
                </a:moveTo>
                <a:lnTo>
                  <a:pt x="118110" y="137160"/>
                </a:lnTo>
                <a:cubicBezTo>
                  <a:pt x="126534" y="145584"/>
                  <a:pt x="140166" y="145584"/>
                  <a:pt x="148590" y="137160"/>
                </a:cubicBezTo>
                <a:cubicBezTo>
                  <a:pt x="150703" y="135047"/>
                  <a:pt x="150703" y="131653"/>
                  <a:pt x="148590" y="129540"/>
                </a:cubicBezTo>
                <a:lnTo>
                  <a:pt x="105341" y="86291"/>
                </a:lnTo>
                <a:lnTo>
                  <a:pt x="86291" y="105341"/>
                </a:lnTo>
                <a:close/>
                <a:moveTo>
                  <a:pt x="19050" y="33338"/>
                </a:moveTo>
                <a:cubicBezTo>
                  <a:pt x="19050" y="25452"/>
                  <a:pt x="25452" y="19050"/>
                  <a:pt x="33337" y="19050"/>
                </a:cubicBezTo>
                <a:cubicBezTo>
                  <a:pt x="41223" y="19050"/>
                  <a:pt x="47625" y="25452"/>
                  <a:pt x="47625" y="33337"/>
                </a:cubicBezTo>
                <a:cubicBezTo>
                  <a:pt x="47625" y="41223"/>
                  <a:pt x="41223" y="47625"/>
                  <a:pt x="33338" y="47625"/>
                </a:cubicBezTo>
                <a:cubicBezTo>
                  <a:pt x="25452" y="47625"/>
                  <a:pt x="19050" y="41223"/>
                  <a:pt x="19050" y="33338"/>
                </a:cubicBezTo>
                <a:close/>
                <a:moveTo>
                  <a:pt x="33338" y="104775"/>
                </a:moveTo>
                <a:cubicBezTo>
                  <a:pt x="41223" y="104775"/>
                  <a:pt x="47625" y="111177"/>
                  <a:pt x="47625" y="119062"/>
                </a:cubicBezTo>
                <a:cubicBezTo>
                  <a:pt x="47625" y="126948"/>
                  <a:pt x="41223" y="133350"/>
                  <a:pt x="33338" y="133350"/>
                </a:cubicBezTo>
                <a:cubicBezTo>
                  <a:pt x="25452" y="133350"/>
                  <a:pt x="19050" y="126948"/>
                  <a:pt x="19050" y="119062"/>
                </a:cubicBezTo>
                <a:cubicBezTo>
                  <a:pt x="19050" y="111177"/>
                  <a:pt x="25452" y="104775"/>
                  <a:pt x="33337" y="10477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7" name="dsl:shape25"/>
          <p:cNvSpPr/>
          <p:nvPr/>
        </p:nvSpPr>
        <p:spPr>
          <a:xfrm>
            <a:off x="1003268" y="3568731"/>
            <a:ext cx="202882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text26"/>
          <p:cNvSpPr txBox="1"/>
          <p:nvPr/>
        </p:nvSpPr>
        <p:spPr>
          <a:xfrm>
            <a:off x="911828" y="3523011"/>
            <a:ext cx="2211705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EFEFEF"/>
                </a:solidFill>
                <a:latin typeface="Liter"/>
                <a:ea typeface="Liter"/>
              </a:rPr>
              <a:t>Разделяем слитные ошибки</a:t>
            </a:r>
          </a:p>
        </p:txBody>
      </p:sp>
      <p:sp>
        <p:nvSpPr>
          <p:cNvPr id="29" name="dsl:shape27"/>
          <p:cNvSpPr/>
          <p:nvPr/>
        </p:nvSpPr>
        <p:spPr>
          <a:xfrm>
            <a:off x="736568" y="3873531"/>
            <a:ext cx="8763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text28"/>
          <p:cNvSpPr txBox="1"/>
          <p:nvPr/>
        </p:nvSpPr>
        <p:spPr>
          <a:xfrm>
            <a:off x="645128" y="3827811"/>
            <a:ext cx="105918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"включисвет"</a:t>
            </a:r>
          </a:p>
        </p:txBody>
      </p:sp>
      <p:sp>
        <p:nvSpPr>
          <p:cNvPr id="31" name="dsl:shape29"/>
          <p:cNvSpPr/>
          <p:nvPr/>
        </p:nvSpPr>
        <p:spPr>
          <a:xfrm>
            <a:off x="1713737" y="390210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32" name="dsl:shape30"/>
          <p:cNvSpPr/>
          <p:nvPr/>
        </p:nvSpPr>
        <p:spPr>
          <a:xfrm>
            <a:off x="2013775" y="3873531"/>
            <a:ext cx="108585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sl:text31"/>
          <p:cNvSpPr txBox="1"/>
          <p:nvPr/>
        </p:nvSpPr>
        <p:spPr>
          <a:xfrm>
            <a:off x="1922335" y="3827811"/>
            <a:ext cx="126873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6366F1"/>
                </a:solidFill>
                <a:latin typeface="Liter"/>
                <a:ea typeface="Liter"/>
              </a:rPr>
              <a:t>"включи" + "свет"</a:t>
            </a:r>
          </a:p>
        </p:txBody>
      </p:sp>
      <p:sp>
        <p:nvSpPr>
          <p:cNvPr id="34" name="dsl:shape32"/>
          <p:cNvSpPr/>
          <p:nvPr/>
        </p:nvSpPr>
        <p:spPr>
          <a:xfrm>
            <a:off x="384143" y="5934075"/>
            <a:ext cx="5616606" cy="539781"/>
          </a:xfrm>
          <a:custGeom>
            <a:avLst/>
            <a:gdLst/>
            <a:ahLst/>
            <a:cxnLst/>
            <a:rect l="l" t="t" r="r" b="b"/>
            <a:pathLst>
              <a:path w="5616606" h="539781">
                <a:moveTo>
                  <a:pt x="114297" y="0"/>
                </a:moveTo>
                <a:lnTo>
                  <a:pt x="5502308" y="0"/>
                </a:lnTo>
                <a:cubicBezTo>
                  <a:pt x="5565432" y="0"/>
                  <a:pt x="5616606" y="51175"/>
                  <a:pt x="5616606" y="114303"/>
                </a:cubicBezTo>
                <a:lnTo>
                  <a:pt x="5616606" y="425477"/>
                </a:lnTo>
                <a:cubicBezTo>
                  <a:pt x="5616606" y="488605"/>
                  <a:pt x="5565432" y="539781"/>
                  <a:pt x="5502308" y="539781"/>
                </a:cubicBezTo>
                <a:lnTo>
                  <a:pt x="114297" y="539781"/>
                </a:lnTo>
                <a:cubicBezTo>
                  <a:pt x="51173" y="539781"/>
                  <a:pt x="0" y="488605"/>
                  <a:pt x="0" y="425477"/>
                </a:cubicBezTo>
                <a:lnTo>
                  <a:pt x="0" y="114303"/>
                </a:lnTo>
                <a:cubicBezTo>
                  <a:pt x="0" y="51217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35" name="dsl:shape33"/>
          <p:cNvSpPr/>
          <p:nvPr/>
        </p:nvSpPr>
        <p:spPr>
          <a:xfrm>
            <a:off x="563594" y="61086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36" name="dsl:shape34"/>
          <p:cNvSpPr/>
          <p:nvPr/>
        </p:nvSpPr>
        <p:spPr>
          <a:xfrm>
            <a:off x="892206" y="6089618"/>
            <a:ext cx="17430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sl:text35"/>
          <p:cNvSpPr txBox="1"/>
          <p:nvPr/>
        </p:nvSpPr>
        <p:spPr>
          <a:xfrm>
            <a:off x="800766" y="6043898"/>
            <a:ext cx="1925955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6366F1"/>
                </a:solidFill>
                <a:latin typeface="Liter"/>
                <a:ea typeface="Liter"/>
              </a:rPr>
              <a:t>Формат:</a:t>
            </a: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 CoNLL-U / TSV</a:t>
            </a:r>
          </a:p>
        </p:txBody>
      </p:sp>
      <p:sp>
        <p:nvSpPr>
          <p:cNvPr id="38" name="dsl:shape36"/>
          <p:cNvSpPr/>
          <p:nvPr/>
        </p:nvSpPr>
        <p:spPr>
          <a:xfrm>
            <a:off x="6194393" y="1755743"/>
            <a:ext cx="5616606" cy="4721256"/>
          </a:xfrm>
          <a:custGeom>
            <a:avLst/>
            <a:gdLst/>
            <a:ahLst/>
            <a:cxnLst/>
            <a:rect l="l" t="t" r="r" b="b"/>
            <a:pathLst>
              <a:path w="5616606" h="4721256">
                <a:moveTo>
                  <a:pt x="114301" y="0"/>
                </a:moveTo>
                <a:lnTo>
                  <a:pt x="5502304" y="0"/>
                </a:lnTo>
                <a:cubicBezTo>
                  <a:pt x="5565431" y="0"/>
                  <a:pt x="5616606" y="51174"/>
                  <a:pt x="5616606" y="114301"/>
                </a:cubicBezTo>
                <a:lnTo>
                  <a:pt x="5616606" y="4606954"/>
                </a:lnTo>
                <a:cubicBezTo>
                  <a:pt x="5616606" y="4670081"/>
                  <a:pt x="5565431" y="4721256"/>
                  <a:pt x="5502304" y="4721256"/>
                </a:cubicBezTo>
                <a:lnTo>
                  <a:pt x="114301" y="4721256"/>
                </a:lnTo>
                <a:cubicBezTo>
                  <a:pt x="51174" y="4721256"/>
                  <a:pt x="0" y="4670081"/>
                  <a:pt x="0" y="46069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39" name="dsl:shape37"/>
          <p:cNvSpPr/>
          <p:nvPr/>
        </p:nvSpPr>
        <p:spPr>
          <a:xfrm>
            <a:off x="6423850" y="1987581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7" h="190500">
                <a:moveTo>
                  <a:pt x="95249" y="59531"/>
                </a:moveTo>
                <a:lnTo>
                  <a:pt x="95249" y="95250"/>
                </a:lnTo>
                <a:lnTo>
                  <a:pt x="142874" y="95250"/>
                </a:lnTo>
                <a:lnTo>
                  <a:pt x="142874" y="59531"/>
                </a:lnTo>
                <a:lnTo>
                  <a:pt x="95249" y="59531"/>
                </a:lnTo>
                <a:close/>
                <a:moveTo>
                  <a:pt x="71437" y="59531"/>
                </a:moveTo>
                <a:lnTo>
                  <a:pt x="23811" y="59531"/>
                </a:lnTo>
                <a:lnTo>
                  <a:pt x="23811" y="95250"/>
                </a:lnTo>
                <a:lnTo>
                  <a:pt x="71437" y="95250"/>
                </a:lnTo>
                <a:lnTo>
                  <a:pt x="71437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7" y="11906"/>
                  <a:pt x="23811" y="11906"/>
                </a:cubicBezTo>
                <a:lnTo>
                  <a:pt x="142874" y="11906"/>
                </a:lnTo>
                <a:cubicBezTo>
                  <a:pt x="156008" y="11906"/>
                  <a:pt x="166687" y="22585"/>
                  <a:pt x="166687" y="35719"/>
                </a:cubicBezTo>
                <a:lnTo>
                  <a:pt x="166687" y="154781"/>
                </a:lnTo>
                <a:cubicBezTo>
                  <a:pt x="166687" y="167915"/>
                  <a:pt x="156008" y="178594"/>
                  <a:pt x="142874" y="178594"/>
                </a:cubicBezTo>
                <a:lnTo>
                  <a:pt x="23811" y="178594"/>
                </a:lnTo>
                <a:cubicBezTo>
                  <a:pt x="10677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4" y="119063"/>
                </a:moveTo>
                <a:lnTo>
                  <a:pt x="95249" y="119063"/>
                </a:lnTo>
                <a:lnTo>
                  <a:pt x="95249" y="154781"/>
                </a:lnTo>
                <a:lnTo>
                  <a:pt x="142874" y="154781"/>
                </a:lnTo>
                <a:lnTo>
                  <a:pt x="142874" y="119063"/>
                </a:lnTo>
                <a:close/>
                <a:moveTo>
                  <a:pt x="71437" y="154781"/>
                </a:moveTo>
                <a:lnTo>
                  <a:pt x="71437" y="119063"/>
                </a:lnTo>
                <a:lnTo>
                  <a:pt x="23811" y="119063"/>
                </a:lnTo>
                <a:lnTo>
                  <a:pt x="23811" y="154781"/>
                </a:lnTo>
                <a:lnTo>
                  <a:pt x="71437" y="15478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40" name="dsl:shape38"/>
          <p:cNvSpPr/>
          <p:nvPr/>
        </p:nvSpPr>
        <p:spPr>
          <a:xfrm>
            <a:off x="6626256" y="1949481"/>
            <a:ext cx="5086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sl:text39"/>
          <p:cNvSpPr txBox="1"/>
          <p:nvPr/>
        </p:nvSpPr>
        <p:spPr>
          <a:xfrm>
            <a:off x="6534816" y="1903761"/>
            <a:ext cx="526923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Пример разметки</a:t>
            </a:r>
          </a:p>
        </p:txBody>
      </p:sp>
      <p:graphicFrame>
        <p:nvGraphicFramePr>
          <p:cNvPr id="42" name="dsl:table40"/>
          <p:cNvGraphicFramePr>
            <a:graphicFrameLocks noGrp="1"/>
          </p:cNvGraphicFramePr>
          <p:nvPr/>
        </p:nvGraphicFramePr>
        <p:xfrm>
          <a:off x="6388131" y="2368581"/>
          <a:ext cx="5229222" cy="1933575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574519"/>
                <a:gridCol w="1078266"/>
                <a:gridCol w="1202198"/>
                <a:gridCol w="725293"/>
                <a:gridCol w="648946"/>
              </a:tblGrid>
              <a:tr h="3867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token_id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form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lemma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start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end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3867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utt_001_t01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Включи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включить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0.5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1.2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67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utt_001_t02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свет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свет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1.5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2.1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67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utt_001_t03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в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в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2.3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2.4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67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utt_001_t04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спальне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спальня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2.4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2.9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dsl:shape41"/>
          <p:cNvSpPr/>
          <p:nvPr/>
        </p:nvSpPr>
        <p:spPr>
          <a:xfrm>
            <a:off x="6391275" y="5394293"/>
            <a:ext cx="5216556" cy="882681"/>
          </a:xfrm>
          <a:custGeom>
            <a:avLst/>
            <a:gdLst/>
            <a:ahLst/>
            <a:cxnLst/>
            <a:rect l="l" t="t" r="r" b="b"/>
            <a:pathLst>
              <a:path w="5216556" h="882681">
                <a:moveTo>
                  <a:pt x="76199" y="0"/>
                </a:moveTo>
                <a:lnTo>
                  <a:pt x="5140356" y="0"/>
                </a:lnTo>
                <a:cubicBezTo>
                  <a:pt x="5182439" y="0"/>
                  <a:pt x="5216556" y="34117"/>
                  <a:pt x="5216556" y="76201"/>
                </a:cubicBezTo>
                <a:lnTo>
                  <a:pt x="5216556" y="806479"/>
                </a:lnTo>
                <a:cubicBezTo>
                  <a:pt x="5216556" y="848563"/>
                  <a:pt x="5182439" y="882681"/>
                  <a:pt x="5140356" y="882681"/>
                </a:cubicBezTo>
                <a:lnTo>
                  <a:pt x="76199" y="882681"/>
                </a:lnTo>
                <a:cubicBezTo>
                  <a:pt x="34116" y="882681"/>
                  <a:pt x="0" y="848563"/>
                  <a:pt x="0" y="806479"/>
                </a:cubicBezTo>
                <a:lnTo>
                  <a:pt x="0" y="76201"/>
                </a:lnTo>
                <a:cubicBezTo>
                  <a:pt x="0" y="34145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44" name="dsl:shape42"/>
          <p:cNvSpPr/>
          <p:nvPr/>
        </p:nvSpPr>
        <p:spPr>
          <a:xfrm>
            <a:off x="6546818" y="5549931"/>
            <a:ext cx="1240155" cy="2222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sl:text43"/>
          <p:cNvSpPr txBox="1"/>
          <p:nvPr/>
        </p:nvSpPr>
        <p:spPr>
          <a:xfrm>
            <a:off x="6455378" y="5504211"/>
            <a:ext cx="1423035" cy="31365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6366F1"/>
                </a:solidFill>
                <a:latin typeface="Liter"/>
                <a:ea typeface="Liter"/>
              </a:rPr>
              <a:t>Исходный текст:</a:t>
            </a:r>
          </a:p>
        </p:txBody>
      </p:sp>
      <p:sp>
        <p:nvSpPr>
          <p:cNvPr id="46" name="dsl:shape44"/>
          <p:cNvSpPr/>
          <p:nvPr/>
        </p:nvSpPr>
        <p:spPr>
          <a:xfrm>
            <a:off x="6546818" y="5854731"/>
            <a:ext cx="50006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sl:text45"/>
          <p:cNvSpPr txBox="1"/>
          <p:nvPr/>
        </p:nvSpPr>
        <p:spPr>
          <a:xfrm>
            <a:off x="6455378" y="5809011"/>
            <a:ext cx="518350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noProof="1">
                <a:solidFill>
                  <a:srgbClr val="EFEFEF"/>
                </a:solidFill>
                <a:latin typeface="Liter"/>
                <a:ea typeface="Liter"/>
              </a:rPr>
              <a:t>«Включи свет в спальне»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3" name="dsl:shape1"/>
          <p:cNvSpPr/>
          <p:nvPr/>
        </p:nvSpPr>
        <p:spPr>
          <a:xfrm>
            <a:off x="520922" y="438150"/>
            <a:ext cx="1905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ext2"/>
          <p:cNvSpPr txBox="1"/>
          <p:nvPr/>
        </p:nvSpPr>
        <p:spPr>
          <a:xfrm>
            <a:off x="429482" y="392430"/>
            <a:ext cx="37338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350" noProof="1">
                <a:solidFill>
                  <a:srgbClr val="6366F1"/>
                </a:solidFill>
                <a:latin typeface="Liter"/>
                <a:ea typeface="Liter"/>
              </a:rPr>
              <a:t>3</a:t>
            </a:r>
          </a:p>
        </p:txBody>
      </p:sp>
      <p:sp>
        <p:nvSpPr>
          <p:cNvPr id="5" name="dsl:shape3"/>
          <p:cNvSpPr/>
          <p:nvPr/>
        </p:nvSpPr>
        <p:spPr>
          <a:xfrm>
            <a:off x="876300" y="457200"/>
            <a:ext cx="9525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ext4"/>
          <p:cNvSpPr txBox="1"/>
          <p:nvPr/>
        </p:nvSpPr>
        <p:spPr>
          <a:xfrm>
            <a:off x="784860" y="411480"/>
            <a:ext cx="11353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 spc="60">
                <a:solidFill>
                  <a:srgbClr val="6366F1"/>
                </a:solidFill>
                <a:latin typeface="Liter"/>
                <a:ea typeface="Liter"/>
              </a:rPr>
              <a:t>Уровень 3</a:t>
            </a:r>
          </a:p>
        </p:txBody>
      </p:sp>
      <p:sp>
        <p:nvSpPr>
          <p:cNvPr id="7" name="dsl:shape5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text6"/>
          <p:cNvSpPr txBox="1"/>
          <p:nvPr/>
        </p:nvSpPr>
        <p:spPr>
          <a:xfrm>
            <a:off x="289560" y="830580"/>
            <a:ext cx="11784330" cy="472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b="1" sz="2700" noProof="1">
                <a:solidFill>
                  <a:srgbClr val="EFEFEF"/>
                </a:solidFill>
                <a:latin typeface="Liter"/>
                <a:ea typeface="Liter"/>
              </a:rPr>
              <a:t>Морфосинтаксический уровень</a:t>
            </a:r>
          </a:p>
        </p:txBody>
      </p:sp>
      <p:sp>
        <p:nvSpPr>
          <p:cNvPr id="9" name="dsl:shape7"/>
          <p:cNvSpPr/>
          <p:nvPr/>
        </p:nvSpPr>
        <p:spPr>
          <a:xfrm>
            <a:off x="381000" y="1333500"/>
            <a:ext cx="115157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ext8"/>
          <p:cNvSpPr txBox="1"/>
          <p:nvPr/>
        </p:nvSpPr>
        <p:spPr>
          <a:xfrm>
            <a:off x="289560" y="1287780"/>
            <a:ext cx="1169860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noProof="1">
                <a:solidFill>
                  <a:srgbClr val="8F8F8F"/>
                </a:solidFill>
                <a:latin typeface="Liter"/>
                <a:ea typeface="Liter"/>
              </a:rPr>
              <a:t>Частеречная разметка (POS-теггинг)</a:t>
            </a:r>
          </a:p>
        </p:txBody>
      </p:sp>
      <p:sp>
        <p:nvSpPr>
          <p:cNvPr id="11" name="dsl:shape9"/>
          <p:cNvSpPr/>
          <p:nvPr/>
        </p:nvSpPr>
        <p:spPr>
          <a:xfrm>
            <a:off x="384143" y="1755743"/>
            <a:ext cx="4454556" cy="4016406"/>
          </a:xfrm>
          <a:custGeom>
            <a:avLst/>
            <a:gdLst/>
            <a:ahLst/>
            <a:cxnLst/>
            <a:rect l="l" t="t" r="r" b="b"/>
            <a:pathLst>
              <a:path w="4454556" h="4016406">
                <a:moveTo>
                  <a:pt x="114306" y="0"/>
                </a:moveTo>
                <a:lnTo>
                  <a:pt x="4340249" y="0"/>
                </a:lnTo>
                <a:cubicBezTo>
                  <a:pt x="4403378" y="0"/>
                  <a:pt x="4454556" y="51177"/>
                  <a:pt x="4454556" y="114306"/>
                </a:cubicBezTo>
                <a:lnTo>
                  <a:pt x="4454556" y="3902099"/>
                </a:lnTo>
                <a:cubicBezTo>
                  <a:pt x="4454556" y="3965228"/>
                  <a:pt x="4403378" y="4016406"/>
                  <a:pt x="4340249" y="4016406"/>
                </a:cubicBezTo>
                <a:lnTo>
                  <a:pt x="114306" y="4016406"/>
                </a:lnTo>
                <a:cubicBezTo>
                  <a:pt x="51177" y="4016406"/>
                  <a:pt x="0" y="3965228"/>
                  <a:pt x="0" y="390209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2" name="dsl:shape10"/>
          <p:cNvSpPr/>
          <p:nvPr/>
        </p:nvSpPr>
        <p:spPr>
          <a:xfrm>
            <a:off x="589788" y="1987581"/>
            <a:ext cx="214312" cy="190500"/>
          </a:xfrm>
          <a:custGeom>
            <a:avLst/>
            <a:gdLst/>
            <a:ahLst/>
            <a:cxnLst/>
            <a:rect l="l" t="t" r="r" b="b"/>
            <a:pathLst>
              <a:path w="214312" h="190500">
                <a:moveTo>
                  <a:pt x="149274" y="14548"/>
                </a:moveTo>
                <a:lnTo>
                  <a:pt x="204414" y="70470"/>
                </a:lnTo>
                <a:cubicBezTo>
                  <a:pt x="214720" y="80925"/>
                  <a:pt x="214720" y="97668"/>
                  <a:pt x="204414" y="108124"/>
                </a:cubicBezTo>
                <a:lnTo>
                  <a:pt x="146223" y="167022"/>
                </a:lnTo>
                <a:cubicBezTo>
                  <a:pt x="142762" y="170520"/>
                  <a:pt x="137107" y="170557"/>
                  <a:pt x="133609" y="167097"/>
                </a:cubicBezTo>
                <a:cubicBezTo>
                  <a:pt x="130112" y="163637"/>
                  <a:pt x="130075" y="157981"/>
                  <a:pt x="133535" y="154484"/>
                </a:cubicBezTo>
                <a:lnTo>
                  <a:pt x="191727" y="95548"/>
                </a:lnTo>
                <a:cubicBezTo>
                  <a:pt x="195150" y="92087"/>
                  <a:pt x="195150" y="86469"/>
                  <a:pt x="191727" y="83009"/>
                </a:cubicBezTo>
                <a:lnTo>
                  <a:pt x="136549" y="27124"/>
                </a:lnTo>
                <a:cubicBezTo>
                  <a:pt x="133089" y="23626"/>
                  <a:pt x="133126" y="17971"/>
                  <a:pt x="136623" y="14511"/>
                </a:cubicBezTo>
                <a:cubicBezTo>
                  <a:pt x="140121" y="11050"/>
                  <a:pt x="145776" y="11088"/>
                  <a:pt x="149236" y="14585"/>
                </a:cubicBezTo>
                <a:close/>
                <a:moveTo>
                  <a:pt x="11942" y="85390"/>
                </a:moveTo>
                <a:lnTo>
                  <a:pt x="11942" y="35719"/>
                </a:lnTo>
                <a:cubicBezTo>
                  <a:pt x="11942" y="22585"/>
                  <a:pt x="22621" y="11906"/>
                  <a:pt x="35755" y="11906"/>
                </a:cubicBezTo>
                <a:lnTo>
                  <a:pt x="85426" y="11906"/>
                </a:lnTo>
                <a:cubicBezTo>
                  <a:pt x="91752" y="11906"/>
                  <a:pt x="97816" y="14399"/>
                  <a:pt x="102281" y="18864"/>
                </a:cubicBezTo>
                <a:lnTo>
                  <a:pt x="155859" y="72442"/>
                </a:lnTo>
                <a:cubicBezTo>
                  <a:pt x="165161" y="81744"/>
                  <a:pt x="165161" y="96813"/>
                  <a:pt x="155859" y="106114"/>
                </a:cubicBezTo>
                <a:lnTo>
                  <a:pt x="106188" y="155786"/>
                </a:lnTo>
                <a:cubicBezTo>
                  <a:pt x="96886" y="165088"/>
                  <a:pt x="81817" y="165088"/>
                  <a:pt x="72516" y="155786"/>
                </a:cubicBezTo>
                <a:lnTo>
                  <a:pt x="18937" y="102208"/>
                </a:lnTo>
                <a:cubicBezTo>
                  <a:pt x="14473" y="97743"/>
                  <a:pt x="11980" y="91678"/>
                  <a:pt x="11980" y="85353"/>
                </a:cubicBezTo>
                <a:close/>
                <a:moveTo>
                  <a:pt x="65521" y="53578"/>
                </a:moveTo>
                <a:cubicBezTo>
                  <a:pt x="65521" y="47007"/>
                  <a:pt x="60186" y="41672"/>
                  <a:pt x="53614" y="41672"/>
                </a:cubicBezTo>
                <a:cubicBezTo>
                  <a:pt x="47043" y="41672"/>
                  <a:pt x="41708" y="47007"/>
                  <a:pt x="41708" y="53578"/>
                </a:cubicBezTo>
                <a:cubicBezTo>
                  <a:pt x="41708" y="60149"/>
                  <a:pt x="47043" y="65484"/>
                  <a:pt x="53614" y="65484"/>
                </a:cubicBezTo>
                <a:cubicBezTo>
                  <a:pt x="60186" y="65484"/>
                  <a:pt x="65521" y="60149"/>
                  <a:pt x="65521" y="5357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3" name="dsl:shape11"/>
          <p:cNvSpPr/>
          <p:nvPr/>
        </p:nvSpPr>
        <p:spPr>
          <a:xfrm>
            <a:off x="816006" y="1949481"/>
            <a:ext cx="39243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xt12"/>
          <p:cNvSpPr txBox="1"/>
          <p:nvPr/>
        </p:nvSpPr>
        <p:spPr>
          <a:xfrm>
            <a:off x="724566" y="1903761"/>
            <a:ext cx="410718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Тегсет</a:t>
            </a:r>
          </a:p>
        </p:txBody>
      </p:sp>
      <p:sp>
        <p:nvSpPr>
          <p:cNvPr id="15" name="dsl:shape13"/>
          <p:cNvSpPr/>
          <p:nvPr/>
        </p:nvSpPr>
        <p:spPr>
          <a:xfrm>
            <a:off x="581025" y="2371725"/>
            <a:ext cx="4054506" cy="806481"/>
          </a:xfrm>
          <a:custGeom>
            <a:avLst/>
            <a:gdLst/>
            <a:ahLst/>
            <a:cxnLst/>
            <a:rect l="l" t="t" r="r" b="b"/>
            <a:pathLst>
              <a:path w="4054506" h="806481">
                <a:moveTo>
                  <a:pt x="76201" y="0"/>
                </a:moveTo>
                <a:lnTo>
                  <a:pt x="3978304" y="0"/>
                </a:lnTo>
                <a:cubicBezTo>
                  <a:pt x="4020388" y="0"/>
                  <a:pt x="4054506" y="34118"/>
                  <a:pt x="4054506" y="76203"/>
                </a:cubicBezTo>
                <a:lnTo>
                  <a:pt x="4054506" y="730277"/>
                </a:lnTo>
                <a:cubicBezTo>
                  <a:pt x="4054506" y="772362"/>
                  <a:pt x="4020388" y="806481"/>
                  <a:pt x="3978304" y="806481"/>
                </a:cubicBezTo>
                <a:lnTo>
                  <a:pt x="76201" y="806481"/>
                </a:lnTo>
                <a:cubicBezTo>
                  <a:pt x="34145" y="806481"/>
                  <a:pt x="0" y="772334"/>
                  <a:pt x="0" y="730277"/>
                </a:cubicBezTo>
                <a:lnTo>
                  <a:pt x="0" y="76203"/>
                </a:lnTo>
                <a:cubicBezTo>
                  <a:pt x="0" y="34146"/>
                  <a:pt x="34145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6" name="dsl:shape14"/>
          <p:cNvSpPr/>
          <p:nvPr/>
        </p:nvSpPr>
        <p:spPr>
          <a:xfrm>
            <a:off x="736568" y="2527268"/>
            <a:ext cx="1354455" cy="2222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ext15"/>
          <p:cNvSpPr txBox="1"/>
          <p:nvPr/>
        </p:nvSpPr>
        <p:spPr>
          <a:xfrm>
            <a:off x="645128" y="2481548"/>
            <a:ext cx="1537335" cy="31365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6366F1"/>
                </a:solidFill>
                <a:latin typeface="Liter"/>
                <a:ea typeface="Liter"/>
              </a:rPr>
              <a:t>Universal POS tags</a:t>
            </a:r>
          </a:p>
        </p:txBody>
      </p:sp>
      <p:sp>
        <p:nvSpPr>
          <p:cNvPr id="18" name="dsl:shape16"/>
          <p:cNvSpPr/>
          <p:nvPr/>
        </p:nvSpPr>
        <p:spPr>
          <a:xfrm>
            <a:off x="736568" y="2832068"/>
            <a:ext cx="3810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text17"/>
          <p:cNvSpPr txBox="1"/>
          <p:nvPr/>
        </p:nvSpPr>
        <p:spPr>
          <a:xfrm>
            <a:off x="645128" y="2786348"/>
            <a:ext cx="399288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Как в UD Russian SynTagRus</a:t>
            </a:r>
          </a:p>
        </p:txBody>
      </p:sp>
      <p:sp>
        <p:nvSpPr>
          <p:cNvPr id="20" name="dsl:shape18"/>
          <p:cNvSpPr/>
          <p:nvPr/>
        </p:nvSpPr>
        <p:spPr>
          <a:xfrm>
            <a:off x="577881" y="3333750"/>
            <a:ext cx="523875" cy="304800"/>
          </a:xfrm>
          <a:custGeom>
            <a:avLst/>
            <a:gdLst/>
            <a:ahLst/>
            <a:cxnLst/>
            <a:rect l="l" t="t" r="r" b="b"/>
            <a:pathLst>
              <a:path w="523875" h="304800">
                <a:moveTo>
                  <a:pt x="38100" y="0"/>
                </a:moveTo>
                <a:lnTo>
                  <a:pt x="485775" y="0"/>
                </a:lnTo>
                <a:cubicBezTo>
                  <a:pt x="506803" y="0"/>
                  <a:pt x="523875" y="17072"/>
                  <a:pt x="523875" y="38100"/>
                </a:cubicBezTo>
                <a:lnTo>
                  <a:pt x="523875" y="266700"/>
                </a:lnTo>
                <a:cubicBezTo>
                  <a:pt x="523875" y="287728"/>
                  <a:pt x="506803" y="304800"/>
                  <a:pt x="48577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1" name="dsl:shape19"/>
          <p:cNvSpPr/>
          <p:nvPr/>
        </p:nvSpPr>
        <p:spPr>
          <a:xfrm>
            <a:off x="577881" y="3333750"/>
            <a:ext cx="5905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xt20"/>
          <p:cNvSpPr txBox="1"/>
          <p:nvPr/>
        </p:nvSpPr>
        <p:spPr>
          <a:xfrm>
            <a:off x="600741" y="3345180"/>
            <a:ext cx="54483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MiSans"/>
                <a:ea typeface="MiSans"/>
              </a:rPr>
              <a:t>VERB</a:t>
            </a:r>
          </a:p>
        </p:txBody>
      </p:sp>
      <p:sp>
        <p:nvSpPr>
          <p:cNvPr id="23" name="dsl:shape21"/>
          <p:cNvSpPr/>
          <p:nvPr/>
        </p:nvSpPr>
        <p:spPr>
          <a:xfrm>
            <a:off x="1214056" y="3371850"/>
            <a:ext cx="55245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text22"/>
          <p:cNvSpPr txBox="1"/>
          <p:nvPr/>
        </p:nvSpPr>
        <p:spPr>
          <a:xfrm>
            <a:off x="1122616" y="3326130"/>
            <a:ext cx="73533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Глагол</a:t>
            </a:r>
          </a:p>
        </p:txBody>
      </p:sp>
      <p:sp>
        <p:nvSpPr>
          <p:cNvPr id="25" name="dsl:shape23"/>
          <p:cNvSpPr/>
          <p:nvPr/>
        </p:nvSpPr>
        <p:spPr>
          <a:xfrm>
            <a:off x="577881" y="3714750"/>
            <a:ext cx="523875" cy="304800"/>
          </a:xfrm>
          <a:custGeom>
            <a:avLst/>
            <a:gdLst/>
            <a:ahLst/>
            <a:cxnLst/>
            <a:rect l="l" t="t" r="r" b="b"/>
            <a:pathLst>
              <a:path w="523875" h="304800">
                <a:moveTo>
                  <a:pt x="38100" y="0"/>
                </a:moveTo>
                <a:lnTo>
                  <a:pt x="485775" y="0"/>
                </a:lnTo>
                <a:cubicBezTo>
                  <a:pt x="506803" y="0"/>
                  <a:pt x="523875" y="17072"/>
                  <a:pt x="523875" y="38100"/>
                </a:cubicBezTo>
                <a:lnTo>
                  <a:pt x="523875" y="266700"/>
                </a:lnTo>
                <a:cubicBezTo>
                  <a:pt x="523875" y="287728"/>
                  <a:pt x="506803" y="304800"/>
                  <a:pt x="48577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6" name="dsl:shape24"/>
          <p:cNvSpPr/>
          <p:nvPr/>
        </p:nvSpPr>
        <p:spPr>
          <a:xfrm>
            <a:off x="577881" y="3714750"/>
            <a:ext cx="5905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text25"/>
          <p:cNvSpPr txBox="1"/>
          <p:nvPr/>
        </p:nvSpPr>
        <p:spPr>
          <a:xfrm>
            <a:off x="600741" y="3726180"/>
            <a:ext cx="54483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MiSans"/>
                <a:ea typeface="MiSans"/>
              </a:rPr>
              <a:t>NOUN</a:t>
            </a:r>
          </a:p>
        </p:txBody>
      </p:sp>
      <p:sp>
        <p:nvSpPr>
          <p:cNvPr id="28" name="dsl:shape26"/>
          <p:cNvSpPr/>
          <p:nvPr/>
        </p:nvSpPr>
        <p:spPr>
          <a:xfrm>
            <a:off x="1214056" y="3752850"/>
            <a:ext cx="134302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text27"/>
          <p:cNvSpPr txBox="1"/>
          <p:nvPr/>
        </p:nvSpPr>
        <p:spPr>
          <a:xfrm>
            <a:off x="1122616" y="3707130"/>
            <a:ext cx="1525905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Существительное</a:t>
            </a:r>
          </a:p>
        </p:txBody>
      </p:sp>
      <p:sp>
        <p:nvSpPr>
          <p:cNvPr id="30" name="dsl:shape28"/>
          <p:cNvSpPr/>
          <p:nvPr/>
        </p:nvSpPr>
        <p:spPr>
          <a:xfrm>
            <a:off x="577881" y="4095750"/>
            <a:ext cx="447675" cy="304800"/>
          </a:xfrm>
          <a:custGeom>
            <a:avLst/>
            <a:gdLst/>
            <a:ahLst/>
            <a:cxnLst/>
            <a:rect l="l" t="t" r="r" b="b"/>
            <a:pathLst>
              <a:path w="447675" h="304800">
                <a:moveTo>
                  <a:pt x="38100" y="0"/>
                </a:moveTo>
                <a:lnTo>
                  <a:pt x="409575" y="0"/>
                </a:lnTo>
                <a:cubicBezTo>
                  <a:pt x="430603" y="0"/>
                  <a:pt x="447675" y="17072"/>
                  <a:pt x="447675" y="38100"/>
                </a:cubicBezTo>
                <a:lnTo>
                  <a:pt x="447675" y="266700"/>
                </a:lnTo>
                <a:cubicBezTo>
                  <a:pt x="447675" y="287728"/>
                  <a:pt x="430603" y="304800"/>
                  <a:pt x="40957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31" name="dsl:shape29"/>
          <p:cNvSpPr/>
          <p:nvPr/>
        </p:nvSpPr>
        <p:spPr>
          <a:xfrm>
            <a:off x="577881" y="4095750"/>
            <a:ext cx="5143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text30"/>
          <p:cNvSpPr txBox="1"/>
          <p:nvPr/>
        </p:nvSpPr>
        <p:spPr>
          <a:xfrm>
            <a:off x="600741" y="4107180"/>
            <a:ext cx="46863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MiSans"/>
                <a:ea typeface="MiSans"/>
              </a:rPr>
              <a:t>ADP</a:t>
            </a:r>
          </a:p>
        </p:txBody>
      </p:sp>
      <p:sp>
        <p:nvSpPr>
          <p:cNvPr id="33" name="dsl:shape31"/>
          <p:cNvSpPr/>
          <p:nvPr/>
        </p:nvSpPr>
        <p:spPr>
          <a:xfrm>
            <a:off x="1140714" y="4133850"/>
            <a:ext cx="685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text32"/>
          <p:cNvSpPr txBox="1"/>
          <p:nvPr/>
        </p:nvSpPr>
        <p:spPr>
          <a:xfrm>
            <a:off x="1049274" y="4088130"/>
            <a:ext cx="8686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Предлог</a:t>
            </a:r>
          </a:p>
        </p:txBody>
      </p:sp>
      <p:sp>
        <p:nvSpPr>
          <p:cNvPr id="35" name="dsl:shape33"/>
          <p:cNvSpPr/>
          <p:nvPr/>
        </p:nvSpPr>
        <p:spPr>
          <a:xfrm>
            <a:off x="384143" y="5934075"/>
            <a:ext cx="4454556" cy="539781"/>
          </a:xfrm>
          <a:custGeom>
            <a:avLst/>
            <a:gdLst/>
            <a:ahLst/>
            <a:cxnLst/>
            <a:rect l="l" t="t" r="r" b="b"/>
            <a:pathLst>
              <a:path w="4454556" h="539781">
                <a:moveTo>
                  <a:pt x="114297" y="0"/>
                </a:moveTo>
                <a:lnTo>
                  <a:pt x="4340258" y="0"/>
                </a:lnTo>
                <a:cubicBezTo>
                  <a:pt x="4403382" y="0"/>
                  <a:pt x="4454556" y="51175"/>
                  <a:pt x="4454556" y="114303"/>
                </a:cubicBezTo>
                <a:lnTo>
                  <a:pt x="4454556" y="425477"/>
                </a:lnTo>
                <a:cubicBezTo>
                  <a:pt x="4454556" y="488605"/>
                  <a:pt x="4403382" y="539781"/>
                  <a:pt x="4340258" y="539781"/>
                </a:cubicBezTo>
                <a:lnTo>
                  <a:pt x="114297" y="539781"/>
                </a:lnTo>
                <a:cubicBezTo>
                  <a:pt x="51173" y="539781"/>
                  <a:pt x="0" y="488605"/>
                  <a:pt x="0" y="425477"/>
                </a:cubicBezTo>
                <a:lnTo>
                  <a:pt x="0" y="114303"/>
                </a:lnTo>
                <a:cubicBezTo>
                  <a:pt x="0" y="51217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36" name="dsl:shape34"/>
          <p:cNvSpPr/>
          <p:nvPr/>
        </p:nvSpPr>
        <p:spPr>
          <a:xfrm>
            <a:off x="587406" y="610866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37" name="dsl:shape35"/>
          <p:cNvSpPr/>
          <p:nvPr/>
        </p:nvSpPr>
        <p:spPr>
          <a:xfrm>
            <a:off x="892206" y="6089618"/>
            <a:ext cx="13335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sl:text36"/>
          <p:cNvSpPr txBox="1"/>
          <p:nvPr/>
        </p:nvSpPr>
        <p:spPr>
          <a:xfrm>
            <a:off x="800766" y="6043898"/>
            <a:ext cx="15163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6366F1"/>
                </a:solidFill>
                <a:latin typeface="Liter"/>
                <a:ea typeface="Liter"/>
              </a:rPr>
              <a:t>Формат:</a:t>
            </a: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 CoNLL-U</a:t>
            </a:r>
          </a:p>
        </p:txBody>
      </p:sp>
      <p:sp>
        <p:nvSpPr>
          <p:cNvPr id="39" name="dsl:shape37"/>
          <p:cNvSpPr/>
          <p:nvPr/>
        </p:nvSpPr>
        <p:spPr>
          <a:xfrm>
            <a:off x="5032343" y="1755743"/>
            <a:ext cx="6778656" cy="4721256"/>
          </a:xfrm>
          <a:custGeom>
            <a:avLst/>
            <a:gdLst/>
            <a:ahLst/>
            <a:cxnLst/>
            <a:rect l="l" t="t" r="r" b="b"/>
            <a:pathLst>
              <a:path w="6778656" h="4721256">
                <a:moveTo>
                  <a:pt x="114301" y="0"/>
                </a:moveTo>
                <a:lnTo>
                  <a:pt x="6664354" y="0"/>
                </a:lnTo>
                <a:cubicBezTo>
                  <a:pt x="6727481" y="0"/>
                  <a:pt x="6778655" y="51174"/>
                  <a:pt x="6778655" y="114301"/>
                </a:cubicBezTo>
                <a:lnTo>
                  <a:pt x="6778655" y="4606954"/>
                </a:lnTo>
                <a:cubicBezTo>
                  <a:pt x="6778655" y="4670081"/>
                  <a:pt x="6727481" y="4721256"/>
                  <a:pt x="6664354" y="4721256"/>
                </a:cubicBezTo>
                <a:lnTo>
                  <a:pt x="114301" y="4721256"/>
                </a:lnTo>
                <a:cubicBezTo>
                  <a:pt x="51174" y="4721256"/>
                  <a:pt x="0" y="4670081"/>
                  <a:pt x="0" y="46069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40" name="dsl:shape38"/>
          <p:cNvSpPr/>
          <p:nvPr/>
        </p:nvSpPr>
        <p:spPr>
          <a:xfrm>
            <a:off x="5261800" y="1987581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7" h="190500">
                <a:moveTo>
                  <a:pt x="95249" y="59531"/>
                </a:moveTo>
                <a:lnTo>
                  <a:pt x="95249" y="95250"/>
                </a:lnTo>
                <a:lnTo>
                  <a:pt x="142874" y="95250"/>
                </a:lnTo>
                <a:lnTo>
                  <a:pt x="142874" y="59531"/>
                </a:lnTo>
                <a:lnTo>
                  <a:pt x="95249" y="59531"/>
                </a:lnTo>
                <a:close/>
                <a:moveTo>
                  <a:pt x="71437" y="59531"/>
                </a:moveTo>
                <a:lnTo>
                  <a:pt x="23811" y="59531"/>
                </a:lnTo>
                <a:lnTo>
                  <a:pt x="23811" y="95250"/>
                </a:lnTo>
                <a:lnTo>
                  <a:pt x="71437" y="95250"/>
                </a:lnTo>
                <a:lnTo>
                  <a:pt x="71437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7" y="11906"/>
                  <a:pt x="23811" y="11906"/>
                </a:cubicBezTo>
                <a:lnTo>
                  <a:pt x="142874" y="11906"/>
                </a:lnTo>
                <a:cubicBezTo>
                  <a:pt x="156008" y="11906"/>
                  <a:pt x="166687" y="22585"/>
                  <a:pt x="166687" y="35719"/>
                </a:cubicBezTo>
                <a:lnTo>
                  <a:pt x="166687" y="154781"/>
                </a:lnTo>
                <a:cubicBezTo>
                  <a:pt x="166687" y="167915"/>
                  <a:pt x="156008" y="178594"/>
                  <a:pt x="142874" y="178594"/>
                </a:cubicBezTo>
                <a:lnTo>
                  <a:pt x="23811" y="178594"/>
                </a:lnTo>
                <a:cubicBezTo>
                  <a:pt x="10677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4" y="119063"/>
                </a:moveTo>
                <a:lnTo>
                  <a:pt x="95249" y="119063"/>
                </a:lnTo>
                <a:lnTo>
                  <a:pt x="95249" y="154781"/>
                </a:lnTo>
                <a:lnTo>
                  <a:pt x="142874" y="154781"/>
                </a:lnTo>
                <a:lnTo>
                  <a:pt x="142874" y="119063"/>
                </a:lnTo>
                <a:close/>
                <a:moveTo>
                  <a:pt x="71437" y="154781"/>
                </a:moveTo>
                <a:lnTo>
                  <a:pt x="71437" y="119063"/>
                </a:lnTo>
                <a:lnTo>
                  <a:pt x="23811" y="119063"/>
                </a:lnTo>
                <a:lnTo>
                  <a:pt x="23811" y="154781"/>
                </a:lnTo>
                <a:lnTo>
                  <a:pt x="71437" y="15478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41" name="dsl:shape39"/>
          <p:cNvSpPr/>
          <p:nvPr/>
        </p:nvSpPr>
        <p:spPr>
          <a:xfrm>
            <a:off x="5464206" y="1949481"/>
            <a:ext cx="6248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sl:text40"/>
          <p:cNvSpPr txBox="1"/>
          <p:nvPr/>
        </p:nvSpPr>
        <p:spPr>
          <a:xfrm>
            <a:off x="5372766" y="1903761"/>
            <a:ext cx="643128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Пример разметки</a:t>
            </a:r>
          </a:p>
        </p:txBody>
      </p:sp>
      <p:graphicFrame>
        <p:nvGraphicFramePr>
          <p:cNvPr id="43" name="dsl:table41"/>
          <p:cNvGraphicFramePr>
            <a:graphicFrameLocks noGrp="1"/>
          </p:cNvGraphicFramePr>
          <p:nvPr/>
        </p:nvGraphicFramePr>
        <p:xfrm>
          <a:off x="5226081" y="2368581"/>
          <a:ext cx="6391273" cy="2124075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211785"/>
                <a:gridCol w="848761"/>
                <a:gridCol w="743944"/>
                <a:gridCol w="3586783"/>
              </a:tblGrid>
              <a:tr h="4248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token_id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form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POS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Feats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4248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utt_001_t01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Включи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VERB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Mood=Imp|Number=Sing|Person=2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8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utt_001_t02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свет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NOUN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Animacy=Inan|Case=Acc|Gender=Masc|Number=Sing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8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utt_001_t03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в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ADP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-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8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utt_001_t04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спальне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NOUN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00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Animacy=Inan|Case=Loc|Gender=Fem|Number=Sing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dsl:shape42"/>
          <p:cNvSpPr/>
          <p:nvPr/>
        </p:nvSpPr>
        <p:spPr>
          <a:xfrm>
            <a:off x="5229225" y="4924425"/>
            <a:ext cx="3130581" cy="615981"/>
          </a:xfrm>
          <a:custGeom>
            <a:avLst/>
            <a:gdLst/>
            <a:ahLst/>
            <a:cxnLst/>
            <a:rect l="l" t="t" r="r" b="b"/>
            <a:pathLst>
              <a:path w="3130581" h="615981">
                <a:moveTo>
                  <a:pt x="76199" y="0"/>
                </a:moveTo>
                <a:lnTo>
                  <a:pt x="3054381" y="0"/>
                </a:lnTo>
                <a:cubicBezTo>
                  <a:pt x="3096464" y="0"/>
                  <a:pt x="3130581" y="34117"/>
                  <a:pt x="3130581" y="76202"/>
                </a:cubicBezTo>
                <a:lnTo>
                  <a:pt x="3130581" y="539778"/>
                </a:lnTo>
                <a:cubicBezTo>
                  <a:pt x="3130581" y="581835"/>
                  <a:pt x="3096436" y="615981"/>
                  <a:pt x="3054381" y="615981"/>
                </a:cubicBezTo>
                <a:lnTo>
                  <a:pt x="76199" y="615981"/>
                </a:lnTo>
                <a:cubicBezTo>
                  <a:pt x="34116" y="615981"/>
                  <a:pt x="0" y="581863"/>
                  <a:pt x="0" y="539778"/>
                </a:cubicBezTo>
                <a:lnTo>
                  <a:pt x="0" y="76202"/>
                </a:lnTo>
                <a:cubicBezTo>
                  <a:pt x="0" y="34145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45" name="dsl:shape43"/>
          <p:cNvSpPr/>
          <p:nvPr/>
        </p:nvSpPr>
        <p:spPr>
          <a:xfrm>
            <a:off x="5346668" y="5041868"/>
            <a:ext cx="29622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sl:text44"/>
          <p:cNvSpPr txBox="1"/>
          <p:nvPr/>
        </p:nvSpPr>
        <p:spPr>
          <a:xfrm>
            <a:off x="5255228" y="4996148"/>
            <a:ext cx="314515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6366F1"/>
                </a:solidFill>
                <a:latin typeface="Liter"/>
                <a:ea typeface="Liter"/>
              </a:rPr>
              <a:t>Mood=Imp</a:t>
            </a:r>
          </a:p>
        </p:txBody>
      </p:sp>
      <p:sp>
        <p:nvSpPr>
          <p:cNvPr id="47" name="dsl:shape45"/>
          <p:cNvSpPr/>
          <p:nvPr/>
        </p:nvSpPr>
        <p:spPr>
          <a:xfrm>
            <a:off x="5346668" y="5270468"/>
            <a:ext cx="295275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sl:text46"/>
          <p:cNvSpPr txBox="1"/>
          <p:nvPr/>
        </p:nvSpPr>
        <p:spPr>
          <a:xfrm>
            <a:off x="5255228" y="5224748"/>
            <a:ext cx="3135630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Liter"/>
                <a:ea typeface="Liter"/>
              </a:rPr>
              <a:t>Повелительное наклонение</a:t>
            </a:r>
          </a:p>
        </p:txBody>
      </p:sp>
      <p:sp>
        <p:nvSpPr>
          <p:cNvPr id="49" name="dsl:shape47"/>
          <p:cNvSpPr/>
          <p:nvPr/>
        </p:nvSpPr>
        <p:spPr>
          <a:xfrm>
            <a:off x="8480393" y="4924425"/>
            <a:ext cx="3130581" cy="615981"/>
          </a:xfrm>
          <a:custGeom>
            <a:avLst/>
            <a:gdLst/>
            <a:ahLst/>
            <a:cxnLst/>
            <a:rect l="l" t="t" r="r" b="b"/>
            <a:pathLst>
              <a:path w="3130581" h="615981">
                <a:moveTo>
                  <a:pt x="76199" y="0"/>
                </a:moveTo>
                <a:lnTo>
                  <a:pt x="3054381" y="0"/>
                </a:lnTo>
                <a:cubicBezTo>
                  <a:pt x="3096464" y="0"/>
                  <a:pt x="3130581" y="34117"/>
                  <a:pt x="3130581" y="76202"/>
                </a:cubicBezTo>
                <a:lnTo>
                  <a:pt x="3130581" y="539778"/>
                </a:lnTo>
                <a:cubicBezTo>
                  <a:pt x="3130581" y="581835"/>
                  <a:pt x="3096436" y="615981"/>
                  <a:pt x="3054381" y="615981"/>
                </a:cubicBezTo>
                <a:lnTo>
                  <a:pt x="76199" y="615981"/>
                </a:lnTo>
                <a:cubicBezTo>
                  <a:pt x="34116" y="615981"/>
                  <a:pt x="0" y="581863"/>
                  <a:pt x="0" y="539778"/>
                </a:cubicBezTo>
                <a:lnTo>
                  <a:pt x="0" y="76202"/>
                </a:lnTo>
                <a:cubicBezTo>
                  <a:pt x="0" y="34145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50" name="dsl:shape48"/>
          <p:cNvSpPr/>
          <p:nvPr/>
        </p:nvSpPr>
        <p:spPr>
          <a:xfrm>
            <a:off x="8597931" y="5041868"/>
            <a:ext cx="29622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sl:text49"/>
          <p:cNvSpPr txBox="1"/>
          <p:nvPr/>
        </p:nvSpPr>
        <p:spPr>
          <a:xfrm>
            <a:off x="8506491" y="4996148"/>
            <a:ext cx="314515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6366F1"/>
                </a:solidFill>
                <a:latin typeface="Liter"/>
                <a:ea typeface="Liter"/>
              </a:rPr>
              <a:t>Case=Acc</a:t>
            </a:r>
          </a:p>
        </p:txBody>
      </p:sp>
      <p:sp>
        <p:nvSpPr>
          <p:cNvPr id="52" name="dsl:shape50"/>
          <p:cNvSpPr/>
          <p:nvPr/>
        </p:nvSpPr>
        <p:spPr>
          <a:xfrm>
            <a:off x="8597931" y="5270468"/>
            <a:ext cx="295275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sl:text51"/>
          <p:cNvSpPr txBox="1"/>
          <p:nvPr/>
        </p:nvSpPr>
        <p:spPr>
          <a:xfrm>
            <a:off x="8506491" y="5224748"/>
            <a:ext cx="3135630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Liter"/>
                <a:ea typeface="Liter"/>
              </a:rPr>
              <a:t>Винительный падеж</a:t>
            </a:r>
          </a:p>
        </p:txBody>
      </p:sp>
      <p:sp>
        <p:nvSpPr>
          <p:cNvPr id="54" name="dsl:shape52"/>
          <p:cNvSpPr/>
          <p:nvPr/>
        </p:nvSpPr>
        <p:spPr>
          <a:xfrm>
            <a:off x="5229225" y="5660993"/>
            <a:ext cx="3130581" cy="615981"/>
          </a:xfrm>
          <a:custGeom>
            <a:avLst/>
            <a:gdLst/>
            <a:ahLst/>
            <a:cxnLst/>
            <a:rect l="l" t="t" r="r" b="b"/>
            <a:pathLst>
              <a:path w="3130581" h="615981">
                <a:moveTo>
                  <a:pt x="76199" y="0"/>
                </a:moveTo>
                <a:lnTo>
                  <a:pt x="3054381" y="0"/>
                </a:lnTo>
                <a:cubicBezTo>
                  <a:pt x="3096464" y="0"/>
                  <a:pt x="3130581" y="34117"/>
                  <a:pt x="3130581" y="76202"/>
                </a:cubicBezTo>
                <a:lnTo>
                  <a:pt x="3130581" y="539778"/>
                </a:lnTo>
                <a:cubicBezTo>
                  <a:pt x="3130581" y="581835"/>
                  <a:pt x="3096436" y="615981"/>
                  <a:pt x="3054381" y="615981"/>
                </a:cubicBezTo>
                <a:lnTo>
                  <a:pt x="76199" y="615981"/>
                </a:lnTo>
                <a:cubicBezTo>
                  <a:pt x="34116" y="615981"/>
                  <a:pt x="0" y="581863"/>
                  <a:pt x="0" y="539778"/>
                </a:cubicBezTo>
                <a:lnTo>
                  <a:pt x="0" y="76202"/>
                </a:lnTo>
                <a:cubicBezTo>
                  <a:pt x="0" y="34145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55" name="dsl:shape53"/>
          <p:cNvSpPr/>
          <p:nvPr/>
        </p:nvSpPr>
        <p:spPr>
          <a:xfrm>
            <a:off x="5346668" y="5778531"/>
            <a:ext cx="29622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sl:text54"/>
          <p:cNvSpPr txBox="1"/>
          <p:nvPr/>
        </p:nvSpPr>
        <p:spPr>
          <a:xfrm>
            <a:off x="5255228" y="5732811"/>
            <a:ext cx="314515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6366F1"/>
                </a:solidFill>
                <a:latin typeface="Liter"/>
                <a:ea typeface="Liter"/>
              </a:rPr>
              <a:t>Case=Loc</a:t>
            </a:r>
          </a:p>
        </p:txBody>
      </p:sp>
      <p:sp>
        <p:nvSpPr>
          <p:cNvPr id="57" name="dsl:shape55"/>
          <p:cNvSpPr/>
          <p:nvPr/>
        </p:nvSpPr>
        <p:spPr>
          <a:xfrm>
            <a:off x="5346668" y="6007131"/>
            <a:ext cx="295275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sl:text56"/>
          <p:cNvSpPr txBox="1"/>
          <p:nvPr/>
        </p:nvSpPr>
        <p:spPr>
          <a:xfrm>
            <a:off x="5255228" y="5961411"/>
            <a:ext cx="3135630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Liter"/>
                <a:ea typeface="Liter"/>
              </a:rPr>
              <a:t>Предложный падеж</a:t>
            </a:r>
          </a:p>
        </p:txBody>
      </p:sp>
      <p:sp>
        <p:nvSpPr>
          <p:cNvPr id="59" name="dsl:shape57"/>
          <p:cNvSpPr/>
          <p:nvPr/>
        </p:nvSpPr>
        <p:spPr>
          <a:xfrm>
            <a:off x="8480393" y="5660993"/>
            <a:ext cx="3130581" cy="615981"/>
          </a:xfrm>
          <a:custGeom>
            <a:avLst/>
            <a:gdLst/>
            <a:ahLst/>
            <a:cxnLst/>
            <a:rect l="l" t="t" r="r" b="b"/>
            <a:pathLst>
              <a:path w="3130581" h="615981">
                <a:moveTo>
                  <a:pt x="76199" y="0"/>
                </a:moveTo>
                <a:lnTo>
                  <a:pt x="3054381" y="0"/>
                </a:lnTo>
                <a:cubicBezTo>
                  <a:pt x="3096464" y="0"/>
                  <a:pt x="3130581" y="34117"/>
                  <a:pt x="3130581" y="76202"/>
                </a:cubicBezTo>
                <a:lnTo>
                  <a:pt x="3130581" y="539778"/>
                </a:lnTo>
                <a:cubicBezTo>
                  <a:pt x="3130581" y="581835"/>
                  <a:pt x="3096436" y="615981"/>
                  <a:pt x="3054381" y="615981"/>
                </a:cubicBezTo>
                <a:lnTo>
                  <a:pt x="76199" y="615981"/>
                </a:lnTo>
                <a:cubicBezTo>
                  <a:pt x="34116" y="615981"/>
                  <a:pt x="0" y="581863"/>
                  <a:pt x="0" y="539778"/>
                </a:cubicBezTo>
                <a:lnTo>
                  <a:pt x="0" y="76202"/>
                </a:lnTo>
                <a:cubicBezTo>
                  <a:pt x="0" y="34145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60" name="dsl:shape58"/>
          <p:cNvSpPr/>
          <p:nvPr/>
        </p:nvSpPr>
        <p:spPr>
          <a:xfrm>
            <a:off x="8597931" y="5778531"/>
            <a:ext cx="29622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sl:text59"/>
          <p:cNvSpPr txBox="1"/>
          <p:nvPr/>
        </p:nvSpPr>
        <p:spPr>
          <a:xfrm>
            <a:off x="8506491" y="5732811"/>
            <a:ext cx="314515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6366F1"/>
                </a:solidFill>
                <a:latin typeface="Liter"/>
                <a:ea typeface="Liter"/>
              </a:rPr>
              <a:t>Number=Sing</a:t>
            </a:r>
          </a:p>
        </p:txBody>
      </p:sp>
      <p:sp>
        <p:nvSpPr>
          <p:cNvPr id="62" name="dsl:shape60"/>
          <p:cNvSpPr/>
          <p:nvPr/>
        </p:nvSpPr>
        <p:spPr>
          <a:xfrm>
            <a:off x="8597931" y="6007131"/>
            <a:ext cx="295275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sl:text61"/>
          <p:cNvSpPr txBox="1"/>
          <p:nvPr/>
        </p:nvSpPr>
        <p:spPr>
          <a:xfrm>
            <a:off x="8506491" y="5961411"/>
            <a:ext cx="3135630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Liter"/>
                <a:ea typeface="Liter"/>
              </a:rPr>
              <a:t>Единственное число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3" name="dsl:shape1"/>
          <p:cNvSpPr/>
          <p:nvPr/>
        </p:nvSpPr>
        <p:spPr>
          <a:xfrm>
            <a:off x="521017" y="438150"/>
            <a:ext cx="1905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ext2"/>
          <p:cNvSpPr txBox="1"/>
          <p:nvPr/>
        </p:nvSpPr>
        <p:spPr>
          <a:xfrm>
            <a:off x="429577" y="392430"/>
            <a:ext cx="37338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350" noProof="1">
                <a:solidFill>
                  <a:srgbClr val="6366F1"/>
                </a:solidFill>
                <a:latin typeface="Liter"/>
                <a:ea typeface="Liter"/>
              </a:rPr>
              <a:t>4</a:t>
            </a:r>
          </a:p>
        </p:txBody>
      </p:sp>
      <p:sp>
        <p:nvSpPr>
          <p:cNvPr id="5" name="dsl:shape3"/>
          <p:cNvSpPr/>
          <p:nvPr/>
        </p:nvSpPr>
        <p:spPr>
          <a:xfrm>
            <a:off x="876300" y="457200"/>
            <a:ext cx="9525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ext4"/>
          <p:cNvSpPr txBox="1"/>
          <p:nvPr/>
        </p:nvSpPr>
        <p:spPr>
          <a:xfrm>
            <a:off x="784860" y="411480"/>
            <a:ext cx="11353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 spc="60">
                <a:solidFill>
                  <a:srgbClr val="6366F1"/>
                </a:solidFill>
                <a:latin typeface="Liter"/>
                <a:ea typeface="Liter"/>
              </a:rPr>
              <a:t>Уровень 4</a:t>
            </a:r>
          </a:p>
        </p:txBody>
      </p:sp>
      <p:sp>
        <p:nvSpPr>
          <p:cNvPr id="7" name="dsl:shape5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text6"/>
          <p:cNvSpPr txBox="1"/>
          <p:nvPr/>
        </p:nvSpPr>
        <p:spPr>
          <a:xfrm>
            <a:off x="289560" y="830580"/>
            <a:ext cx="11784330" cy="472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b="1" sz="2700" noProof="1">
                <a:solidFill>
                  <a:srgbClr val="EFEFEF"/>
                </a:solidFill>
                <a:latin typeface="Liter"/>
                <a:ea typeface="Liter"/>
              </a:rPr>
              <a:t>Синтаксический уровень</a:t>
            </a:r>
          </a:p>
        </p:txBody>
      </p:sp>
      <p:sp>
        <p:nvSpPr>
          <p:cNvPr id="9" name="dsl:shape7"/>
          <p:cNvSpPr/>
          <p:nvPr/>
        </p:nvSpPr>
        <p:spPr>
          <a:xfrm>
            <a:off x="381000" y="1333500"/>
            <a:ext cx="115157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ext8"/>
          <p:cNvSpPr txBox="1"/>
          <p:nvPr/>
        </p:nvSpPr>
        <p:spPr>
          <a:xfrm>
            <a:off x="289560" y="1287780"/>
            <a:ext cx="1169860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noProof="1">
                <a:solidFill>
                  <a:srgbClr val="8F8F8F"/>
                </a:solidFill>
                <a:latin typeface="Liter"/>
                <a:ea typeface="Liter"/>
              </a:rPr>
              <a:t>Дерево зависимостей</a:t>
            </a:r>
          </a:p>
        </p:txBody>
      </p:sp>
      <p:sp>
        <p:nvSpPr>
          <p:cNvPr id="11" name="dsl:shape9"/>
          <p:cNvSpPr/>
          <p:nvPr/>
        </p:nvSpPr>
        <p:spPr>
          <a:xfrm>
            <a:off x="384143" y="1755743"/>
            <a:ext cx="5616606" cy="4016406"/>
          </a:xfrm>
          <a:custGeom>
            <a:avLst/>
            <a:gdLst/>
            <a:ahLst/>
            <a:cxnLst/>
            <a:rect l="l" t="t" r="r" b="b"/>
            <a:pathLst>
              <a:path w="5616606" h="4016406">
                <a:moveTo>
                  <a:pt x="114306" y="0"/>
                </a:moveTo>
                <a:lnTo>
                  <a:pt x="5502299" y="0"/>
                </a:lnTo>
                <a:cubicBezTo>
                  <a:pt x="5565428" y="0"/>
                  <a:pt x="5616606" y="51177"/>
                  <a:pt x="5616606" y="114306"/>
                </a:cubicBezTo>
                <a:lnTo>
                  <a:pt x="5616606" y="3902099"/>
                </a:lnTo>
                <a:cubicBezTo>
                  <a:pt x="5616606" y="3965228"/>
                  <a:pt x="5565428" y="4016406"/>
                  <a:pt x="5502299" y="4016406"/>
                </a:cubicBezTo>
                <a:lnTo>
                  <a:pt x="114306" y="4016406"/>
                </a:lnTo>
                <a:cubicBezTo>
                  <a:pt x="51177" y="4016406"/>
                  <a:pt x="0" y="3965228"/>
                  <a:pt x="0" y="390209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2" name="dsl:shape10"/>
          <p:cNvSpPr/>
          <p:nvPr/>
        </p:nvSpPr>
        <p:spPr>
          <a:xfrm>
            <a:off x="601694" y="19875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3" name="dsl:shape11"/>
          <p:cNvSpPr/>
          <p:nvPr/>
        </p:nvSpPr>
        <p:spPr>
          <a:xfrm>
            <a:off x="816006" y="1949481"/>
            <a:ext cx="5086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xt12"/>
          <p:cNvSpPr txBox="1"/>
          <p:nvPr/>
        </p:nvSpPr>
        <p:spPr>
          <a:xfrm>
            <a:off x="724566" y="1903761"/>
            <a:ext cx="526923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Структура зависимостей</a:t>
            </a:r>
          </a:p>
        </p:txBody>
      </p:sp>
      <p:sp>
        <p:nvSpPr>
          <p:cNvPr id="15" name="dsl:shape13"/>
          <p:cNvSpPr/>
          <p:nvPr/>
        </p:nvSpPr>
        <p:spPr>
          <a:xfrm>
            <a:off x="581025" y="2371725"/>
            <a:ext cx="5216556" cy="2806731"/>
          </a:xfrm>
          <a:custGeom>
            <a:avLst/>
            <a:gdLst/>
            <a:ahLst/>
            <a:cxnLst/>
            <a:rect l="l" t="t" r="r" b="b"/>
            <a:pathLst>
              <a:path w="5216556" h="2806731">
                <a:moveTo>
                  <a:pt x="76202" y="0"/>
                </a:moveTo>
                <a:lnTo>
                  <a:pt x="5140353" y="0"/>
                </a:lnTo>
                <a:cubicBezTo>
                  <a:pt x="5182438" y="0"/>
                  <a:pt x="5216556" y="34117"/>
                  <a:pt x="5216556" y="76202"/>
                </a:cubicBezTo>
                <a:lnTo>
                  <a:pt x="5216556" y="2730528"/>
                </a:lnTo>
                <a:cubicBezTo>
                  <a:pt x="5216556" y="2772613"/>
                  <a:pt x="5182438" y="2806730"/>
                  <a:pt x="5140353" y="2806730"/>
                </a:cubicBezTo>
                <a:lnTo>
                  <a:pt x="76202" y="2806730"/>
                </a:lnTo>
                <a:cubicBezTo>
                  <a:pt x="34117" y="2806730"/>
                  <a:pt x="0" y="2772613"/>
                  <a:pt x="0" y="273052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6" name="dsl:shape14"/>
          <p:cNvSpPr/>
          <p:nvPr/>
        </p:nvSpPr>
        <p:spPr>
          <a:xfrm>
            <a:off x="762000" y="2554319"/>
            <a:ext cx="4829175" cy="2419350"/>
          </a:xfrm>
          <a:prstGeom prst="roundRect">
            <a:avLst>
              <a:gd name="adj" fmla="val 0"/>
            </a:avLst>
          </a:prstGeom>
          <a:solidFill>
            <a:srgbClr val="DC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hape15"/>
          <p:cNvSpPr/>
          <p:nvPr/>
        </p:nvSpPr>
        <p:spPr>
          <a:xfrm>
            <a:off x="384143" y="5934075"/>
            <a:ext cx="5616606" cy="539781"/>
          </a:xfrm>
          <a:custGeom>
            <a:avLst/>
            <a:gdLst/>
            <a:ahLst/>
            <a:cxnLst/>
            <a:rect l="l" t="t" r="r" b="b"/>
            <a:pathLst>
              <a:path w="5616606" h="539781">
                <a:moveTo>
                  <a:pt x="114297" y="0"/>
                </a:moveTo>
                <a:lnTo>
                  <a:pt x="5502308" y="0"/>
                </a:lnTo>
                <a:cubicBezTo>
                  <a:pt x="5565432" y="0"/>
                  <a:pt x="5616606" y="51175"/>
                  <a:pt x="5616606" y="114303"/>
                </a:cubicBezTo>
                <a:lnTo>
                  <a:pt x="5616606" y="425477"/>
                </a:lnTo>
                <a:cubicBezTo>
                  <a:pt x="5616606" y="488605"/>
                  <a:pt x="5565432" y="539781"/>
                  <a:pt x="5502308" y="539781"/>
                </a:cubicBezTo>
                <a:lnTo>
                  <a:pt x="114297" y="539781"/>
                </a:lnTo>
                <a:cubicBezTo>
                  <a:pt x="51173" y="539781"/>
                  <a:pt x="0" y="488605"/>
                  <a:pt x="0" y="425477"/>
                </a:cubicBezTo>
                <a:lnTo>
                  <a:pt x="0" y="114303"/>
                </a:lnTo>
                <a:cubicBezTo>
                  <a:pt x="0" y="51217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8" name="dsl:shape16"/>
          <p:cNvSpPr/>
          <p:nvPr/>
        </p:nvSpPr>
        <p:spPr>
          <a:xfrm>
            <a:off x="551688" y="6108668"/>
            <a:ext cx="214312" cy="190500"/>
          </a:xfrm>
          <a:custGeom>
            <a:avLst/>
            <a:gdLst/>
            <a:ahLst/>
            <a:cxnLst/>
            <a:rect l="l" t="t" r="r" b="b"/>
            <a:pathLst>
              <a:path w="214312" h="190500">
                <a:moveTo>
                  <a:pt x="107155" y="11906"/>
                </a:moveTo>
                <a:cubicBezTo>
                  <a:pt x="77092" y="11906"/>
                  <a:pt x="53019" y="25598"/>
                  <a:pt x="35495" y="41895"/>
                </a:cubicBezTo>
                <a:cubicBezTo>
                  <a:pt x="18082" y="58080"/>
                  <a:pt x="6436" y="77391"/>
                  <a:pt x="892" y="90674"/>
                </a:cubicBezTo>
                <a:cubicBezTo>
                  <a:pt x="-334" y="93613"/>
                  <a:pt x="-334" y="96887"/>
                  <a:pt x="892" y="99826"/>
                </a:cubicBezTo>
                <a:cubicBezTo>
                  <a:pt x="6436" y="113109"/>
                  <a:pt x="18082" y="132457"/>
                  <a:pt x="35495" y="148605"/>
                </a:cubicBezTo>
                <a:cubicBezTo>
                  <a:pt x="53019" y="164864"/>
                  <a:pt x="77092" y="178594"/>
                  <a:pt x="107155" y="178594"/>
                </a:cubicBezTo>
                <a:cubicBezTo>
                  <a:pt x="137219" y="178594"/>
                  <a:pt x="161291" y="164902"/>
                  <a:pt x="178816" y="148605"/>
                </a:cubicBezTo>
                <a:cubicBezTo>
                  <a:pt x="196229" y="132420"/>
                  <a:pt x="207875" y="113109"/>
                  <a:pt x="213419" y="99826"/>
                </a:cubicBezTo>
                <a:cubicBezTo>
                  <a:pt x="214645" y="96887"/>
                  <a:pt x="214645" y="93613"/>
                  <a:pt x="213419" y="90674"/>
                </a:cubicBezTo>
                <a:cubicBezTo>
                  <a:pt x="207875" y="77391"/>
                  <a:pt x="196229" y="58043"/>
                  <a:pt x="178816" y="41895"/>
                </a:cubicBezTo>
                <a:cubicBezTo>
                  <a:pt x="161291" y="25636"/>
                  <a:pt x="137219" y="11906"/>
                  <a:pt x="107155" y="11906"/>
                </a:cubicBezTo>
                <a:close/>
                <a:moveTo>
                  <a:pt x="53577" y="95250"/>
                </a:moveTo>
                <a:cubicBezTo>
                  <a:pt x="53577" y="65679"/>
                  <a:pt x="77585" y="41672"/>
                  <a:pt x="107155" y="41672"/>
                </a:cubicBezTo>
                <a:cubicBezTo>
                  <a:pt x="136726" y="41672"/>
                  <a:pt x="160733" y="65679"/>
                  <a:pt x="160733" y="95250"/>
                </a:cubicBezTo>
                <a:cubicBezTo>
                  <a:pt x="160733" y="124821"/>
                  <a:pt x="136726" y="148828"/>
                  <a:pt x="107155" y="148828"/>
                </a:cubicBezTo>
                <a:cubicBezTo>
                  <a:pt x="77585" y="148828"/>
                  <a:pt x="53577" y="124821"/>
                  <a:pt x="53577" y="95250"/>
                </a:cubicBezTo>
                <a:close/>
                <a:moveTo>
                  <a:pt x="107155" y="71438"/>
                </a:moveTo>
                <a:cubicBezTo>
                  <a:pt x="107155" y="84572"/>
                  <a:pt x="96477" y="95250"/>
                  <a:pt x="83343" y="95250"/>
                </a:cubicBezTo>
                <a:cubicBezTo>
                  <a:pt x="79064" y="95250"/>
                  <a:pt x="75046" y="94134"/>
                  <a:pt x="71548" y="92125"/>
                </a:cubicBezTo>
                <a:cubicBezTo>
                  <a:pt x="71176" y="96180"/>
                  <a:pt x="71511" y="100347"/>
                  <a:pt x="72627" y="104477"/>
                </a:cubicBezTo>
                <a:cubicBezTo>
                  <a:pt x="77724" y="123527"/>
                  <a:pt x="97333" y="134838"/>
                  <a:pt x="116383" y="129741"/>
                </a:cubicBezTo>
                <a:cubicBezTo>
                  <a:pt x="135433" y="124644"/>
                  <a:pt x="146744" y="105035"/>
                  <a:pt x="141646" y="85985"/>
                </a:cubicBezTo>
                <a:cubicBezTo>
                  <a:pt x="137107" y="68982"/>
                  <a:pt x="120996" y="58155"/>
                  <a:pt x="104030" y="59643"/>
                </a:cubicBezTo>
                <a:cubicBezTo>
                  <a:pt x="106002" y="63103"/>
                  <a:pt x="107155" y="67121"/>
                  <a:pt x="107155" y="7143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9" name="dsl:shape17"/>
          <p:cNvSpPr/>
          <p:nvPr/>
        </p:nvSpPr>
        <p:spPr>
          <a:xfrm>
            <a:off x="892206" y="6089618"/>
            <a:ext cx="2133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text18"/>
          <p:cNvSpPr txBox="1"/>
          <p:nvPr/>
        </p:nvSpPr>
        <p:spPr>
          <a:xfrm>
            <a:off x="800766" y="6043898"/>
            <a:ext cx="23164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6366F1"/>
                </a:solidFill>
                <a:latin typeface="Liter"/>
                <a:ea typeface="Liter"/>
              </a:rPr>
              <a:t>Визуализация:</a:t>
            </a: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 WebAnno, Brat</a:t>
            </a:r>
          </a:p>
        </p:txBody>
      </p:sp>
      <p:sp>
        <p:nvSpPr>
          <p:cNvPr id="21" name="dsl:shape19"/>
          <p:cNvSpPr/>
          <p:nvPr/>
        </p:nvSpPr>
        <p:spPr>
          <a:xfrm>
            <a:off x="6194393" y="1755743"/>
            <a:ext cx="5616606" cy="4721256"/>
          </a:xfrm>
          <a:custGeom>
            <a:avLst/>
            <a:gdLst/>
            <a:ahLst/>
            <a:cxnLst/>
            <a:rect l="l" t="t" r="r" b="b"/>
            <a:pathLst>
              <a:path w="5616606" h="4721256">
                <a:moveTo>
                  <a:pt x="114301" y="0"/>
                </a:moveTo>
                <a:lnTo>
                  <a:pt x="5502304" y="0"/>
                </a:lnTo>
                <a:cubicBezTo>
                  <a:pt x="5565431" y="0"/>
                  <a:pt x="5616606" y="51174"/>
                  <a:pt x="5616606" y="114301"/>
                </a:cubicBezTo>
                <a:lnTo>
                  <a:pt x="5616606" y="4606954"/>
                </a:lnTo>
                <a:cubicBezTo>
                  <a:pt x="5616606" y="4670081"/>
                  <a:pt x="5565431" y="4721256"/>
                  <a:pt x="5502304" y="4721256"/>
                </a:cubicBezTo>
                <a:lnTo>
                  <a:pt x="114301" y="4721256"/>
                </a:lnTo>
                <a:cubicBezTo>
                  <a:pt x="51174" y="4721256"/>
                  <a:pt x="0" y="4670081"/>
                  <a:pt x="0" y="46069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22" name="dsl:shape20"/>
          <p:cNvSpPr/>
          <p:nvPr/>
        </p:nvSpPr>
        <p:spPr>
          <a:xfrm>
            <a:off x="6400038" y="1987581"/>
            <a:ext cx="214312" cy="190500"/>
          </a:xfrm>
          <a:custGeom>
            <a:avLst/>
            <a:gdLst/>
            <a:ahLst/>
            <a:cxnLst/>
            <a:rect l="l" t="t" r="r" b="b"/>
            <a:pathLst>
              <a:path w="214312" h="190500">
                <a:moveTo>
                  <a:pt x="134242" y="446"/>
                </a:moveTo>
                <a:cubicBezTo>
                  <a:pt x="127917" y="-1377"/>
                  <a:pt x="121331" y="2307"/>
                  <a:pt x="119508" y="8632"/>
                </a:cubicBezTo>
                <a:lnTo>
                  <a:pt x="71883" y="175320"/>
                </a:lnTo>
                <a:cubicBezTo>
                  <a:pt x="70060" y="181645"/>
                  <a:pt x="73743" y="188230"/>
                  <a:pt x="80069" y="190054"/>
                </a:cubicBezTo>
                <a:cubicBezTo>
                  <a:pt x="86394" y="191877"/>
                  <a:pt x="92979" y="188193"/>
                  <a:pt x="94803" y="181868"/>
                </a:cubicBezTo>
                <a:lnTo>
                  <a:pt x="142428" y="15180"/>
                </a:lnTo>
                <a:cubicBezTo>
                  <a:pt x="144251" y="8855"/>
                  <a:pt x="140567" y="2270"/>
                  <a:pt x="134242" y="446"/>
                </a:cubicBezTo>
                <a:close/>
                <a:moveTo>
                  <a:pt x="158278" y="51085"/>
                </a:moveTo>
                <a:cubicBezTo>
                  <a:pt x="153627" y="55736"/>
                  <a:pt x="153627" y="63289"/>
                  <a:pt x="158278" y="67940"/>
                </a:cubicBezTo>
                <a:lnTo>
                  <a:pt x="185588" y="95250"/>
                </a:lnTo>
                <a:lnTo>
                  <a:pt x="158278" y="122560"/>
                </a:lnTo>
                <a:cubicBezTo>
                  <a:pt x="153627" y="127211"/>
                  <a:pt x="153627" y="134764"/>
                  <a:pt x="158278" y="139415"/>
                </a:cubicBezTo>
                <a:cubicBezTo>
                  <a:pt x="162929" y="144066"/>
                  <a:pt x="170482" y="144066"/>
                  <a:pt x="175132" y="139415"/>
                </a:cubicBezTo>
                <a:lnTo>
                  <a:pt x="210851" y="103696"/>
                </a:lnTo>
                <a:cubicBezTo>
                  <a:pt x="215501" y="99045"/>
                  <a:pt x="215501" y="91492"/>
                  <a:pt x="210851" y="86841"/>
                </a:cubicBezTo>
                <a:lnTo>
                  <a:pt x="175132" y="51122"/>
                </a:lnTo>
                <a:cubicBezTo>
                  <a:pt x="170482" y="46472"/>
                  <a:pt x="162929" y="46472"/>
                  <a:pt x="158278" y="51122"/>
                </a:cubicBezTo>
                <a:close/>
                <a:moveTo>
                  <a:pt x="56070" y="51085"/>
                </a:moveTo>
                <a:cubicBezTo>
                  <a:pt x="51419" y="46434"/>
                  <a:pt x="43866" y="46434"/>
                  <a:pt x="39215" y="51085"/>
                </a:cubicBezTo>
                <a:lnTo>
                  <a:pt x="3496" y="86804"/>
                </a:lnTo>
                <a:cubicBezTo>
                  <a:pt x="-1152" y="91455"/>
                  <a:pt x="-1152" y="99008"/>
                  <a:pt x="3496" y="103659"/>
                </a:cubicBezTo>
                <a:lnTo>
                  <a:pt x="39215" y="139378"/>
                </a:lnTo>
                <a:cubicBezTo>
                  <a:pt x="43866" y="144028"/>
                  <a:pt x="51419" y="144028"/>
                  <a:pt x="56070" y="139378"/>
                </a:cubicBezTo>
                <a:cubicBezTo>
                  <a:pt x="60721" y="134727"/>
                  <a:pt x="60721" y="127174"/>
                  <a:pt x="56070" y="122523"/>
                </a:cubicBezTo>
                <a:lnTo>
                  <a:pt x="28760" y="95250"/>
                </a:lnTo>
                <a:lnTo>
                  <a:pt x="56033" y="67940"/>
                </a:lnTo>
                <a:cubicBezTo>
                  <a:pt x="60684" y="63289"/>
                  <a:pt x="60684" y="55736"/>
                  <a:pt x="56033" y="5108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3" name="dsl:shape21"/>
          <p:cNvSpPr/>
          <p:nvPr/>
        </p:nvSpPr>
        <p:spPr>
          <a:xfrm>
            <a:off x="6626256" y="1949481"/>
            <a:ext cx="5086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text22"/>
          <p:cNvSpPr txBox="1"/>
          <p:nvPr/>
        </p:nvSpPr>
        <p:spPr>
          <a:xfrm>
            <a:off x="6534816" y="1903761"/>
            <a:ext cx="526923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Формат CoNLL-U</a:t>
            </a:r>
          </a:p>
        </p:txBody>
      </p:sp>
      <p:sp>
        <p:nvSpPr>
          <p:cNvPr id="25" name="dsl:shape23"/>
          <p:cNvSpPr/>
          <p:nvPr/>
        </p:nvSpPr>
        <p:spPr>
          <a:xfrm>
            <a:off x="6391275" y="2371725"/>
            <a:ext cx="5216556" cy="3206781"/>
          </a:xfrm>
          <a:custGeom>
            <a:avLst/>
            <a:gdLst/>
            <a:ahLst/>
            <a:cxnLst/>
            <a:rect l="l" t="t" r="r" b="b"/>
            <a:pathLst>
              <a:path w="5216556" h="3206781">
                <a:moveTo>
                  <a:pt x="76192" y="0"/>
                </a:moveTo>
                <a:lnTo>
                  <a:pt x="5140363" y="0"/>
                </a:lnTo>
                <a:cubicBezTo>
                  <a:pt x="5182443" y="0"/>
                  <a:pt x="5216556" y="34112"/>
                  <a:pt x="5216556" y="76192"/>
                </a:cubicBezTo>
                <a:lnTo>
                  <a:pt x="5216556" y="3130588"/>
                </a:lnTo>
                <a:cubicBezTo>
                  <a:pt x="5216556" y="3172668"/>
                  <a:pt x="5182443" y="3206781"/>
                  <a:pt x="5140363" y="3206781"/>
                </a:cubicBezTo>
                <a:lnTo>
                  <a:pt x="76192" y="3206781"/>
                </a:lnTo>
                <a:cubicBezTo>
                  <a:pt x="34112" y="3206781"/>
                  <a:pt x="0" y="3172668"/>
                  <a:pt x="0" y="313058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26" name="dsl:shape24"/>
          <p:cNvSpPr/>
          <p:nvPr/>
        </p:nvSpPr>
        <p:spPr>
          <a:xfrm>
            <a:off x="6584918" y="2806731"/>
            <a:ext cx="4829175" cy="6381"/>
          </a:xfrm>
          <a:custGeom>
            <a:avLst/>
            <a:gdLst/>
            <a:ahLst/>
            <a:cxnLst/>
            <a:rect l="l" t="t" r="r" b="b"/>
            <a:pathLst>
              <a:path w="4829175" h="6381">
                <a:moveTo>
                  <a:pt x="0" y="0"/>
                </a:moveTo>
                <a:lnTo>
                  <a:pt x="4829175" y="0"/>
                </a:lnTo>
                <a:lnTo>
                  <a:pt x="4829175" y="6381"/>
                </a:lnTo>
                <a:lnTo>
                  <a:pt x="0" y="638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ffectLst/>
        </p:spPr>
      </p:sp>
      <p:sp>
        <p:nvSpPr>
          <p:cNvPr id="27" name="dsl:shape25"/>
          <p:cNvSpPr/>
          <p:nvPr/>
        </p:nvSpPr>
        <p:spPr>
          <a:xfrm>
            <a:off x="6584918" y="2565368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text26"/>
          <p:cNvSpPr txBox="1"/>
          <p:nvPr/>
        </p:nvSpPr>
        <p:spPr>
          <a:xfrm>
            <a:off x="6493478" y="2519648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ID</a:t>
            </a:r>
          </a:p>
        </p:txBody>
      </p:sp>
      <p:sp>
        <p:nvSpPr>
          <p:cNvPr id="29" name="dsl:shape27"/>
          <p:cNvSpPr/>
          <p:nvPr/>
        </p:nvSpPr>
        <p:spPr>
          <a:xfrm>
            <a:off x="7075741" y="2565368"/>
            <a:ext cx="9620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text28"/>
          <p:cNvSpPr txBox="1"/>
          <p:nvPr/>
        </p:nvSpPr>
        <p:spPr>
          <a:xfrm>
            <a:off x="6984301" y="2519648"/>
            <a:ext cx="1144905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FORM</a:t>
            </a:r>
          </a:p>
        </p:txBody>
      </p:sp>
      <p:sp>
        <p:nvSpPr>
          <p:cNvPr id="31" name="dsl:shape29"/>
          <p:cNvSpPr/>
          <p:nvPr/>
        </p:nvSpPr>
        <p:spPr>
          <a:xfrm>
            <a:off x="8057483" y="2565368"/>
            <a:ext cx="9620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text30"/>
          <p:cNvSpPr txBox="1"/>
          <p:nvPr/>
        </p:nvSpPr>
        <p:spPr>
          <a:xfrm>
            <a:off x="7966043" y="2519648"/>
            <a:ext cx="1144905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LEMMA</a:t>
            </a:r>
          </a:p>
        </p:txBody>
      </p:sp>
      <p:sp>
        <p:nvSpPr>
          <p:cNvPr id="33" name="dsl:shape31"/>
          <p:cNvSpPr/>
          <p:nvPr/>
        </p:nvSpPr>
        <p:spPr>
          <a:xfrm>
            <a:off x="9039225" y="2565368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text32"/>
          <p:cNvSpPr txBox="1"/>
          <p:nvPr/>
        </p:nvSpPr>
        <p:spPr>
          <a:xfrm>
            <a:off x="8947785" y="2519648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UPOS</a:t>
            </a:r>
          </a:p>
        </p:txBody>
      </p:sp>
      <p:sp>
        <p:nvSpPr>
          <p:cNvPr id="35" name="dsl:shape33"/>
          <p:cNvSpPr/>
          <p:nvPr/>
        </p:nvSpPr>
        <p:spPr>
          <a:xfrm>
            <a:off x="9530048" y="2565368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sl:text34"/>
          <p:cNvSpPr txBox="1"/>
          <p:nvPr/>
        </p:nvSpPr>
        <p:spPr>
          <a:xfrm>
            <a:off x="9438608" y="2519648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XPOS</a:t>
            </a:r>
          </a:p>
        </p:txBody>
      </p:sp>
      <p:sp>
        <p:nvSpPr>
          <p:cNvPr id="37" name="dsl:shape35"/>
          <p:cNvSpPr/>
          <p:nvPr/>
        </p:nvSpPr>
        <p:spPr>
          <a:xfrm>
            <a:off x="10020871" y="2565368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sl:text36"/>
          <p:cNvSpPr txBox="1"/>
          <p:nvPr/>
        </p:nvSpPr>
        <p:spPr>
          <a:xfrm>
            <a:off x="9929431" y="2519648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FEATS</a:t>
            </a:r>
          </a:p>
        </p:txBody>
      </p:sp>
      <p:sp>
        <p:nvSpPr>
          <p:cNvPr id="39" name="dsl:shape37"/>
          <p:cNvSpPr/>
          <p:nvPr/>
        </p:nvSpPr>
        <p:spPr>
          <a:xfrm>
            <a:off x="10511694" y="2565368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sl:text38"/>
          <p:cNvSpPr txBox="1"/>
          <p:nvPr/>
        </p:nvSpPr>
        <p:spPr>
          <a:xfrm>
            <a:off x="10420254" y="2519648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HEAD</a:t>
            </a:r>
          </a:p>
        </p:txBody>
      </p:sp>
      <p:sp>
        <p:nvSpPr>
          <p:cNvPr id="41" name="dsl:shape39"/>
          <p:cNvSpPr/>
          <p:nvPr/>
        </p:nvSpPr>
        <p:spPr>
          <a:xfrm>
            <a:off x="11002613" y="2565368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sl:text40"/>
          <p:cNvSpPr txBox="1"/>
          <p:nvPr/>
        </p:nvSpPr>
        <p:spPr>
          <a:xfrm>
            <a:off x="10911173" y="2519648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DEPREL</a:t>
            </a:r>
          </a:p>
        </p:txBody>
      </p:sp>
      <p:sp>
        <p:nvSpPr>
          <p:cNvPr id="43" name="dsl:shape41"/>
          <p:cNvSpPr/>
          <p:nvPr/>
        </p:nvSpPr>
        <p:spPr>
          <a:xfrm>
            <a:off x="6584918" y="2922174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sl:text42"/>
          <p:cNvSpPr txBox="1"/>
          <p:nvPr/>
        </p:nvSpPr>
        <p:spPr>
          <a:xfrm>
            <a:off x="6493478" y="2876454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1</a:t>
            </a:r>
          </a:p>
        </p:txBody>
      </p:sp>
      <p:sp>
        <p:nvSpPr>
          <p:cNvPr id="45" name="dsl:shape43"/>
          <p:cNvSpPr/>
          <p:nvPr/>
        </p:nvSpPr>
        <p:spPr>
          <a:xfrm>
            <a:off x="7075741" y="2922174"/>
            <a:ext cx="9620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sl:text44"/>
          <p:cNvSpPr txBox="1"/>
          <p:nvPr/>
        </p:nvSpPr>
        <p:spPr>
          <a:xfrm>
            <a:off x="6984301" y="2876454"/>
            <a:ext cx="1144905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Включи</a:t>
            </a:r>
          </a:p>
        </p:txBody>
      </p:sp>
      <p:sp>
        <p:nvSpPr>
          <p:cNvPr id="47" name="dsl:shape45"/>
          <p:cNvSpPr/>
          <p:nvPr/>
        </p:nvSpPr>
        <p:spPr>
          <a:xfrm>
            <a:off x="8057483" y="2922174"/>
            <a:ext cx="9620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sl:text46"/>
          <p:cNvSpPr txBox="1"/>
          <p:nvPr/>
        </p:nvSpPr>
        <p:spPr>
          <a:xfrm>
            <a:off x="7966043" y="2876454"/>
            <a:ext cx="1144905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включить</a:t>
            </a:r>
          </a:p>
        </p:txBody>
      </p:sp>
      <p:sp>
        <p:nvSpPr>
          <p:cNvPr id="49" name="dsl:shape47"/>
          <p:cNvSpPr/>
          <p:nvPr/>
        </p:nvSpPr>
        <p:spPr>
          <a:xfrm>
            <a:off x="9039225" y="2922174"/>
            <a:ext cx="419100" cy="161925"/>
          </a:xfrm>
          <a:custGeom>
            <a:avLst/>
            <a:gdLst/>
            <a:ahLst/>
            <a:cxnLst/>
            <a:rect l="l" t="t" r="r" b="b"/>
            <a:pathLst>
              <a:path w="419100" h="161925">
                <a:moveTo>
                  <a:pt x="38099" y="0"/>
                </a:moveTo>
                <a:lnTo>
                  <a:pt x="381001" y="0"/>
                </a:lnTo>
                <a:cubicBezTo>
                  <a:pt x="402042" y="0"/>
                  <a:pt x="419100" y="17058"/>
                  <a:pt x="419100" y="38099"/>
                </a:cubicBezTo>
                <a:lnTo>
                  <a:pt x="419100" y="123826"/>
                </a:lnTo>
                <a:cubicBezTo>
                  <a:pt x="419100" y="144867"/>
                  <a:pt x="402042" y="161925"/>
                  <a:pt x="381001" y="161925"/>
                </a:cubicBezTo>
                <a:lnTo>
                  <a:pt x="38099" y="161925"/>
                </a:lnTo>
                <a:cubicBezTo>
                  <a:pt x="17058" y="161925"/>
                  <a:pt x="0" y="144867"/>
                  <a:pt x="0" y="1238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50" name="dsl:shape48"/>
          <p:cNvSpPr/>
          <p:nvPr/>
        </p:nvSpPr>
        <p:spPr>
          <a:xfrm>
            <a:off x="9010650" y="2922174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sl:text49"/>
          <p:cNvSpPr txBox="1"/>
          <p:nvPr/>
        </p:nvSpPr>
        <p:spPr>
          <a:xfrm>
            <a:off x="8957310" y="2876454"/>
            <a:ext cx="5829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VERB</a:t>
            </a:r>
          </a:p>
        </p:txBody>
      </p:sp>
      <p:sp>
        <p:nvSpPr>
          <p:cNvPr id="52" name="dsl:shape50"/>
          <p:cNvSpPr/>
          <p:nvPr/>
        </p:nvSpPr>
        <p:spPr>
          <a:xfrm>
            <a:off x="9530048" y="2922174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sl:text51"/>
          <p:cNvSpPr txBox="1"/>
          <p:nvPr/>
        </p:nvSpPr>
        <p:spPr>
          <a:xfrm>
            <a:off x="9438608" y="2876454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_</a:t>
            </a:r>
          </a:p>
        </p:txBody>
      </p:sp>
      <p:sp>
        <p:nvSpPr>
          <p:cNvPr id="54" name="dsl:shape52"/>
          <p:cNvSpPr/>
          <p:nvPr/>
        </p:nvSpPr>
        <p:spPr>
          <a:xfrm>
            <a:off x="10020871" y="2922174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sl:text53"/>
          <p:cNvSpPr txBox="1"/>
          <p:nvPr/>
        </p:nvSpPr>
        <p:spPr>
          <a:xfrm>
            <a:off x="9929431" y="2876454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Mood=Imp...</a:t>
            </a:r>
          </a:p>
        </p:txBody>
      </p:sp>
      <p:sp>
        <p:nvSpPr>
          <p:cNvPr id="56" name="dsl:shape54"/>
          <p:cNvSpPr/>
          <p:nvPr/>
        </p:nvSpPr>
        <p:spPr>
          <a:xfrm>
            <a:off x="10511694" y="2922174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sl:text55"/>
          <p:cNvSpPr txBox="1"/>
          <p:nvPr/>
        </p:nvSpPr>
        <p:spPr>
          <a:xfrm>
            <a:off x="10420254" y="2876454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0</a:t>
            </a:r>
          </a:p>
        </p:txBody>
      </p:sp>
      <p:sp>
        <p:nvSpPr>
          <p:cNvPr id="58" name="dsl:shape56"/>
          <p:cNvSpPr/>
          <p:nvPr/>
        </p:nvSpPr>
        <p:spPr>
          <a:xfrm>
            <a:off x="11002613" y="2922174"/>
            <a:ext cx="419100" cy="161925"/>
          </a:xfrm>
          <a:custGeom>
            <a:avLst/>
            <a:gdLst/>
            <a:ahLst/>
            <a:cxnLst/>
            <a:rect l="l" t="t" r="r" b="b"/>
            <a:pathLst>
              <a:path w="419100" h="161925">
                <a:moveTo>
                  <a:pt x="38099" y="0"/>
                </a:moveTo>
                <a:lnTo>
                  <a:pt x="381001" y="0"/>
                </a:lnTo>
                <a:cubicBezTo>
                  <a:pt x="402042" y="0"/>
                  <a:pt x="419100" y="17058"/>
                  <a:pt x="419100" y="38099"/>
                </a:cubicBezTo>
                <a:lnTo>
                  <a:pt x="419100" y="123826"/>
                </a:lnTo>
                <a:cubicBezTo>
                  <a:pt x="419100" y="144867"/>
                  <a:pt x="402042" y="161925"/>
                  <a:pt x="381001" y="161925"/>
                </a:cubicBezTo>
                <a:lnTo>
                  <a:pt x="38099" y="161925"/>
                </a:lnTo>
                <a:cubicBezTo>
                  <a:pt x="17058" y="161925"/>
                  <a:pt x="0" y="144867"/>
                  <a:pt x="0" y="1238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59" name="dsl:shape57"/>
          <p:cNvSpPr/>
          <p:nvPr/>
        </p:nvSpPr>
        <p:spPr>
          <a:xfrm>
            <a:off x="11002613" y="2922174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sl:text58"/>
          <p:cNvSpPr txBox="1"/>
          <p:nvPr/>
        </p:nvSpPr>
        <p:spPr>
          <a:xfrm>
            <a:off x="10949273" y="2876454"/>
            <a:ext cx="5829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root</a:t>
            </a:r>
          </a:p>
        </p:txBody>
      </p:sp>
      <p:sp>
        <p:nvSpPr>
          <p:cNvPr id="61" name="dsl:shape59"/>
          <p:cNvSpPr/>
          <p:nvPr/>
        </p:nvSpPr>
        <p:spPr>
          <a:xfrm>
            <a:off x="6584918" y="3234499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sl:text60"/>
          <p:cNvSpPr txBox="1"/>
          <p:nvPr/>
        </p:nvSpPr>
        <p:spPr>
          <a:xfrm>
            <a:off x="6493478" y="3188779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2</a:t>
            </a:r>
          </a:p>
        </p:txBody>
      </p:sp>
      <p:sp>
        <p:nvSpPr>
          <p:cNvPr id="63" name="dsl:shape61"/>
          <p:cNvSpPr/>
          <p:nvPr/>
        </p:nvSpPr>
        <p:spPr>
          <a:xfrm>
            <a:off x="7075741" y="3234499"/>
            <a:ext cx="9620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sl:text62"/>
          <p:cNvSpPr txBox="1"/>
          <p:nvPr/>
        </p:nvSpPr>
        <p:spPr>
          <a:xfrm>
            <a:off x="6984301" y="3188779"/>
            <a:ext cx="1144905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свет</a:t>
            </a:r>
          </a:p>
        </p:txBody>
      </p:sp>
      <p:sp>
        <p:nvSpPr>
          <p:cNvPr id="65" name="dsl:shape63"/>
          <p:cNvSpPr/>
          <p:nvPr/>
        </p:nvSpPr>
        <p:spPr>
          <a:xfrm>
            <a:off x="8057483" y="3234499"/>
            <a:ext cx="9620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sl:text64"/>
          <p:cNvSpPr txBox="1"/>
          <p:nvPr/>
        </p:nvSpPr>
        <p:spPr>
          <a:xfrm>
            <a:off x="7966043" y="3188779"/>
            <a:ext cx="1144905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свет</a:t>
            </a:r>
          </a:p>
        </p:txBody>
      </p:sp>
      <p:sp>
        <p:nvSpPr>
          <p:cNvPr id="67" name="dsl:shape65"/>
          <p:cNvSpPr/>
          <p:nvPr/>
        </p:nvSpPr>
        <p:spPr>
          <a:xfrm>
            <a:off x="9039225" y="3234499"/>
            <a:ext cx="419100" cy="161925"/>
          </a:xfrm>
          <a:custGeom>
            <a:avLst/>
            <a:gdLst/>
            <a:ahLst/>
            <a:cxnLst/>
            <a:rect l="l" t="t" r="r" b="b"/>
            <a:pathLst>
              <a:path w="419100" h="161925">
                <a:moveTo>
                  <a:pt x="38099" y="0"/>
                </a:moveTo>
                <a:lnTo>
                  <a:pt x="381001" y="0"/>
                </a:lnTo>
                <a:cubicBezTo>
                  <a:pt x="402042" y="0"/>
                  <a:pt x="419100" y="17058"/>
                  <a:pt x="419100" y="38099"/>
                </a:cubicBezTo>
                <a:lnTo>
                  <a:pt x="419100" y="123826"/>
                </a:lnTo>
                <a:cubicBezTo>
                  <a:pt x="419100" y="144867"/>
                  <a:pt x="402042" y="161925"/>
                  <a:pt x="381001" y="161925"/>
                </a:cubicBezTo>
                <a:lnTo>
                  <a:pt x="38099" y="161925"/>
                </a:lnTo>
                <a:cubicBezTo>
                  <a:pt x="17058" y="161925"/>
                  <a:pt x="0" y="144867"/>
                  <a:pt x="0" y="1238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68" name="dsl:shape66"/>
          <p:cNvSpPr/>
          <p:nvPr/>
        </p:nvSpPr>
        <p:spPr>
          <a:xfrm>
            <a:off x="9010650" y="3234499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sl:text67"/>
          <p:cNvSpPr txBox="1"/>
          <p:nvPr/>
        </p:nvSpPr>
        <p:spPr>
          <a:xfrm>
            <a:off x="8957310" y="3188779"/>
            <a:ext cx="5829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NOUN</a:t>
            </a:r>
          </a:p>
        </p:txBody>
      </p:sp>
      <p:sp>
        <p:nvSpPr>
          <p:cNvPr id="70" name="dsl:shape68"/>
          <p:cNvSpPr/>
          <p:nvPr/>
        </p:nvSpPr>
        <p:spPr>
          <a:xfrm>
            <a:off x="9530048" y="3234499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sl:text69"/>
          <p:cNvSpPr txBox="1"/>
          <p:nvPr/>
        </p:nvSpPr>
        <p:spPr>
          <a:xfrm>
            <a:off x="9438608" y="3188779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_</a:t>
            </a:r>
          </a:p>
        </p:txBody>
      </p:sp>
      <p:sp>
        <p:nvSpPr>
          <p:cNvPr id="72" name="dsl:shape70"/>
          <p:cNvSpPr/>
          <p:nvPr/>
        </p:nvSpPr>
        <p:spPr>
          <a:xfrm>
            <a:off x="10020871" y="3234499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sl:text71"/>
          <p:cNvSpPr txBox="1"/>
          <p:nvPr/>
        </p:nvSpPr>
        <p:spPr>
          <a:xfrm>
            <a:off x="9929431" y="3188779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Animacy=Inan...</a:t>
            </a:r>
          </a:p>
        </p:txBody>
      </p:sp>
      <p:sp>
        <p:nvSpPr>
          <p:cNvPr id="74" name="dsl:shape72"/>
          <p:cNvSpPr/>
          <p:nvPr/>
        </p:nvSpPr>
        <p:spPr>
          <a:xfrm>
            <a:off x="10511694" y="3234499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sl:text73"/>
          <p:cNvSpPr txBox="1"/>
          <p:nvPr/>
        </p:nvSpPr>
        <p:spPr>
          <a:xfrm>
            <a:off x="10420254" y="3188779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1</a:t>
            </a:r>
          </a:p>
        </p:txBody>
      </p:sp>
      <p:sp>
        <p:nvSpPr>
          <p:cNvPr id="76" name="dsl:shape74"/>
          <p:cNvSpPr/>
          <p:nvPr/>
        </p:nvSpPr>
        <p:spPr>
          <a:xfrm>
            <a:off x="11002613" y="3234499"/>
            <a:ext cx="419100" cy="161925"/>
          </a:xfrm>
          <a:custGeom>
            <a:avLst/>
            <a:gdLst/>
            <a:ahLst/>
            <a:cxnLst/>
            <a:rect l="l" t="t" r="r" b="b"/>
            <a:pathLst>
              <a:path w="419100" h="161925">
                <a:moveTo>
                  <a:pt x="38099" y="0"/>
                </a:moveTo>
                <a:lnTo>
                  <a:pt x="381001" y="0"/>
                </a:lnTo>
                <a:cubicBezTo>
                  <a:pt x="402042" y="0"/>
                  <a:pt x="419100" y="17058"/>
                  <a:pt x="419100" y="38099"/>
                </a:cubicBezTo>
                <a:lnTo>
                  <a:pt x="419100" y="123826"/>
                </a:lnTo>
                <a:cubicBezTo>
                  <a:pt x="419100" y="144867"/>
                  <a:pt x="402042" y="161925"/>
                  <a:pt x="381001" y="161925"/>
                </a:cubicBezTo>
                <a:lnTo>
                  <a:pt x="38099" y="161925"/>
                </a:lnTo>
                <a:cubicBezTo>
                  <a:pt x="17058" y="161925"/>
                  <a:pt x="0" y="144867"/>
                  <a:pt x="0" y="1238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77" name="dsl:shape75"/>
          <p:cNvSpPr/>
          <p:nvPr/>
        </p:nvSpPr>
        <p:spPr>
          <a:xfrm>
            <a:off x="11002613" y="3234499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sl:text76"/>
          <p:cNvSpPr txBox="1"/>
          <p:nvPr/>
        </p:nvSpPr>
        <p:spPr>
          <a:xfrm>
            <a:off x="10949273" y="3188779"/>
            <a:ext cx="5829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obj</a:t>
            </a:r>
          </a:p>
        </p:txBody>
      </p:sp>
      <p:sp>
        <p:nvSpPr>
          <p:cNvPr id="79" name="dsl:shape77"/>
          <p:cNvSpPr/>
          <p:nvPr/>
        </p:nvSpPr>
        <p:spPr>
          <a:xfrm>
            <a:off x="6584918" y="3546919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sl:text78"/>
          <p:cNvSpPr txBox="1"/>
          <p:nvPr/>
        </p:nvSpPr>
        <p:spPr>
          <a:xfrm>
            <a:off x="6493478" y="3501199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3</a:t>
            </a:r>
          </a:p>
        </p:txBody>
      </p:sp>
      <p:sp>
        <p:nvSpPr>
          <p:cNvPr id="81" name="dsl:shape79"/>
          <p:cNvSpPr/>
          <p:nvPr/>
        </p:nvSpPr>
        <p:spPr>
          <a:xfrm>
            <a:off x="7075741" y="3546919"/>
            <a:ext cx="9620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sl:text80"/>
          <p:cNvSpPr txBox="1"/>
          <p:nvPr/>
        </p:nvSpPr>
        <p:spPr>
          <a:xfrm>
            <a:off x="6984301" y="3501199"/>
            <a:ext cx="1144905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в</a:t>
            </a:r>
          </a:p>
        </p:txBody>
      </p:sp>
      <p:sp>
        <p:nvSpPr>
          <p:cNvPr id="83" name="dsl:shape81"/>
          <p:cNvSpPr/>
          <p:nvPr/>
        </p:nvSpPr>
        <p:spPr>
          <a:xfrm>
            <a:off x="8057483" y="3546919"/>
            <a:ext cx="9620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sl:text82"/>
          <p:cNvSpPr txBox="1"/>
          <p:nvPr/>
        </p:nvSpPr>
        <p:spPr>
          <a:xfrm>
            <a:off x="7966043" y="3501199"/>
            <a:ext cx="1144905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в</a:t>
            </a:r>
          </a:p>
        </p:txBody>
      </p:sp>
      <p:sp>
        <p:nvSpPr>
          <p:cNvPr id="85" name="dsl:shape83"/>
          <p:cNvSpPr/>
          <p:nvPr/>
        </p:nvSpPr>
        <p:spPr>
          <a:xfrm>
            <a:off x="9039225" y="3546919"/>
            <a:ext cx="419100" cy="161925"/>
          </a:xfrm>
          <a:custGeom>
            <a:avLst/>
            <a:gdLst/>
            <a:ahLst/>
            <a:cxnLst/>
            <a:rect l="l" t="t" r="r" b="b"/>
            <a:pathLst>
              <a:path w="419100" h="161925">
                <a:moveTo>
                  <a:pt x="38099" y="0"/>
                </a:moveTo>
                <a:lnTo>
                  <a:pt x="381001" y="0"/>
                </a:lnTo>
                <a:cubicBezTo>
                  <a:pt x="402042" y="0"/>
                  <a:pt x="419100" y="17058"/>
                  <a:pt x="419100" y="38099"/>
                </a:cubicBezTo>
                <a:lnTo>
                  <a:pt x="419100" y="123826"/>
                </a:lnTo>
                <a:cubicBezTo>
                  <a:pt x="419100" y="144867"/>
                  <a:pt x="402042" y="161925"/>
                  <a:pt x="381001" y="161925"/>
                </a:cubicBezTo>
                <a:lnTo>
                  <a:pt x="38099" y="161925"/>
                </a:lnTo>
                <a:cubicBezTo>
                  <a:pt x="17058" y="161925"/>
                  <a:pt x="0" y="144867"/>
                  <a:pt x="0" y="1238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86" name="dsl:shape84"/>
          <p:cNvSpPr/>
          <p:nvPr/>
        </p:nvSpPr>
        <p:spPr>
          <a:xfrm>
            <a:off x="9010650" y="3546919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sl:text85"/>
          <p:cNvSpPr txBox="1"/>
          <p:nvPr/>
        </p:nvSpPr>
        <p:spPr>
          <a:xfrm>
            <a:off x="8957310" y="3501199"/>
            <a:ext cx="5829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ADP</a:t>
            </a:r>
          </a:p>
        </p:txBody>
      </p:sp>
      <p:sp>
        <p:nvSpPr>
          <p:cNvPr id="88" name="dsl:shape86"/>
          <p:cNvSpPr/>
          <p:nvPr/>
        </p:nvSpPr>
        <p:spPr>
          <a:xfrm>
            <a:off x="9530048" y="3546919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sl:text87"/>
          <p:cNvSpPr txBox="1"/>
          <p:nvPr/>
        </p:nvSpPr>
        <p:spPr>
          <a:xfrm>
            <a:off x="9438608" y="3501199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_</a:t>
            </a:r>
          </a:p>
        </p:txBody>
      </p:sp>
      <p:sp>
        <p:nvSpPr>
          <p:cNvPr id="90" name="dsl:shape88"/>
          <p:cNvSpPr/>
          <p:nvPr/>
        </p:nvSpPr>
        <p:spPr>
          <a:xfrm>
            <a:off x="10020871" y="3546919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sl:text89"/>
          <p:cNvSpPr txBox="1"/>
          <p:nvPr/>
        </p:nvSpPr>
        <p:spPr>
          <a:xfrm>
            <a:off x="9929431" y="3501199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_</a:t>
            </a:r>
          </a:p>
        </p:txBody>
      </p:sp>
      <p:sp>
        <p:nvSpPr>
          <p:cNvPr id="92" name="dsl:shape90"/>
          <p:cNvSpPr/>
          <p:nvPr/>
        </p:nvSpPr>
        <p:spPr>
          <a:xfrm>
            <a:off x="10511694" y="3546919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sl:text91"/>
          <p:cNvSpPr txBox="1"/>
          <p:nvPr/>
        </p:nvSpPr>
        <p:spPr>
          <a:xfrm>
            <a:off x="10420254" y="3501199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4</a:t>
            </a:r>
          </a:p>
        </p:txBody>
      </p:sp>
      <p:sp>
        <p:nvSpPr>
          <p:cNvPr id="94" name="dsl:shape92"/>
          <p:cNvSpPr/>
          <p:nvPr/>
        </p:nvSpPr>
        <p:spPr>
          <a:xfrm>
            <a:off x="11002613" y="3546919"/>
            <a:ext cx="419100" cy="161925"/>
          </a:xfrm>
          <a:custGeom>
            <a:avLst/>
            <a:gdLst/>
            <a:ahLst/>
            <a:cxnLst/>
            <a:rect l="l" t="t" r="r" b="b"/>
            <a:pathLst>
              <a:path w="419100" h="161925">
                <a:moveTo>
                  <a:pt x="38099" y="0"/>
                </a:moveTo>
                <a:lnTo>
                  <a:pt x="381001" y="0"/>
                </a:lnTo>
                <a:cubicBezTo>
                  <a:pt x="402042" y="0"/>
                  <a:pt x="419100" y="17058"/>
                  <a:pt x="419100" y="38099"/>
                </a:cubicBezTo>
                <a:lnTo>
                  <a:pt x="419100" y="123826"/>
                </a:lnTo>
                <a:cubicBezTo>
                  <a:pt x="419100" y="144867"/>
                  <a:pt x="402042" y="161925"/>
                  <a:pt x="381001" y="161925"/>
                </a:cubicBezTo>
                <a:lnTo>
                  <a:pt x="38099" y="161925"/>
                </a:lnTo>
                <a:cubicBezTo>
                  <a:pt x="17058" y="161925"/>
                  <a:pt x="0" y="144867"/>
                  <a:pt x="0" y="1238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95" name="dsl:shape93"/>
          <p:cNvSpPr/>
          <p:nvPr/>
        </p:nvSpPr>
        <p:spPr>
          <a:xfrm>
            <a:off x="11002613" y="3546919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sl:text94"/>
          <p:cNvSpPr txBox="1"/>
          <p:nvPr/>
        </p:nvSpPr>
        <p:spPr>
          <a:xfrm>
            <a:off x="10949273" y="3501199"/>
            <a:ext cx="5829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case</a:t>
            </a:r>
          </a:p>
        </p:txBody>
      </p:sp>
      <p:sp>
        <p:nvSpPr>
          <p:cNvPr id="97" name="dsl:shape95"/>
          <p:cNvSpPr/>
          <p:nvPr/>
        </p:nvSpPr>
        <p:spPr>
          <a:xfrm>
            <a:off x="6584918" y="3859244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sl:text96"/>
          <p:cNvSpPr txBox="1"/>
          <p:nvPr/>
        </p:nvSpPr>
        <p:spPr>
          <a:xfrm>
            <a:off x="6493478" y="3813524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4</a:t>
            </a:r>
          </a:p>
        </p:txBody>
      </p:sp>
      <p:sp>
        <p:nvSpPr>
          <p:cNvPr id="99" name="dsl:shape97"/>
          <p:cNvSpPr/>
          <p:nvPr/>
        </p:nvSpPr>
        <p:spPr>
          <a:xfrm>
            <a:off x="7075741" y="3859244"/>
            <a:ext cx="9620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sl:text98"/>
          <p:cNvSpPr txBox="1"/>
          <p:nvPr/>
        </p:nvSpPr>
        <p:spPr>
          <a:xfrm>
            <a:off x="6984301" y="3813524"/>
            <a:ext cx="1144905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спальне</a:t>
            </a:r>
          </a:p>
        </p:txBody>
      </p:sp>
      <p:sp>
        <p:nvSpPr>
          <p:cNvPr id="101" name="dsl:shape99"/>
          <p:cNvSpPr/>
          <p:nvPr/>
        </p:nvSpPr>
        <p:spPr>
          <a:xfrm>
            <a:off x="8057483" y="3859244"/>
            <a:ext cx="9620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sl:text100"/>
          <p:cNvSpPr txBox="1"/>
          <p:nvPr/>
        </p:nvSpPr>
        <p:spPr>
          <a:xfrm>
            <a:off x="7966043" y="3813524"/>
            <a:ext cx="1144905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спальня</a:t>
            </a:r>
          </a:p>
        </p:txBody>
      </p:sp>
      <p:sp>
        <p:nvSpPr>
          <p:cNvPr id="103" name="dsl:shape101"/>
          <p:cNvSpPr/>
          <p:nvPr/>
        </p:nvSpPr>
        <p:spPr>
          <a:xfrm>
            <a:off x="9039225" y="3859244"/>
            <a:ext cx="419100" cy="161925"/>
          </a:xfrm>
          <a:custGeom>
            <a:avLst/>
            <a:gdLst/>
            <a:ahLst/>
            <a:cxnLst/>
            <a:rect l="l" t="t" r="r" b="b"/>
            <a:pathLst>
              <a:path w="419100" h="161925">
                <a:moveTo>
                  <a:pt x="38099" y="0"/>
                </a:moveTo>
                <a:lnTo>
                  <a:pt x="381001" y="0"/>
                </a:lnTo>
                <a:cubicBezTo>
                  <a:pt x="402042" y="0"/>
                  <a:pt x="419100" y="17058"/>
                  <a:pt x="419100" y="38099"/>
                </a:cubicBezTo>
                <a:lnTo>
                  <a:pt x="419100" y="123826"/>
                </a:lnTo>
                <a:cubicBezTo>
                  <a:pt x="419100" y="144867"/>
                  <a:pt x="402042" y="161925"/>
                  <a:pt x="381001" y="161925"/>
                </a:cubicBezTo>
                <a:lnTo>
                  <a:pt x="38099" y="161925"/>
                </a:lnTo>
                <a:cubicBezTo>
                  <a:pt x="17058" y="161925"/>
                  <a:pt x="0" y="144867"/>
                  <a:pt x="0" y="1238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104" name="dsl:shape102"/>
          <p:cNvSpPr/>
          <p:nvPr/>
        </p:nvSpPr>
        <p:spPr>
          <a:xfrm>
            <a:off x="9010650" y="3859244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dsl:text103"/>
          <p:cNvSpPr txBox="1"/>
          <p:nvPr/>
        </p:nvSpPr>
        <p:spPr>
          <a:xfrm>
            <a:off x="8957310" y="3813524"/>
            <a:ext cx="5829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NOUN</a:t>
            </a:r>
          </a:p>
        </p:txBody>
      </p:sp>
      <p:sp>
        <p:nvSpPr>
          <p:cNvPr id="106" name="dsl:shape104"/>
          <p:cNvSpPr/>
          <p:nvPr/>
        </p:nvSpPr>
        <p:spPr>
          <a:xfrm>
            <a:off x="9530048" y="3859244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dsl:text105"/>
          <p:cNvSpPr txBox="1"/>
          <p:nvPr/>
        </p:nvSpPr>
        <p:spPr>
          <a:xfrm>
            <a:off x="9438608" y="3813524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_</a:t>
            </a:r>
          </a:p>
        </p:txBody>
      </p:sp>
      <p:sp>
        <p:nvSpPr>
          <p:cNvPr id="108" name="dsl:shape106"/>
          <p:cNvSpPr/>
          <p:nvPr/>
        </p:nvSpPr>
        <p:spPr>
          <a:xfrm>
            <a:off x="10020871" y="3859244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sl:text107"/>
          <p:cNvSpPr txBox="1"/>
          <p:nvPr/>
        </p:nvSpPr>
        <p:spPr>
          <a:xfrm>
            <a:off x="9929431" y="3813524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Animacy=Inan...</a:t>
            </a:r>
          </a:p>
        </p:txBody>
      </p:sp>
      <p:sp>
        <p:nvSpPr>
          <p:cNvPr id="110" name="dsl:shape108"/>
          <p:cNvSpPr/>
          <p:nvPr/>
        </p:nvSpPr>
        <p:spPr>
          <a:xfrm>
            <a:off x="10511694" y="3859244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sl:text109"/>
          <p:cNvSpPr txBox="1"/>
          <p:nvPr/>
        </p:nvSpPr>
        <p:spPr>
          <a:xfrm>
            <a:off x="10420254" y="3813524"/>
            <a:ext cx="6591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2</a:t>
            </a:r>
          </a:p>
        </p:txBody>
      </p:sp>
      <p:sp>
        <p:nvSpPr>
          <p:cNvPr id="112" name="dsl:shape110"/>
          <p:cNvSpPr/>
          <p:nvPr/>
        </p:nvSpPr>
        <p:spPr>
          <a:xfrm>
            <a:off x="11002613" y="3859244"/>
            <a:ext cx="419100" cy="161925"/>
          </a:xfrm>
          <a:custGeom>
            <a:avLst/>
            <a:gdLst/>
            <a:ahLst/>
            <a:cxnLst/>
            <a:rect l="l" t="t" r="r" b="b"/>
            <a:pathLst>
              <a:path w="419100" h="161925">
                <a:moveTo>
                  <a:pt x="38099" y="0"/>
                </a:moveTo>
                <a:lnTo>
                  <a:pt x="381001" y="0"/>
                </a:lnTo>
                <a:cubicBezTo>
                  <a:pt x="402042" y="0"/>
                  <a:pt x="419100" y="17058"/>
                  <a:pt x="419100" y="38099"/>
                </a:cubicBezTo>
                <a:lnTo>
                  <a:pt x="419100" y="123826"/>
                </a:lnTo>
                <a:cubicBezTo>
                  <a:pt x="419100" y="144867"/>
                  <a:pt x="402042" y="161925"/>
                  <a:pt x="381001" y="161925"/>
                </a:cubicBezTo>
                <a:lnTo>
                  <a:pt x="38099" y="161925"/>
                </a:lnTo>
                <a:cubicBezTo>
                  <a:pt x="17058" y="161925"/>
                  <a:pt x="0" y="144867"/>
                  <a:pt x="0" y="1238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113" name="dsl:shape111"/>
          <p:cNvSpPr/>
          <p:nvPr/>
        </p:nvSpPr>
        <p:spPr>
          <a:xfrm>
            <a:off x="11002613" y="3859244"/>
            <a:ext cx="47625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dsl:text112"/>
          <p:cNvSpPr txBox="1"/>
          <p:nvPr/>
        </p:nvSpPr>
        <p:spPr>
          <a:xfrm>
            <a:off x="10949273" y="3813524"/>
            <a:ext cx="582930" cy="2533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nmod</a:t>
            </a:r>
          </a:p>
        </p:txBody>
      </p:sp>
      <p:sp>
        <p:nvSpPr>
          <p:cNvPr id="115" name="dsl:shape113"/>
          <p:cNvSpPr/>
          <p:nvPr/>
        </p:nvSpPr>
        <p:spPr>
          <a:xfrm>
            <a:off x="6391275" y="5737193"/>
            <a:ext cx="5216556" cy="539781"/>
          </a:xfrm>
          <a:custGeom>
            <a:avLst/>
            <a:gdLst/>
            <a:ahLst/>
            <a:cxnLst/>
            <a:rect l="l" t="t" r="r" b="b"/>
            <a:pathLst>
              <a:path w="5216556" h="539781">
                <a:moveTo>
                  <a:pt x="76202" y="0"/>
                </a:moveTo>
                <a:lnTo>
                  <a:pt x="5140353" y="0"/>
                </a:lnTo>
                <a:cubicBezTo>
                  <a:pt x="5182438" y="0"/>
                  <a:pt x="5216556" y="34118"/>
                  <a:pt x="5216556" y="76206"/>
                </a:cubicBezTo>
                <a:lnTo>
                  <a:pt x="5216556" y="463574"/>
                </a:lnTo>
                <a:cubicBezTo>
                  <a:pt x="5216556" y="505662"/>
                  <a:pt x="5182438" y="539781"/>
                  <a:pt x="5140353" y="539781"/>
                </a:cubicBezTo>
                <a:lnTo>
                  <a:pt x="76202" y="539781"/>
                </a:lnTo>
                <a:cubicBezTo>
                  <a:pt x="34145" y="539781"/>
                  <a:pt x="0" y="505634"/>
                  <a:pt x="0" y="463574"/>
                </a:cubicBezTo>
                <a:lnTo>
                  <a:pt x="0" y="76206"/>
                </a:lnTo>
                <a:cubicBezTo>
                  <a:pt x="0" y="34146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16" name="dsl:shape114"/>
          <p:cNvSpPr/>
          <p:nvPr/>
        </p:nvSpPr>
        <p:spPr>
          <a:xfrm>
            <a:off x="6546818" y="5892831"/>
            <a:ext cx="1085850" cy="2222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dsl:text115"/>
          <p:cNvSpPr txBox="1"/>
          <p:nvPr/>
        </p:nvSpPr>
        <p:spPr>
          <a:xfrm>
            <a:off x="6455378" y="5847111"/>
            <a:ext cx="1268730" cy="31365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6366F1"/>
                </a:solidFill>
                <a:latin typeface="Liter"/>
                <a:ea typeface="Liter"/>
              </a:rPr>
              <a:t>Визуализация:</a:t>
            </a:r>
          </a:p>
        </p:txBody>
      </p:sp>
      <p:sp>
        <p:nvSpPr>
          <p:cNvPr id="118" name="dsl:shape116"/>
          <p:cNvSpPr/>
          <p:nvPr/>
        </p:nvSpPr>
        <p:spPr>
          <a:xfrm>
            <a:off x="7587043" y="5892831"/>
            <a:ext cx="3674554" cy="2222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dsl:text117"/>
          <p:cNvSpPr txBox="1"/>
          <p:nvPr/>
        </p:nvSpPr>
        <p:spPr>
          <a:xfrm>
            <a:off x="7495603" y="5847111"/>
            <a:ext cx="3857434" cy="31365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8F8F8F"/>
                </a:solidFill>
                <a:latin typeface="Liter"/>
                <a:ea typeface="Liter"/>
              </a:rPr>
              <a:t>root(включи) → obj(свет), nmod(спальне) ← case(в)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3" name="dsl:shape1"/>
          <p:cNvSpPr/>
          <p:nvPr/>
        </p:nvSpPr>
        <p:spPr>
          <a:xfrm>
            <a:off x="522065" y="438150"/>
            <a:ext cx="18097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ext2"/>
          <p:cNvSpPr txBox="1"/>
          <p:nvPr/>
        </p:nvSpPr>
        <p:spPr>
          <a:xfrm>
            <a:off x="430625" y="392430"/>
            <a:ext cx="36385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350" noProof="1">
                <a:solidFill>
                  <a:srgbClr val="6366F1"/>
                </a:solidFill>
                <a:latin typeface="Liter"/>
                <a:ea typeface="Liter"/>
              </a:rPr>
              <a:t>5</a:t>
            </a:r>
          </a:p>
        </p:txBody>
      </p:sp>
      <p:sp>
        <p:nvSpPr>
          <p:cNvPr id="5" name="dsl:shape3"/>
          <p:cNvSpPr/>
          <p:nvPr/>
        </p:nvSpPr>
        <p:spPr>
          <a:xfrm>
            <a:off x="876300" y="457200"/>
            <a:ext cx="9525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ext4"/>
          <p:cNvSpPr txBox="1"/>
          <p:nvPr/>
        </p:nvSpPr>
        <p:spPr>
          <a:xfrm>
            <a:off x="784860" y="411480"/>
            <a:ext cx="11353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 spc="60">
                <a:solidFill>
                  <a:srgbClr val="6366F1"/>
                </a:solidFill>
                <a:latin typeface="Liter"/>
                <a:ea typeface="Liter"/>
              </a:rPr>
              <a:t>Уровень 5</a:t>
            </a:r>
          </a:p>
        </p:txBody>
      </p:sp>
      <p:sp>
        <p:nvSpPr>
          <p:cNvPr id="7" name="dsl:shape5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text6"/>
          <p:cNvSpPr txBox="1"/>
          <p:nvPr/>
        </p:nvSpPr>
        <p:spPr>
          <a:xfrm>
            <a:off x="289560" y="830580"/>
            <a:ext cx="11784330" cy="472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b="1" sz="2700" noProof="1">
                <a:solidFill>
                  <a:srgbClr val="EFEFEF"/>
                </a:solidFill>
                <a:latin typeface="Liter"/>
                <a:ea typeface="Liter"/>
              </a:rPr>
              <a:t>Семантический уровень: Интенты</a:t>
            </a:r>
          </a:p>
        </p:txBody>
      </p:sp>
      <p:sp>
        <p:nvSpPr>
          <p:cNvPr id="9" name="dsl:shape7"/>
          <p:cNvSpPr/>
          <p:nvPr/>
        </p:nvSpPr>
        <p:spPr>
          <a:xfrm>
            <a:off x="381000" y="1333500"/>
            <a:ext cx="115157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ext8"/>
          <p:cNvSpPr txBox="1"/>
          <p:nvPr/>
        </p:nvSpPr>
        <p:spPr>
          <a:xfrm>
            <a:off x="289560" y="1287780"/>
            <a:ext cx="1169860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noProof="1">
                <a:solidFill>
                  <a:srgbClr val="8F8F8F"/>
                </a:solidFill>
                <a:latin typeface="Liter"/>
                <a:ea typeface="Liter"/>
              </a:rPr>
              <a:t>Классификация намерений — ключевой для IoT</a:t>
            </a:r>
          </a:p>
        </p:txBody>
      </p:sp>
      <p:sp>
        <p:nvSpPr>
          <p:cNvPr id="11" name="dsl:shape9"/>
          <p:cNvSpPr/>
          <p:nvPr/>
        </p:nvSpPr>
        <p:spPr>
          <a:xfrm>
            <a:off x="384143" y="1755743"/>
            <a:ext cx="5616606" cy="4016406"/>
          </a:xfrm>
          <a:custGeom>
            <a:avLst/>
            <a:gdLst/>
            <a:ahLst/>
            <a:cxnLst/>
            <a:rect l="l" t="t" r="r" b="b"/>
            <a:pathLst>
              <a:path w="5616606" h="4016406">
                <a:moveTo>
                  <a:pt x="114306" y="0"/>
                </a:moveTo>
                <a:lnTo>
                  <a:pt x="5502299" y="0"/>
                </a:lnTo>
                <a:cubicBezTo>
                  <a:pt x="5565428" y="0"/>
                  <a:pt x="5616606" y="51177"/>
                  <a:pt x="5616606" y="114306"/>
                </a:cubicBezTo>
                <a:lnTo>
                  <a:pt x="5616606" y="3902099"/>
                </a:lnTo>
                <a:cubicBezTo>
                  <a:pt x="5616606" y="3965228"/>
                  <a:pt x="5565428" y="4016406"/>
                  <a:pt x="5502299" y="4016406"/>
                </a:cubicBezTo>
                <a:lnTo>
                  <a:pt x="114306" y="4016406"/>
                </a:lnTo>
                <a:cubicBezTo>
                  <a:pt x="51177" y="4016406"/>
                  <a:pt x="0" y="3965228"/>
                  <a:pt x="0" y="390209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2" name="dsl:shape10"/>
          <p:cNvSpPr/>
          <p:nvPr/>
        </p:nvSpPr>
        <p:spPr>
          <a:xfrm>
            <a:off x="601694" y="19875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3" name="dsl:shape11"/>
          <p:cNvSpPr/>
          <p:nvPr/>
        </p:nvSpPr>
        <p:spPr>
          <a:xfrm>
            <a:off x="816006" y="1949481"/>
            <a:ext cx="5086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xt12"/>
          <p:cNvSpPr txBox="1"/>
          <p:nvPr/>
        </p:nvSpPr>
        <p:spPr>
          <a:xfrm>
            <a:off x="724566" y="1903761"/>
            <a:ext cx="526923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Иерархия классов</a:t>
            </a:r>
          </a:p>
        </p:txBody>
      </p:sp>
      <p:sp>
        <p:nvSpPr>
          <p:cNvPr id="15" name="dsl:shape13"/>
          <p:cNvSpPr/>
          <p:nvPr/>
        </p:nvSpPr>
        <p:spPr>
          <a:xfrm>
            <a:off x="581025" y="2371725"/>
            <a:ext cx="5216556" cy="2454306"/>
          </a:xfrm>
          <a:custGeom>
            <a:avLst/>
            <a:gdLst/>
            <a:ahLst/>
            <a:cxnLst/>
            <a:rect l="l" t="t" r="r" b="b"/>
            <a:pathLst>
              <a:path w="5216556" h="2454306">
                <a:moveTo>
                  <a:pt x="76205" y="0"/>
                </a:moveTo>
                <a:lnTo>
                  <a:pt x="5140350" y="0"/>
                </a:lnTo>
                <a:cubicBezTo>
                  <a:pt x="5182437" y="0"/>
                  <a:pt x="5216556" y="34118"/>
                  <a:pt x="5216556" y="76205"/>
                </a:cubicBezTo>
                <a:lnTo>
                  <a:pt x="5216556" y="2378100"/>
                </a:lnTo>
                <a:cubicBezTo>
                  <a:pt x="5216556" y="2420187"/>
                  <a:pt x="5182437" y="2454306"/>
                  <a:pt x="5140350" y="2454306"/>
                </a:cubicBezTo>
                <a:lnTo>
                  <a:pt x="76205" y="2454306"/>
                </a:lnTo>
                <a:cubicBezTo>
                  <a:pt x="34118" y="2454306"/>
                  <a:pt x="0" y="2420187"/>
                  <a:pt x="0" y="237810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6" name="dsl:shape14"/>
          <p:cNvSpPr/>
          <p:nvPr/>
        </p:nvSpPr>
        <p:spPr>
          <a:xfrm>
            <a:off x="736568" y="2527268"/>
            <a:ext cx="8763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ext15"/>
          <p:cNvSpPr txBox="1"/>
          <p:nvPr/>
        </p:nvSpPr>
        <p:spPr>
          <a:xfrm>
            <a:off x="645128" y="2481548"/>
            <a:ext cx="105918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6366F1"/>
                </a:solidFill>
                <a:latin typeface="MiSans"/>
                <a:ea typeface="MiSans"/>
              </a:rPr>
              <a:t>iot_command</a:t>
            </a:r>
          </a:p>
        </p:txBody>
      </p:sp>
      <p:sp>
        <p:nvSpPr>
          <p:cNvPr id="18" name="dsl:shape16"/>
          <p:cNvSpPr/>
          <p:nvPr/>
        </p:nvSpPr>
        <p:spPr>
          <a:xfrm>
            <a:off x="1017555" y="2822543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9" name="dsl:shape17"/>
          <p:cNvSpPr/>
          <p:nvPr/>
        </p:nvSpPr>
        <p:spPr>
          <a:xfrm>
            <a:off x="1208055" y="2793968"/>
            <a:ext cx="93345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text18"/>
          <p:cNvSpPr txBox="1"/>
          <p:nvPr/>
        </p:nvSpPr>
        <p:spPr>
          <a:xfrm>
            <a:off x="1116615" y="2748248"/>
            <a:ext cx="111633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EFEFEF"/>
                </a:solidFill>
                <a:latin typeface="Liter"/>
                <a:ea typeface="Liter"/>
              </a:rPr>
              <a:t>device_control</a:t>
            </a:r>
          </a:p>
        </p:txBody>
      </p:sp>
      <p:sp>
        <p:nvSpPr>
          <p:cNvPr id="21" name="dsl:shape19"/>
          <p:cNvSpPr/>
          <p:nvPr/>
        </p:nvSpPr>
        <p:spPr>
          <a:xfrm>
            <a:off x="1193768" y="3060668"/>
            <a:ext cx="2190750" cy="304800"/>
          </a:xfrm>
          <a:custGeom>
            <a:avLst/>
            <a:gdLst/>
            <a:ahLst/>
            <a:cxnLst/>
            <a:rect l="l" t="t" r="r" b="b"/>
            <a:pathLst>
              <a:path w="2190750" h="3048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266700"/>
                </a:lnTo>
                <a:cubicBezTo>
                  <a:pt x="2190750" y="287728"/>
                  <a:pt x="2173678" y="304800"/>
                  <a:pt x="21526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22" name="dsl:shape20"/>
          <p:cNvSpPr/>
          <p:nvPr/>
        </p:nvSpPr>
        <p:spPr>
          <a:xfrm>
            <a:off x="1308068" y="3136868"/>
            <a:ext cx="579977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text21"/>
          <p:cNvSpPr txBox="1"/>
          <p:nvPr/>
        </p:nvSpPr>
        <p:spPr>
          <a:xfrm>
            <a:off x="1216628" y="3091148"/>
            <a:ext cx="762857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366F1"/>
                </a:solidFill>
                <a:latin typeface="MiSans"/>
                <a:ea typeface="MiSans"/>
              </a:rPr>
              <a:t>turn_on</a:t>
            </a:r>
          </a:p>
        </p:txBody>
      </p:sp>
      <p:sp>
        <p:nvSpPr>
          <p:cNvPr id="24" name="dsl:shape22"/>
          <p:cNvSpPr/>
          <p:nvPr/>
        </p:nvSpPr>
        <p:spPr>
          <a:xfrm>
            <a:off x="3457575" y="3060668"/>
            <a:ext cx="2190750" cy="304800"/>
          </a:xfrm>
          <a:custGeom>
            <a:avLst/>
            <a:gdLst/>
            <a:ahLst/>
            <a:cxnLst/>
            <a:rect l="l" t="t" r="r" b="b"/>
            <a:pathLst>
              <a:path w="2190750" h="3048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266700"/>
                </a:lnTo>
                <a:cubicBezTo>
                  <a:pt x="2190750" y="287728"/>
                  <a:pt x="2173678" y="304800"/>
                  <a:pt x="21526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25" name="dsl:shape23"/>
          <p:cNvSpPr/>
          <p:nvPr/>
        </p:nvSpPr>
        <p:spPr>
          <a:xfrm>
            <a:off x="3571875" y="3136868"/>
            <a:ext cx="653224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text24"/>
          <p:cNvSpPr txBox="1"/>
          <p:nvPr/>
        </p:nvSpPr>
        <p:spPr>
          <a:xfrm>
            <a:off x="3480435" y="3091148"/>
            <a:ext cx="836104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366F1"/>
                </a:solidFill>
                <a:latin typeface="MiSans"/>
                <a:ea typeface="MiSans"/>
              </a:rPr>
              <a:t>turn_off</a:t>
            </a:r>
          </a:p>
        </p:txBody>
      </p:sp>
      <p:sp>
        <p:nvSpPr>
          <p:cNvPr id="27" name="dsl:shape25"/>
          <p:cNvSpPr/>
          <p:nvPr/>
        </p:nvSpPr>
        <p:spPr>
          <a:xfrm>
            <a:off x="1193768" y="3441668"/>
            <a:ext cx="2190750" cy="304800"/>
          </a:xfrm>
          <a:custGeom>
            <a:avLst/>
            <a:gdLst/>
            <a:ahLst/>
            <a:cxnLst/>
            <a:rect l="l" t="t" r="r" b="b"/>
            <a:pathLst>
              <a:path w="2190750" h="3048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266700"/>
                </a:lnTo>
                <a:cubicBezTo>
                  <a:pt x="2190750" y="287728"/>
                  <a:pt x="2173678" y="304800"/>
                  <a:pt x="21526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28" name="dsl:shape26"/>
          <p:cNvSpPr/>
          <p:nvPr/>
        </p:nvSpPr>
        <p:spPr>
          <a:xfrm>
            <a:off x="1308068" y="3517868"/>
            <a:ext cx="726567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text27"/>
          <p:cNvSpPr txBox="1"/>
          <p:nvPr/>
        </p:nvSpPr>
        <p:spPr>
          <a:xfrm>
            <a:off x="1216628" y="3472148"/>
            <a:ext cx="909447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366F1"/>
                </a:solidFill>
                <a:latin typeface="MiSans"/>
                <a:ea typeface="MiSans"/>
              </a:rPr>
              <a:t>set_value</a:t>
            </a:r>
          </a:p>
        </p:txBody>
      </p:sp>
      <p:sp>
        <p:nvSpPr>
          <p:cNvPr id="30" name="dsl:shape28"/>
          <p:cNvSpPr/>
          <p:nvPr/>
        </p:nvSpPr>
        <p:spPr>
          <a:xfrm>
            <a:off x="3457575" y="3441668"/>
            <a:ext cx="2190750" cy="304800"/>
          </a:xfrm>
          <a:custGeom>
            <a:avLst/>
            <a:gdLst/>
            <a:ahLst/>
            <a:cxnLst/>
            <a:rect l="l" t="t" r="r" b="b"/>
            <a:pathLst>
              <a:path w="2190750" h="3048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266700"/>
                </a:lnTo>
                <a:cubicBezTo>
                  <a:pt x="2190750" y="287728"/>
                  <a:pt x="2173678" y="304800"/>
                  <a:pt x="21526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31" name="dsl:shape29"/>
          <p:cNvSpPr/>
          <p:nvPr/>
        </p:nvSpPr>
        <p:spPr>
          <a:xfrm>
            <a:off x="3571875" y="3517868"/>
            <a:ext cx="873252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text30"/>
          <p:cNvSpPr txBox="1"/>
          <p:nvPr/>
        </p:nvSpPr>
        <p:spPr>
          <a:xfrm>
            <a:off x="3480435" y="3472148"/>
            <a:ext cx="1056132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6366F1"/>
                </a:solidFill>
                <a:latin typeface="MiSans"/>
                <a:ea typeface="MiSans"/>
              </a:rPr>
              <a:t>change_mode</a:t>
            </a:r>
          </a:p>
        </p:txBody>
      </p:sp>
      <p:sp>
        <p:nvSpPr>
          <p:cNvPr id="33" name="dsl:shape31"/>
          <p:cNvSpPr/>
          <p:nvPr/>
        </p:nvSpPr>
        <p:spPr>
          <a:xfrm>
            <a:off x="1017555" y="3851243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34" name="dsl:shape32"/>
          <p:cNvSpPr/>
          <p:nvPr/>
        </p:nvSpPr>
        <p:spPr>
          <a:xfrm>
            <a:off x="1208055" y="3822668"/>
            <a:ext cx="8286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sl:text33"/>
          <p:cNvSpPr txBox="1"/>
          <p:nvPr/>
        </p:nvSpPr>
        <p:spPr>
          <a:xfrm>
            <a:off x="1116615" y="3776948"/>
            <a:ext cx="101155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EFEFEF"/>
                </a:solidFill>
                <a:latin typeface="Liter"/>
                <a:ea typeface="Liter"/>
              </a:rPr>
              <a:t>query_status</a:t>
            </a:r>
          </a:p>
        </p:txBody>
      </p:sp>
      <p:sp>
        <p:nvSpPr>
          <p:cNvPr id="36" name="dsl:shape34"/>
          <p:cNvSpPr/>
          <p:nvPr/>
        </p:nvSpPr>
        <p:spPr>
          <a:xfrm>
            <a:off x="1017555" y="4117943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37" name="dsl:shape35"/>
          <p:cNvSpPr/>
          <p:nvPr/>
        </p:nvSpPr>
        <p:spPr>
          <a:xfrm>
            <a:off x="1208055" y="4089368"/>
            <a:ext cx="85725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sl:text36"/>
          <p:cNvSpPr txBox="1"/>
          <p:nvPr/>
        </p:nvSpPr>
        <p:spPr>
          <a:xfrm>
            <a:off x="1116615" y="4043648"/>
            <a:ext cx="104013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EFEFEF"/>
                </a:solidFill>
                <a:latin typeface="Liter"/>
                <a:ea typeface="Liter"/>
              </a:rPr>
              <a:t>system_meta</a:t>
            </a:r>
          </a:p>
        </p:txBody>
      </p:sp>
      <p:sp>
        <p:nvSpPr>
          <p:cNvPr id="39" name="dsl:shape37"/>
          <p:cNvSpPr/>
          <p:nvPr/>
        </p:nvSpPr>
        <p:spPr>
          <a:xfrm>
            <a:off x="1197006" y="4359306"/>
            <a:ext cx="1425606" cy="311181"/>
          </a:xfrm>
          <a:custGeom>
            <a:avLst/>
            <a:gdLst/>
            <a:ahLst/>
            <a:cxnLst/>
            <a:rect l="l" t="t" r="r" b="b"/>
            <a:pathLst>
              <a:path w="1425606" h="311181">
                <a:moveTo>
                  <a:pt x="38100" y="0"/>
                </a:moveTo>
                <a:lnTo>
                  <a:pt x="1387505" y="0"/>
                </a:lnTo>
                <a:cubicBezTo>
                  <a:pt x="1408547" y="0"/>
                  <a:pt x="1425606" y="17059"/>
                  <a:pt x="1425606" y="38103"/>
                </a:cubicBezTo>
                <a:lnTo>
                  <a:pt x="1425606" y="273077"/>
                </a:lnTo>
                <a:cubicBezTo>
                  <a:pt x="1425606" y="294121"/>
                  <a:pt x="1408547" y="311181"/>
                  <a:pt x="1387505" y="311181"/>
                </a:cubicBezTo>
                <a:lnTo>
                  <a:pt x="38100" y="311181"/>
                </a:lnTo>
                <a:cubicBezTo>
                  <a:pt x="17058" y="311181"/>
                  <a:pt x="0" y="294121"/>
                  <a:pt x="0" y="273077"/>
                </a:cubicBezTo>
                <a:lnTo>
                  <a:pt x="0" y="38103"/>
                </a:lnTo>
                <a:cubicBezTo>
                  <a:pt x="0" y="17073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40" name="dsl:shape38"/>
          <p:cNvSpPr/>
          <p:nvPr/>
        </p:nvSpPr>
        <p:spPr>
          <a:xfrm>
            <a:off x="1276350" y="4451318"/>
            <a:ext cx="434244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sl:text39"/>
          <p:cNvSpPr txBox="1"/>
          <p:nvPr/>
        </p:nvSpPr>
        <p:spPr>
          <a:xfrm>
            <a:off x="1184910" y="4405598"/>
            <a:ext cx="617124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cancel</a:t>
            </a:r>
          </a:p>
        </p:txBody>
      </p:sp>
      <p:sp>
        <p:nvSpPr>
          <p:cNvPr id="42" name="dsl:shape40"/>
          <p:cNvSpPr/>
          <p:nvPr/>
        </p:nvSpPr>
        <p:spPr>
          <a:xfrm>
            <a:off x="2706052" y="4359306"/>
            <a:ext cx="1425606" cy="311181"/>
          </a:xfrm>
          <a:custGeom>
            <a:avLst/>
            <a:gdLst/>
            <a:ahLst/>
            <a:cxnLst/>
            <a:rect l="l" t="t" r="r" b="b"/>
            <a:pathLst>
              <a:path w="1425606" h="311181">
                <a:moveTo>
                  <a:pt x="38100" y="0"/>
                </a:moveTo>
                <a:lnTo>
                  <a:pt x="1387505" y="0"/>
                </a:lnTo>
                <a:cubicBezTo>
                  <a:pt x="1408547" y="0"/>
                  <a:pt x="1425606" y="17059"/>
                  <a:pt x="1425606" y="38103"/>
                </a:cubicBezTo>
                <a:lnTo>
                  <a:pt x="1425606" y="273077"/>
                </a:lnTo>
                <a:cubicBezTo>
                  <a:pt x="1425606" y="294121"/>
                  <a:pt x="1408547" y="311181"/>
                  <a:pt x="1387505" y="311181"/>
                </a:cubicBezTo>
                <a:lnTo>
                  <a:pt x="38100" y="311181"/>
                </a:lnTo>
                <a:cubicBezTo>
                  <a:pt x="17058" y="311181"/>
                  <a:pt x="0" y="294121"/>
                  <a:pt x="0" y="273077"/>
                </a:cubicBezTo>
                <a:lnTo>
                  <a:pt x="0" y="38103"/>
                </a:lnTo>
                <a:cubicBezTo>
                  <a:pt x="0" y="17073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43" name="dsl:shape41"/>
          <p:cNvSpPr/>
          <p:nvPr/>
        </p:nvSpPr>
        <p:spPr>
          <a:xfrm>
            <a:off x="2785491" y="4451318"/>
            <a:ext cx="434244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sl:text42"/>
          <p:cNvSpPr txBox="1"/>
          <p:nvPr/>
        </p:nvSpPr>
        <p:spPr>
          <a:xfrm>
            <a:off x="2694050" y="4405598"/>
            <a:ext cx="617124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repeat</a:t>
            </a:r>
          </a:p>
        </p:txBody>
      </p:sp>
      <p:sp>
        <p:nvSpPr>
          <p:cNvPr id="45" name="dsl:shape43"/>
          <p:cNvSpPr/>
          <p:nvPr/>
        </p:nvSpPr>
        <p:spPr>
          <a:xfrm>
            <a:off x="4215288" y="4359306"/>
            <a:ext cx="1425606" cy="311181"/>
          </a:xfrm>
          <a:custGeom>
            <a:avLst/>
            <a:gdLst/>
            <a:ahLst/>
            <a:cxnLst/>
            <a:rect l="l" t="t" r="r" b="b"/>
            <a:pathLst>
              <a:path w="1425606" h="311181">
                <a:moveTo>
                  <a:pt x="38100" y="0"/>
                </a:moveTo>
                <a:lnTo>
                  <a:pt x="1387505" y="0"/>
                </a:lnTo>
                <a:cubicBezTo>
                  <a:pt x="1408547" y="0"/>
                  <a:pt x="1425606" y="17059"/>
                  <a:pt x="1425606" y="38103"/>
                </a:cubicBezTo>
                <a:lnTo>
                  <a:pt x="1425606" y="273077"/>
                </a:lnTo>
                <a:cubicBezTo>
                  <a:pt x="1425606" y="294121"/>
                  <a:pt x="1408547" y="311181"/>
                  <a:pt x="1387505" y="311181"/>
                </a:cubicBezTo>
                <a:lnTo>
                  <a:pt x="38100" y="311181"/>
                </a:lnTo>
                <a:cubicBezTo>
                  <a:pt x="17058" y="311181"/>
                  <a:pt x="0" y="294121"/>
                  <a:pt x="0" y="273077"/>
                </a:cubicBezTo>
                <a:lnTo>
                  <a:pt x="0" y="38103"/>
                </a:lnTo>
                <a:cubicBezTo>
                  <a:pt x="0" y="17073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46" name="dsl:shape44"/>
          <p:cNvSpPr/>
          <p:nvPr/>
        </p:nvSpPr>
        <p:spPr>
          <a:xfrm>
            <a:off x="4294727" y="4451318"/>
            <a:ext cx="308610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sl:text45"/>
          <p:cNvSpPr txBox="1"/>
          <p:nvPr/>
        </p:nvSpPr>
        <p:spPr>
          <a:xfrm>
            <a:off x="4203287" y="4405598"/>
            <a:ext cx="491490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help</a:t>
            </a:r>
          </a:p>
        </p:txBody>
      </p:sp>
      <p:sp>
        <p:nvSpPr>
          <p:cNvPr id="48" name="dsl:shape46"/>
          <p:cNvSpPr/>
          <p:nvPr/>
        </p:nvSpPr>
        <p:spPr>
          <a:xfrm>
            <a:off x="384143" y="5934075"/>
            <a:ext cx="5616606" cy="539781"/>
          </a:xfrm>
          <a:custGeom>
            <a:avLst/>
            <a:gdLst/>
            <a:ahLst/>
            <a:cxnLst/>
            <a:rect l="l" t="t" r="r" b="b"/>
            <a:pathLst>
              <a:path w="5616606" h="539781">
                <a:moveTo>
                  <a:pt x="114297" y="0"/>
                </a:moveTo>
                <a:lnTo>
                  <a:pt x="5502308" y="0"/>
                </a:lnTo>
                <a:cubicBezTo>
                  <a:pt x="5565432" y="0"/>
                  <a:pt x="5616606" y="51175"/>
                  <a:pt x="5616606" y="114303"/>
                </a:cubicBezTo>
                <a:lnTo>
                  <a:pt x="5616606" y="425477"/>
                </a:lnTo>
                <a:cubicBezTo>
                  <a:pt x="5616606" y="488605"/>
                  <a:pt x="5565432" y="539781"/>
                  <a:pt x="5502308" y="539781"/>
                </a:cubicBezTo>
                <a:lnTo>
                  <a:pt x="114297" y="539781"/>
                </a:lnTo>
                <a:cubicBezTo>
                  <a:pt x="51173" y="539781"/>
                  <a:pt x="0" y="488605"/>
                  <a:pt x="0" y="425477"/>
                </a:cubicBezTo>
                <a:lnTo>
                  <a:pt x="0" y="114303"/>
                </a:lnTo>
                <a:cubicBezTo>
                  <a:pt x="0" y="51217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49" name="dsl:shape47"/>
          <p:cNvSpPr/>
          <p:nvPr/>
        </p:nvSpPr>
        <p:spPr>
          <a:xfrm>
            <a:off x="563594" y="61086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35719"/>
                </a:moveTo>
                <a:cubicBezTo>
                  <a:pt x="23812" y="29133"/>
                  <a:pt x="29133" y="23812"/>
                  <a:pt x="35719" y="23812"/>
                </a:cubicBezTo>
                <a:lnTo>
                  <a:pt x="95250" y="23812"/>
                </a:lnTo>
                <a:cubicBezTo>
                  <a:pt x="101836" y="23812"/>
                  <a:pt x="107156" y="29133"/>
                  <a:pt x="107156" y="35719"/>
                </a:cubicBezTo>
                <a:lnTo>
                  <a:pt x="107156" y="142875"/>
                </a:lnTo>
                <a:lnTo>
                  <a:pt x="142875" y="142875"/>
                </a:lnTo>
                <a:lnTo>
                  <a:pt x="142875" y="95250"/>
                </a:lnTo>
                <a:cubicBezTo>
                  <a:pt x="142875" y="88664"/>
                  <a:pt x="148196" y="83344"/>
                  <a:pt x="154781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166688" y="107156"/>
                </a:lnTo>
                <a:lnTo>
                  <a:pt x="166688" y="154781"/>
                </a:lnTo>
                <a:cubicBezTo>
                  <a:pt x="166688" y="161367"/>
                  <a:pt x="161367" y="166688"/>
                  <a:pt x="154781" y="166688"/>
                </a:cubicBezTo>
                <a:lnTo>
                  <a:pt x="95250" y="166688"/>
                </a:lnTo>
                <a:cubicBezTo>
                  <a:pt x="88664" y="166688"/>
                  <a:pt x="83344" y="161367"/>
                  <a:pt x="83344" y="154781"/>
                </a:cubicBezTo>
                <a:lnTo>
                  <a:pt x="83344" y="47625"/>
                </a:lnTo>
                <a:lnTo>
                  <a:pt x="47625" y="47625"/>
                </a:lnTo>
                <a:lnTo>
                  <a:pt x="47625" y="95250"/>
                </a:lnTo>
                <a:cubicBezTo>
                  <a:pt x="47625" y="101836"/>
                  <a:pt x="42304" y="107156"/>
                  <a:pt x="35719" y="107156"/>
                </a:cubicBezTo>
                <a:lnTo>
                  <a:pt x="11906" y="107156"/>
                </a:lnTo>
                <a:cubicBezTo>
                  <a:pt x="5321" y="107156"/>
                  <a:pt x="0" y="101836"/>
                  <a:pt x="0" y="95250"/>
                </a:cubicBezTo>
                <a:cubicBezTo>
                  <a:pt x="0" y="88664"/>
                  <a:pt x="5321" y="83344"/>
                  <a:pt x="11906" y="83344"/>
                </a:cubicBezTo>
                <a:lnTo>
                  <a:pt x="23812" y="83344"/>
                </a:lnTo>
                <a:lnTo>
                  <a:pt x="23812" y="35719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50" name="dsl:shape48"/>
          <p:cNvSpPr/>
          <p:nvPr/>
        </p:nvSpPr>
        <p:spPr>
          <a:xfrm>
            <a:off x="892206" y="6089618"/>
            <a:ext cx="28860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sl:text49"/>
          <p:cNvSpPr txBox="1"/>
          <p:nvPr/>
        </p:nvSpPr>
        <p:spPr>
          <a:xfrm>
            <a:off x="800766" y="6043898"/>
            <a:ext cx="3068955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6366F1"/>
                </a:solidFill>
                <a:latin typeface="Liter"/>
                <a:ea typeface="Liter"/>
              </a:rPr>
              <a:t>Модальность:</a:t>
            </a: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 Текст + Аудио (просодия)</a:t>
            </a:r>
          </a:p>
        </p:txBody>
      </p:sp>
      <p:sp>
        <p:nvSpPr>
          <p:cNvPr id="52" name="dsl:shape50"/>
          <p:cNvSpPr/>
          <p:nvPr/>
        </p:nvSpPr>
        <p:spPr>
          <a:xfrm>
            <a:off x="6194393" y="1755743"/>
            <a:ext cx="5616606" cy="4721256"/>
          </a:xfrm>
          <a:custGeom>
            <a:avLst/>
            <a:gdLst/>
            <a:ahLst/>
            <a:cxnLst/>
            <a:rect l="l" t="t" r="r" b="b"/>
            <a:pathLst>
              <a:path w="5616606" h="4721256">
                <a:moveTo>
                  <a:pt x="114301" y="0"/>
                </a:moveTo>
                <a:lnTo>
                  <a:pt x="5502304" y="0"/>
                </a:lnTo>
                <a:cubicBezTo>
                  <a:pt x="5565431" y="0"/>
                  <a:pt x="5616606" y="51174"/>
                  <a:pt x="5616606" y="114301"/>
                </a:cubicBezTo>
                <a:lnTo>
                  <a:pt x="5616606" y="4606954"/>
                </a:lnTo>
                <a:cubicBezTo>
                  <a:pt x="5616606" y="4670081"/>
                  <a:pt x="5565431" y="4721256"/>
                  <a:pt x="5502304" y="4721256"/>
                </a:cubicBezTo>
                <a:lnTo>
                  <a:pt x="114301" y="4721256"/>
                </a:lnTo>
                <a:cubicBezTo>
                  <a:pt x="51174" y="4721256"/>
                  <a:pt x="0" y="4670081"/>
                  <a:pt x="0" y="46069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53" name="dsl:shape51"/>
          <p:cNvSpPr/>
          <p:nvPr/>
        </p:nvSpPr>
        <p:spPr>
          <a:xfrm>
            <a:off x="6400038" y="1987581"/>
            <a:ext cx="214312" cy="190500"/>
          </a:xfrm>
          <a:custGeom>
            <a:avLst/>
            <a:gdLst/>
            <a:ahLst/>
            <a:cxnLst/>
            <a:rect l="l" t="t" r="r" b="b"/>
            <a:pathLst>
              <a:path w="214312" h="190500">
                <a:moveTo>
                  <a:pt x="134242" y="446"/>
                </a:moveTo>
                <a:cubicBezTo>
                  <a:pt x="127917" y="-1377"/>
                  <a:pt x="121331" y="2307"/>
                  <a:pt x="119508" y="8632"/>
                </a:cubicBezTo>
                <a:lnTo>
                  <a:pt x="71883" y="175320"/>
                </a:lnTo>
                <a:cubicBezTo>
                  <a:pt x="70060" y="181645"/>
                  <a:pt x="73743" y="188230"/>
                  <a:pt x="80069" y="190054"/>
                </a:cubicBezTo>
                <a:cubicBezTo>
                  <a:pt x="86394" y="191877"/>
                  <a:pt x="92979" y="188193"/>
                  <a:pt x="94803" y="181868"/>
                </a:cubicBezTo>
                <a:lnTo>
                  <a:pt x="142428" y="15180"/>
                </a:lnTo>
                <a:cubicBezTo>
                  <a:pt x="144251" y="8855"/>
                  <a:pt x="140567" y="2270"/>
                  <a:pt x="134242" y="446"/>
                </a:cubicBezTo>
                <a:close/>
                <a:moveTo>
                  <a:pt x="158278" y="51085"/>
                </a:moveTo>
                <a:cubicBezTo>
                  <a:pt x="153627" y="55736"/>
                  <a:pt x="153627" y="63289"/>
                  <a:pt x="158278" y="67940"/>
                </a:cubicBezTo>
                <a:lnTo>
                  <a:pt x="185588" y="95250"/>
                </a:lnTo>
                <a:lnTo>
                  <a:pt x="158278" y="122560"/>
                </a:lnTo>
                <a:cubicBezTo>
                  <a:pt x="153627" y="127211"/>
                  <a:pt x="153627" y="134764"/>
                  <a:pt x="158278" y="139415"/>
                </a:cubicBezTo>
                <a:cubicBezTo>
                  <a:pt x="162929" y="144066"/>
                  <a:pt x="170482" y="144066"/>
                  <a:pt x="175132" y="139415"/>
                </a:cubicBezTo>
                <a:lnTo>
                  <a:pt x="210851" y="103696"/>
                </a:lnTo>
                <a:cubicBezTo>
                  <a:pt x="215501" y="99045"/>
                  <a:pt x="215501" y="91492"/>
                  <a:pt x="210851" y="86841"/>
                </a:cubicBezTo>
                <a:lnTo>
                  <a:pt x="175132" y="51122"/>
                </a:lnTo>
                <a:cubicBezTo>
                  <a:pt x="170482" y="46472"/>
                  <a:pt x="162929" y="46472"/>
                  <a:pt x="158278" y="51122"/>
                </a:cubicBezTo>
                <a:close/>
                <a:moveTo>
                  <a:pt x="56070" y="51085"/>
                </a:moveTo>
                <a:cubicBezTo>
                  <a:pt x="51419" y="46434"/>
                  <a:pt x="43866" y="46434"/>
                  <a:pt x="39215" y="51085"/>
                </a:cubicBezTo>
                <a:lnTo>
                  <a:pt x="3496" y="86804"/>
                </a:lnTo>
                <a:cubicBezTo>
                  <a:pt x="-1152" y="91455"/>
                  <a:pt x="-1152" y="99008"/>
                  <a:pt x="3496" y="103659"/>
                </a:cubicBezTo>
                <a:lnTo>
                  <a:pt x="39215" y="139378"/>
                </a:lnTo>
                <a:cubicBezTo>
                  <a:pt x="43866" y="144028"/>
                  <a:pt x="51419" y="144028"/>
                  <a:pt x="56070" y="139378"/>
                </a:cubicBezTo>
                <a:cubicBezTo>
                  <a:pt x="60721" y="134727"/>
                  <a:pt x="60721" y="127174"/>
                  <a:pt x="56070" y="122523"/>
                </a:cubicBezTo>
                <a:lnTo>
                  <a:pt x="28760" y="95250"/>
                </a:lnTo>
                <a:lnTo>
                  <a:pt x="56033" y="67940"/>
                </a:lnTo>
                <a:cubicBezTo>
                  <a:pt x="60684" y="63289"/>
                  <a:pt x="60684" y="55736"/>
                  <a:pt x="56033" y="5108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54" name="dsl:shape52"/>
          <p:cNvSpPr/>
          <p:nvPr/>
        </p:nvSpPr>
        <p:spPr>
          <a:xfrm>
            <a:off x="6626256" y="1949481"/>
            <a:ext cx="5086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sl:text53"/>
          <p:cNvSpPr txBox="1"/>
          <p:nvPr/>
        </p:nvSpPr>
        <p:spPr>
          <a:xfrm>
            <a:off x="6534816" y="1903761"/>
            <a:ext cx="526923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Пример разметки (JSON)</a:t>
            </a:r>
          </a:p>
        </p:txBody>
      </p:sp>
      <p:sp>
        <p:nvSpPr>
          <p:cNvPr id="56" name="dsl:shape54"/>
          <p:cNvSpPr/>
          <p:nvPr/>
        </p:nvSpPr>
        <p:spPr>
          <a:xfrm>
            <a:off x="6391275" y="2371725"/>
            <a:ext cx="5216556" cy="3130581"/>
          </a:xfrm>
          <a:custGeom>
            <a:avLst/>
            <a:gdLst/>
            <a:ahLst/>
            <a:cxnLst/>
            <a:rect l="l" t="t" r="r" b="b"/>
            <a:pathLst>
              <a:path w="5216556" h="3130581">
                <a:moveTo>
                  <a:pt x="76198" y="0"/>
                </a:moveTo>
                <a:lnTo>
                  <a:pt x="5140357" y="0"/>
                </a:lnTo>
                <a:cubicBezTo>
                  <a:pt x="5182412" y="0"/>
                  <a:pt x="5216556" y="34143"/>
                  <a:pt x="5216556" y="76198"/>
                </a:cubicBezTo>
                <a:lnTo>
                  <a:pt x="5216556" y="3054382"/>
                </a:lnTo>
                <a:cubicBezTo>
                  <a:pt x="5216556" y="3096437"/>
                  <a:pt x="5182412" y="3130581"/>
                  <a:pt x="5140357" y="3130581"/>
                </a:cubicBezTo>
                <a:lnTo>
                  <a:pt x="76198" y="3130581"/>
                </a:lnTo>
                <a:cubicBezTo>
                  <a:pt x="34143" y="3130581"/>
                  <a:pt x="0" y="3096437"/>
                  <a:pt x="0" y="305438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57" name="dsl:shape55"/>
          <p:cNvSpPr/>
          <p:nvPr/>
        </p:nvSpPr>
        <p:spPr>
          <a:xfrm>
            <a:off x="6584918" y="2571750"/>
            <a:ext cx="120015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sl:text56"/>
          <p:cNvSpPr txBox="1"/>
          <p:nvPr/>
        </p:nvSpPr>
        <p:spPr>
          <a:xfrm>
            <a:off x="6493478" y="2526030"/>
            <a:ext cx="302895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{</a:t>
            </a:r>
          </a:p>
        </p:txBody>
      </p:sp>
      <p:sp>
        <p:nvSpPr>
          <p:cNvPr id="59" name="dsl:shape57"/>
          <p:cNvSpPr/>
          <p:nvPr/>
        </p:nvSpPr>
        <p:spPr>
          <a:xfrm>
            <a:off x="6737318" y="2769774"/>
            <a:ext cx="937069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sl:text58"/>
          <p:cNvSpPr txBox="1"/>
          <p:nvPr/>
        </p:nvSpPr>
        <p:spPr>
          <a:xfrm>
            <a:off x="6645878" y="2724054"/>
            <a:ext cx="1119949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"utterance_id"</a:t>
            </a:r>
          </a:p>
        </p:txBody>
      </p:sp>
      <p:sp>
        <p:nvSpPr>
          <p:cNvPr id="61" name="dsl:shape59"/>
          <p:cNvSpPr/>
          <p:nvPr/>
        </p:nvSpPr>
        <p:spPr>
          <a:xfrm>
            <a:off x="7680102" y="2769774"/>
            <a:ext cx="182880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sl:text60"/>
          <p:cNvSpPr txBox="1"/>
          <p:nvPr/>
        </p:nvSpPr>
        <p:spPr>
          <a:xfrm>
            <a:off x="7588662" y="2724054"/>
            <a:ext cx="365760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:</a:t>
            </a:r>
          </a:p>
        </p:txBody>
      </p:sp>
      <p:sp>
        <p:nvSpPr>
          <p:cNvPr id="63" name="dsl:shape61"/>
          <p:cNvSpPr/>
          <p:nvPr/>
        </p:nvSpPr>
        <p:spPr>
          <a:xfrm>
            <a:off x="7805832" y="2769774"/>
            <a:ext cx="622839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sl:text62"/>
          <p:cNvSpPr txBox="1"/>
          <p:nvPr/>
        </p:nvSpPr>
        <p:spPr>
          <a:xfrm>
            <a:off x="7714392" y="2724054"/>
            <a:ext cx="805719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"utt_001"</a:t>
            </a:r>
          </a:p>
        </p:txBody>
      </p:sp>
      <p:sp>
        <p:nvSpPr>
          <p:cNvPr id="65" name="dsl:shape63"/>
          <p:cNvSpPr/>
          <p:nvPr/>
        </p:nvSpPr>
        <p:spPr>
          <a:xfrm>
            <a:off x="8434387" y="2769774"/>
            <a:ext cx="120015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sl:text64"/>
          <p:cNvSpPr txBox="1"/>
          <p:nvPr/>
        </p:nvSpPr>
        <p:spPr>
          <a:xfrm>
            <a:off x="8342947" y="2724054"/>
            <a:ext cx="302895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67" name="dsl:shape65"/>
          <p:cNvSpPr/>
          <p:nvPr/>
        </p:nvSpPr>
        <p:spPr>
          <a:xfrm>
            <a:off x="6737318" y="2967799"/>
            <a:ext cx="434244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sl:text66"/>
          <p:cNvSpPr txBox="1"/>
          <p:nvPr/>
        </p:nvSpPr>
        <p:spPr>
          <a:xfrm>
            <a:off x="6645878" y="2922079"/>
            <a:ext cx="617124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"text"</a:t>
            </a:r>
          </a:p>
        </p:txBody>
      </p:sp>
      <p:sp>
        <p:nvSpPr>
          <p:cNvPr id="69" name="dsl:shape67"/>
          <p:cNvSpPr/>
          <p:nvPr/>
        </p:nvSpPr>
        <p:spPr>
          <a:xfrm>
            <a:off x="7177373" y="2967799"/>
            <a:ext cx="1502568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sl:text68"/>
          <p:cNvSpPr txBox="1"/>
          <p:nvPr/>
        </p:nvSpPr>
        <p:spPr>
          <a:xfrm>
            <a:off x="7085933" y="2922079"/>
            <a:ext cx="1685448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"Включи свет в спальне"</a:t>
            </a:r>
          </a:p>
        </p:txBody>
      </p:sp>
      <p:sp>
        <p:nvSpPr>
          <p:cNvPr id="71" name="dsl:shape69"/>
          <p:cNvSpPr/>
          <p:nvPr/>
        </p:nvSpPr>
        <p:spPr>
          <a:xfrm>
            <a:off x="8685752" y="2967799"/>
            <a:ext cx="120015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sl:text70"/>
          <p:cNvSpPr txBox="1"/>
          <p:nvPr/>
        </p:nvSpPr>
        <p:spPr>
          <a:xfrm>
            <a:off x="8594312" y="2922079"/>
            <a:ext cx="302895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73" name="dsl:shape71"/>
          <p:cNvSpPr/>
          <p:nvPr/>
        </p:nvSpPr>
        <p:spPr>
          <a:xfrm>
            <a:off x="6737318" y="3165919"/>
            <a:ext cx="559879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sl:text72"/>
          <p:cNvSpPr txBox="1"/>
          <p:nvPr/>
        </p:nvSpPr>
        <p:spPr>
          <a:xfrm>
            <a:off x="6645878" y="3120199"/>
            <a:ext cx="742759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"intent"</a:t>
            </a:r>
          </a:p>
        </p:txBody>
      </p:sp>
      <p:sp>
        <p:nvSpPr>
          <p:cNvPr id="75" name="dsl:shape73"/>
          <p:cNvSpPr/>
          <p:nvPr/>
        </p:nvSpPr>
        <p:spPr>
          <a:xfrm>
            <a:off x="7303008" y="3165919"/>
            <a:ext cx="120015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sl:text74"/>
          <p:cNvSpPr txBox="1"/>
          <p:nvPr/>
        </p:nvSpPr>
        <p:spPr>
          <a:xfrm>
            <a:off x="7211568" y="3120199"/>
            <a:ext cx="302895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{</a:t>
            </a:r>
          </a:p>
        </p:txBody>
      </p:sp>
      <p:sp>
        <p:nvSpPr>
          <p:cNvPr id="77" name="dsl:shape75"/>
          <p:cNvSpPr/>
          <p:nvPr/>
        </p:nvSpPr>
        <p:spPr>
          <a:xfrm>
            <a:off x="6889718" y="3363944"/>
            <a:ext cx="685609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sl:text76"/>
          <p:cNvSpPr txBox="1"/>
          <p:nvPr/>
        </p:nvSpPr>
        <p:spPr>
          <a:xfrm>
            <a:off x="6798278" y="3318224"/>
            <a:ext cx="868489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"category"</a:t>
            </a:r>
          </a:p>
        </p:txBody>
      </p:sp>
      <p:sp>
        <p:nvSpPr>
          <p:cNvPr id="79" name="dsl:shape77"/>
          <p:cNvSpPr/>
          <p:nvPr/>
        </p:nvSpPr>
        <p:spPr>
          <a:xfrm>
            <a:off x="7581138" y="3363944"/>
            <a:ext cx="1565338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sl:text78"/>
          <p:cNvSpPr txBox="1"/>
          <p:nvPr/>
        </p:nvSpPr>
        <p:spPr>
          <a:xfrm>
            <a:off x="7489698" y="3318224"/>
            <a:ext cx="1748218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"device_control.turn_on"</a:t>
            </a:r>
          </a:p>
        </p:txBody>
      </p:sp>
      <p:sp>
        <p:nvSpPr>
          <p:cNvPr id="81" name="dsl:shape79"/>
          <p:cNvSpPr/>
          <p:nvPr/>
        </p:nvSpPr>
        <p:spPr>
          <a:xfrm>
            <a:off x="9152191" y="3363944"/>
            <a:ext cx="120015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sl:text80"/>
          <p:cNvSpPr txBox="1"/>
          <p:nvPr/>
        </p:nvSpPr>
        <p:spPr>
          <a:xfrm>
            <a:off x="9060751" y="3318224"/>
            <a:ext cx="302895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83" name="dsl:shape81"/>
          <p:cNvSpPr/>
          <p:nvPr/>
        </p:nvSpPr>
        <p:spPr>
          <a:xfrm>
            <a:off x="6889718" y="3561969"/>
            <a:ext cx="811339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sl:text82"/>
          <p:cNvSpPr txBox="1"/>
          <p:nvPr/>
        </p:nvSpPr>
        <p:spPr>
          <a:xfrm>
            <a:off x="6798278" y="3516249"/>
            <a:ext cx="994219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"confidence"</a:t>
            </a:r>
          </a:p>
        </p:txBody>
      </p:sp>
      <p:sp>
        <p:nvSpPr>
          <p:cNvPr id="85" name="dsl:shape83"/>
          <p:cNvSpPr/>
          <p:nvPr/>
        </p:nvSpPr>
        <p:spPr>
          <a:xfrm>
            <a:off x="7706772" y="3561969"/>
            <a:ext cx="245745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sl:text84"/>
          <p:cNvSpPr txBox="1"/>
          <p:nvPr/>
        </p:nvSpPr>
        <p:spPr>
          <a:xfrm>
            <a:off x="7615332" y="3516249"/>
            <a:ext cx="428625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1.0</a:t>
            </a:r>
          </a:p>
        </p:txBody>
      </p:sp>
      <p:sp>
        <p:nvSpPr>
          <p:cNvPr id="87" name="dsl:shape85"/>
          <p:cNvSpPr/>
          <p:nvPr/>
        </p:nvSpPr>
        <p:spPr>
          <a:xfrm>
            <a:off x="7958328" y="3561969"/>
            <a:ext cx="120015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sl:text86"/>
          <p:cNvSpPr txBox="1"/>
          <p:nvPr/>
        </p:nvSpPr>
        <p:spPr>
          <a:xfrm>
            <a:off x="7866888" y="3516249"/>
            <a:ext cx="302895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89" name="dsl:shape87"/>
          <p:cNvSpPr/>
          <p:nvPr/>
        </p:nvSpPr>
        <p:spPr>
          <a:xfrm>
            <a:off x="6889718" y="3759993"/>
            <a:ext cx="748474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sl:text88"/>
          <p:cNvSpPr txBox="1"/>
          <p:nvPr/>
        </p:nvSpPr>
        <p:spPr>
          <a:xfrm>
            <a:off x="6798278" y="3714273"/>
            <a:ext cx="931354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"annotator"</a:t>
            </a:r>
          </a:p>
        </p:txBody>
      </p:sp>
      <p:sp>
        <p:nvSpPr>
          <p:cNvPr id="91" name="dsl:shape89"/>
          <p:cNvSpPr/>
          <p:nvPr/>
        </p:nvSpPr>
        <p:spPr>
          <a:xfrm>
            <a:off x="7644003" y="3759993"/>
            <a:ext cx="748474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sl:text90"/>
          <p:cNvSpPr txBox="1"/>
          <p:nvPr/>
        </p:nvSpPr>
        <p:spPr>
          <a:xfrm>
            <a:off x="7552563" y="3714273"/>
            <a:ext cx="931354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"human_001"</a:t>
            </a:r>
          </a:p>
        </p:txBody>
      </p:sp>
      <p:sp>
        <p:nvSpPr>
          <p:cNvPr id="93" name="dsl:shape91"/>
          <p:cNvSpPr/>
          <p:nvPr/>
        </p:nvSpPr>
        <p:spPr>
          <a:xfrm>
            <a:off x="6737318" y="3958018"/>
            <a:ext cx="120015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sl:text92"/>
          <p:cNvSpPr txBox="1"/>
          <p:nvPr/>
        </p:nvSpPr>
        <p:spPr>
          <a:xfrm>
            <a:off x="6645878" y="3912298"/>
            <a:ext cx="302895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}</a:t>
            </a:r>
          </a:p>
        </p:txBody>
      </p:sp>
      <p:sp>
        <p:nvSpPr>
          <p:cNvPr id="95" name="dsl:shape93"/>
          <p:cNvSpPr/>
          <p:nvPr/>
        </p:nvSpPr>
        <p:spPr>
          <a:xfrm>
            <a:off x="6584918" y="4156043"/>
            <a:ext cx="120015" cy="1397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sl:text94"/>
          <p:cNvSpPr txBox="1"/>
          <p:nvPr/>
        </p:nvSpPr>
        <p:spPr>
          <a:xfrm>
            <a:off x="6493478" y="4110323"/>
            <a:ext cx="302895" cy="2311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}</a:t>
            </a:r>
          </a:p>
        </p:txBody>
      </p:sp>
      <p:sp>
        <p:nvSpPr>
          <p:cNvPr id="97" name="dsl:shape95"/>
          <p:cNvSpPr/>
          <p:nvPr/>
        </p:nvSpPr>
        <p:spPr>
          <a:xfrm>
            <a:off x="6391275" y="5660993"/>
            <a:ext cx="1663731" cy="615981"/>
          </a:xfrm>
          <a:custGeom>
            <a:avLst/>
            <a:gdLst/>
            <a:ahLst/>
            <a:cxnLst/>
            <a:rect l="l" t="t" r="r" b="b"/>
            <a:pathLst>
              <a:path w="1663731" h="615981">
                <a:moveTo>
                  <a:pt x="76200" y="0"/>
                </a:moveTo>
                <a:lnTo>
                  <a:pt x="1587530" y="0"/>
                </a:lnTo>
                <a:cubicBezTo>
                  <a:pt x="1629614" y="0"/>
                  <a:pt x="1663731" y="34117"/>
                  <a:pt x="1663731" y="76202"/>
                </a:cubicBezTo>
                <a:lnTo>
                  <a:pt x="1663731" y="539778"/>
                </a:lnTo>
                <a:cubicBezTo>
                  <a:pt x="1663731" y="581835"/>
                  <a:pt x="1629586" y="615981"/>
                  <a:pt x="1587530" y="615981"/>
                </a:cubicBezTo>
                <a:lnTo>
                  <a:pt x="76200" y="615981"/>
                </a:lnTo>
                <a:cubicBezTo>
                  <a:pt x="34116" y="615981"/>
                  <a:pt x="0" y="581863"/>
                  <a:pt x="0" y="539778"/>
                </a:cubicBezTo>
                <a:lnTo>
                  <a:pt x="0" y="76202"/>
                </a:lnTo>
                <a:cubicBezTo>
                  <a:pt x="0" y="34145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98" name="dsl:shape96"/>
          <p:cNvSpPr/>
          <p:nvPr/>
        </p:nvSpPr>
        <p:spPr>
          <a:xfrm>
            <a:off x="6480143" y="5778531"/>
            <a:ext cx="14859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sl:text97"/>
          <p:cNvSpPr txBox="1"/>
          <p:nvPr/>
        </p:nvSpPr>
        <p:spPr>
          <a:xfrm>
            <a:off x="6388703" y="5732811"/>
            <a:ext cx="1668780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Liter"/>
                <a:ea typeface="Liter"/>
              </a:rPr>
              <a:t>Категория</a:t>
            </a:r>
          </a:p>
        </p:txBody>
      </p:sp>
      <p:sp>
        <p:nvSpPr>
          <p:cNvPr id="100" name="dsl:shape98"/>
          <p:cNvSpPr/>
          <p:nvPr/>
        </p:nvSpPr>
        <p:spPr>
          <a:xfrm>
            <a:off x="6475380" y="5969031"/>
            <a:ext cx="149542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sl:text99"/>
          <p:cNvSpPr txBox="1"/>
          <p:nvPr/>
        </p:nvSpPr>
        <p:spPr>
          <a:xfrm>
            <a:off x="6383940" y="5923311"/>
            <a:ext cx="167830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6366F1"/>
                </a:solidFill>
                <a:latin typeface="MiSans"/>
                <a:ea typeface="MiSans"/>
              </a:rPr>
              <a:t>turn_on</a:t>
            </a:r>
          </a:p>
        </p:txBody>
      </p:sp>
      <p:sp>
        <p:nvSpPr>
          <p:cNvPr id="102" name="dsl:shape100"/>
          <p:cNvSpPr/>
          <p:nvPr/>
        </p:nvSpPr>
        <p:spPr>
          <a:xfrm>
            <a:off x="8171402" y="5660993"/>
            <a:ext cx="1663731" cy="615981"/>
          </a:xfrm>
          <a:custGeom>
            <a:avLst/>
            <a:gdLst/>
            <a:ahLst/>
            <a:cxnLst/>
            <a:rect l="l" t="t" r="r" b="b"/>
            <a:pathLst>
              <a:path w="1663731" h="615981">
                <a:moveTo>
                  <a:pt x="76200" y="0"/>
                </a:moveTo>
                <a:lnTo>
                  <a:pt x="1587530" y="0"/>
                </a:lnTo>
                <a:cubicBezTo>
                  <a:pt x="1629614" y="0"/>
                  <a:pt x="1663731" y="34117"/>
                  <a:pt x="1663731" y="76202"/>
                </a:cubicBezTo>
                <a:lnTo>
                  <a:pt x="1663731" y="539778"/>
                </a:lnTo>
                <a:cubicBezTo>
                  <a:pt x="1663731" y="581835"/>
                  <a:pt x="1629586" y="615981"/>
                  <a:pt x="1587530" y="615981"/>
                </a:cubicBezTo>
                <a:lnTo>
                  <a:pt x="76200" y="615981"/>
                </a:lnTo>
                <a:cubicBezTo>
                  <a:pt x="34116" y="615981"/>
                  <a:pt x="0" y="581863"/>
                  <a:pt x="0" y="539778"/>
                </a:cubicBezTo>
                <a:lnTo>
                  <a:pt x="0" y="76202"/>
                </a:lnTo>
                <a:cubicBezTo>
                  <a:pt x="0" y="34145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03" name="dsl:shape101"/>
          <p:cNvSpPr/>
          <p:nvPr/>
        </p:nvSpPr>
        <p:spPr>
          <a:xfrm>
            <a:off x="8260270" y="5778531"/>
            <a:ext cx="14859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dsl:text102"/>
          <p:cNvSpPr txBox="1"/>
          <p:nvPr/>
        </p:nvSpPr>
        <p:spPr>
          <a:xfrm>
            <a:off x="8168830" y="5732811"/>
            <a:ext cx="1668780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Liter"/>
                <a:ea typeface="Liter"/>
              </a:rPr>
              <a:t>Уверенность</a:t>
            </a:r>
          </a:p>
        </p:txBody>
      </p:sp>
      <p:sp>
        <p:nvSpPr>
          <p:cNvPr id="105" name="dsl:shape103"/>
          <p:cNvSpPr/>
          <p:nvPr/>
        </p:nvSpPr>
        <p:spPr>
          <a:xfrm>
            <a:off x="8255508" y="5969031"/>
            <a:ext cx="149542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dsl:text104"/>
          <p:cNvSpPr txBox="1"/>
          <p:nvPr/>
        </p:nvSpPr>
        <p:spPr>
          <a:xfrm>
            <a:off x="8164068" y="5923311"/>
            <a:ext cx="167830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6366F1"/>
                </a:solidFill>
                <a:latin typeface="MiSans"/>
                <a:ea typeface="MiSans"/>
              </a:rPr>
              <a:t>1.0</a:t>
            </a:r>
          </a:p>
        </p:txBody>
      </p:sp>
      <p:sp>
        <p:nvSpPr>
          <p:cNvPr id="107" name="dsl:shape105"/>
          <p:cNvSpPr/>
          <p:nvPr/>
        </p:nvSpPr>
        <p:spPr>
          <a:xfrm>
            <a:off x="9951434" y="5660993"/>
            <a:ext cx="1663731" cy="615981"/>
          </a:xfrm>
          <a:custGeom>
            <a:avLst/>
            <a:gdLst/>
            <a:ahLst/>
            <a:cxnLst/>
            <a:rect l="l" t="t" r="r" b="b"/>
            <a:pathLst>
              <a:path w="1663731" h="615981">
                <a:moveTo>
                  <a:pt x="76200" y="0"/>
                </a:moveTo>
                <a:lnTo>
                  <a:pt x="1587530" y="0"/>
                </a:lnTo>
                <a:cubicBezTo>
                  <a:pt x="1629614" y="0"/>
                  <a:pt x="1663731" y="34117"/>
                  <a:pt x="1663731" y="76202"/>
                </a:cubicBezTo>
                <a:lnTo>
                  <a:pt x="1663731" y="539778"/>
                </a:lnTo>
                <a:cubicBezTo>
                  <a:pt x="1663731" y="581835"/>
                  <a:pt x="1629586" y="615981"/>
                  <a:pt x="1587530" y="615981"/>
                </a:cubicBezTo>
                <a:lnTo>
                  <a:pt x="76200" y="615981"/>
                </a:lnTo>
                <a:cubicBezTo>
                  <a:pt x="34116" y="615981"/>
                  <a:pt x="0" y="581863"/>
                  <a:pt x="0" y="539778"/>
                </a:cubicBezTo>
                <a:lnTo>
                  <a:pt x="0" y="76202"/>
                </a:lnTo>
                <a:cubicBezTo>
                  <a:pt x="0" y="34145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08" name="dsl:shape106"/>
          <p:cNvSpPr/>
          <p:nvPr/>
        </p:nvSpPr>
        <p:spPr>
          <a:xfrm>
            <a:off x="10040302" y="5778531"/>
            <a:ext cx="14859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sl:text107"/>
          <p:cNvSpPr txBox="1"/>
          <p:nvPr/>
        </p:nvSpPr>
        <p:spPr>
          <a:xfrm>
            <a:off x="9948862" y="5732811"/>
            <a:ext cx="1668780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Liter"/>
                <a:ea typeface="Liter"/>
              </a:rPr>
              <a:t>Аннотатор</a:t>
            </a:r>
          </a:p>
        </p:txBody>
      </p:sp>
      <p:sp>
        <p:nvSpPr>
          <p:cNvPr id="110" name="dsl:shape108"/>
          <p:cNvSpPr/>
          <p:nvPr/>
        </p:nvSpPr>
        <p:spPr>
          <a:xfrm>
            <a:off x="10035540" y="5969031"/>
            <a:ext cx="149542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sl:text109"/>
          <p:cNvSpPr txBox="1"/>
          <p:nvPr/>
        </p:nvSpPr>
        <p:spPr>
          <a:xfrm>
            <a:off x="9944100" y="5923311"/>
            <a:ext cx="167830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6366F1"/>
                </a:solidFill>
                <a:latin typeface="MiSans"/>
                <a:ea typeface="MiSans"/>
              </a:rPr>
              <a:t>human_001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3" name="dsl:shape1"/>
          <p:cNvSpPr/>
          <p:nvPr/>
        </p:nvSpPr>
        <p:spPr>
          <a:xfrm>
            <a:off x="520160" y="438150"/>
            <a:ext cx="1905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ext2"/>
          <p:cNvSpPr txBox="1"/>
          <p:nvPr/>
        </p:nvSpPr>
        <p:spPr>
          <a:xfrm>
            <a:off x="428720" y="392430"/>
            <a:ext cx="37338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350" noProof="1">
                <a:solidFill>
                  <a:srgbClr val="6366F1"/>
                </a:solidFill>
                <a:latin typeface="Liter"/>
                <a:ea typeface="Liter"/>
              </a:rPr>
              <a:t>6</a:t>
            </a:r>
          </a:p>
        </p:txBody>
      </p:sp>
      <p:sp>
        <p:nvSpPr>
          <p:cNvPr id="5" name="dsl:shape3"/>
          <p:cNvSpPr/>
          <p:nvPr/>
        </p:nvSpPr>
        <p:spPr>
          <a:xfrm>
            <a:off x="876300" y="457200"/>
            <a:ext cx="9525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ext4"/>
          <p:cNvSpPr txBox="1"/>
          <p:nvPr/>
        </p:nvSpPr>
        <p:spPr>
          <a:xfrm>
            <a:off x="784860" y="411480"/>
            <a:ext cx="11353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 spc="60">
                <a:solidFill>
                  <a:srgbClr val="6366F1"/>
                </a:solidFill>
                <a:latin typeface="Liter"/>
                <a:ea typeface="Liter"/>
              </a:rPr>
              <a:t>Уровень 6</a:t>
            </a:r>
          </a:p>
        </p:txBody>
      </p:sp>
      <p:sp>
        <p:nvSpPr>
          <p:cNvPr id="7" name="dsl:shape5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text6"/>
          <p:cNvSpPr txBox="1"/>
          <p:nvPr/>
        </p:nvSpPr>
        <p:spPr>
          <a:xfrm>
            <a:off x="289560" y="830580"/>
            <a:ext cx="11784330" cy="472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b="1" sz="2700" noProof="1">
                <a:solidFill>
                  <a:srgbClr val="EFEFEF"/>
                </a:solidFill>
                <a:latin typeface="Liter"/>
                <a:ea typeface="Liter"/>
              </a:rPr>
              <a:t>Семантический уровень: Слоты</a:t>
            </a:r>
          </a:p>
        </p:txBody>
      </p:sp>
      <p:sp>
        <p:nvSpPr>
          <p:cNvPr id="9" name="dsl:shape7"/>
          <p:cNvSpPr/>
          <p:nvPr/>
        </p:nvSpPr>
        <p:spPr>
          <a:xfrm>
            <a:off x="381000" y="1333500"/>
            <a:ext cx="115157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ext8"/>
          <p:cNvSpPr txBox="1"/>
          <p:nvPr/>
        </p:nvSpPr>
        <p:spPr>
          <a:xfrm>
            <a:off x="289560" y="1287780"/>
            <a:ext cx="1169860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noProof="1">
                <a:solidFill>
                  <a:srgbClr val="8F8F8F"/>
                </a:solidFill>
                <a:latin typeface="Liter"/>
                <a:ea typeface="Liter"/>
              </a:rPr>
              <a:t>NER + нормализация значений</a:t>
            </a:r>
          </a:p>
        </p:txBody>
      </p:sp>
      <p:sp>
        <p:nvSpPr>
          <p:cNvPr id="11" name="dsl:shape9"/>
          <p:cNvSpPr/>
          <p:nvPr/>
        </p:nvSpPr>
        <p:spPr>
          <a:xfrm>
            <a:off x="384143" y="1755743"/>
            <a:ext cx="6778656" cy="4721256"/>
          </a:xfrm>
          <a:custGeom>
            <a:avLst/>
            <a:gdLst/>
            <a:ahLst/>
            <a:cxnLst/>
            <a:rect l="l" t="t" r="r" b="b"/>
            <a:pathLst>
              <a:path w="6778656" h="4721256">
                <a:moveTo>
                  <a:pt x="114301" y="0"/>
                </a:moveTo>
                <a:lnTo>
                  <a:pt x="6664354" y="0"/>
                </a:lnTo>
                <a:cubicBezTo>
                  <a:pt x="6727481" y="0"/>
                  <a:pt x="6778655" y="51174"/>
                  <a:pt x="6778655" y="114301"/>
                </a:cubicBezTo>
                <a:lnTo>
                  <a:pt x="6778655" y="4606954"/>
                </a:lnTo>
                <a:cubicBezTo>
                  <a:pt x="6778655" y="4670081"/>
                  <a:pt x="6727481" y="4721256"/>
                  <a:pt x="6664354" y="4721256"/>
                </a:cubicBezTo>
                <a:lnTo>
                  <a:pt x="114301" y="4721256"/>
                </a:lnTo>
                <a:cubicBezTo>
                  <a:pt x="51174" y="4721256"/>
                  <a:pt x="0" y="4670081"/>
                  <a:pt x="0" y="460695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2" name="dsl:shape10"/>
          <p:cNvSpPr/>
          <p:nvPr/>
        </p:nvSpPr>
        <p:spPr>
          <a:xfrm>
            <a:off x="613600" y="1987581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7" h="190500">
                <a:moveTo>
                  <a:pt x="0" y="35719"/>
                </a:moveTo>
                <a:cubicBezTo>
                  <a:pt x="0" y="22585"/>
                  <a:pt x="10677" y="11906"/>
                  <a:pt x="23811" y="11906"/>
                </a:cubicBezTo>
                <a:lnTo>
                  <a:pt x="142874" y="11906"/>
                </a:lnTo>
                <a:cubicBezTo>
                  <a:pt x="156008" y="11906"/>
                  <a:pt x="166687" y="22585"/>
                  <a:pt x="166687" y="35719"/>
                </a:cubicBezTo>
                <a:lnTo>
                  <a:pt x="166687" y="154781"/>
                </a:lnTo>
                <a:cubicBezTo>
                  <a:pt x="166687" y="167915"/>
                  <a:pt x="156008" y="178594"/>
                  <a:pt x="142874" y="178594"/>
                </a:cubicBezTo>
                <a:lnTo>
                  <a:pt x="23811" y="178594"/>
                </a:lnTo>
                <a:cubicBezTo>
                  <a:pt x="10677" y="178594"/>
                  <a:pt x="0" y="167915"/>
                  <a:pt x="0" y="154781"/>
                </a:cubicBezTo>
                <a:lnTo>
                  <a:pt x="0" y="35719"/>
                </a:lnTo>
                <a:close/>
                <a:moveTo>
                  <a:pt x="23811" y="35719"/>
                </a:moveTo>
                <a:lnTo>
                  <a:pt x="23811" y="59531"/>
                </a:lnTo>
                <a:lnTo>
                  <a:pt x="47624" y="59531"/>
                </a:lnTo>
                <a:lnTo>
                  <a:pt x="47624" y="35719"/>
                </a:lnTo>
                <a:lnTo>
                  <a:pt x="23811" y="35719"/>
                </a:lnTo>
                <a:close/>
                <a:moveTo>
                  <a:pt x="142874" y="35719"/>
                </a:moveTo>
                <a:lnTo>
                  <a:pt x="71437" y="35719"/>
                </a:lnTo>
                <a:lnTo>
                  <a:pt x="71437" y="59531"/>
                </a:lnTo>
                <a:lnTo>
                  <a:pt x="142874" y="59531"/>
                </a:lnTo>
                <a:lnTo>
                  <a:pt x="142874" y="35719"/>
                </a:lnTo>
                <a:close/>
                <a:moveTo>
                  <a:pt x="23811" y="83344"/>
                </a:moveTo>
                <a:lnTo>
                  <a:pt x="23811" y="107156"/>
                </a:lnTo>
                <a:lnTo>
                  <a:pt x="47624" y="107156"/>
                </a:lnTo>
                <a:lnTo>
                  <a:pt x="47624" y="83344"/>
                </a:lnTo>
                <a:lnTo>
                  <a:pt x="23811" y="83344"/>
                </a:lnTo>
                <a:close/>
                <a:moveTo>
                  <a:pt x="142874" y="83344"/>
                </a:moveTo>
                <a:lnTo>
                  <a:pt x="71437" y="83344"/>
                </a:lnTo>
                <a:lnTo>
                  <a:pt x="71437" y="107156"/>
                </a:lnTo>
                <a:lnTo>
                  <a:pt x="142874" y="107156"/>
                </a:lnTo>
                <a:lnTo>
                  <a:pt x="142874" y="83344"/>
                </a:lnTo>
                <a:close/>
                <a:moveTo>
                  <a:pt x="23811" y="130969"/>
                </a:moveTo>
                <a:lnTo>
                  <a:pt x="23811" y="154781"/>
                </a:lnTo>
                <a:lnTo>
                  <a:pt x="47624" y="154781"/>
                </a:lnTo>
                <a:lnTo>
                  <a:pt x="47624" y="130969"/>
                </a:lnTo>
                <a:lnTo>
                  <a:pt x="23811" y="130969"/>
                </a:lnTo>
                <a:close/>
                <a:moveTo>
                  <a:pt x="142874" y="130969"/>
                </a:moveTo>
                <a:lnTo>
                  <a:pt x="71437" y="130969"/>
                </a:lnTo>
                <a:lnTo>
                  <a:pt x="71437" y="154781"/>
                </a:lnTo>
                <a:lnTo>
                  <a:pt x="142874" y="154781"/>
                </a:lnTo>
                <a:lnTo>
                  <a:pt x="142874" y="130969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3" name="dsl:shape11"/>
          <p:cNvSpPr/>
          <p:nvPr/>
        </p:nvSpPr>
        <p:spPr>
          <a:xfrm>
            <a:off x="816006" y="1949481"/>
            <a:ext cx="6248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xt12"/>
          <p:cNvSpPr txBox="1"/>
          <p:nvPr/>
        </p:nvSpPr>
        <p:spPr>
          <a:xfrm>
            <a:off x="724566" y="1903761"/>
            <a:ext cx="643128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Типы слотов</a:t>
            </a:r>
          </a:p>
        </p:txBody>
      </p:sp>
      <p:graphicFrame>
        <p:nvGraphicFramePr>
          <p:cNvPr id="15" name="dsl:table13"/>
          <p:cNvGraphicFramePr>
            <a:graphicFrameLocks noGrp="1"/>
          </p:cNvGraphicFramePr>
          <p:nvPr/>
        </p:nvGraphicFramePr>
        <p:xfrm>
          <a:off x="577881" y="2368581"/>
          <a:ext cx="6390634" cy="231503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82338"/>
                <a:gridCol w="1602292"/>
                <a:gridCol w="2050960"/>
                <a:gridCol w="1755044"/>
              </a:tblGrid>
              <a:tr h="385839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Slot Type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Description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Example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Normalized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385839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DEVICE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Устройство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свет, лампа, кондиционер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light, lamp, ac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5839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LOCATION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Помещение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спальне, на кухне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bedroom, kitchen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5839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VALUE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Числовое значение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двадцать градусов, 22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22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5839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MODE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Режим работы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ночной режим, ярко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night_mode, bright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5839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TIME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Время выполнения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через час, завтра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ISO 8601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dsl:shape14"/>
          <p:cNvSpPr/>
          <p:nvPr/>
        </p:nvSpPr>
        <p:spPr>
          <a:xfrm>
            <a:off x="7356443" y="1755743"/>
            <a:ext cx="4454556" cy="3006756"/>
          </a:xfrm>
          <a:custGeom>
            <a:avLst/>
            <a:gdLst/>
            <a:ahLst/>
            <a:cxnLst/>
            <a:rect l="l" t="t" r="r" b="b"/>
            <a:pathLst>
              <a:path w="4454556" h="3006756">
                <a:moveTo>
                  <a:pt x="114286" y="0"/>
                </a:moveTo>
                <a:lnTo>
                  <a:pt x="4340269" y="0"/>
                </a:lnTo>
                <a:cubicBezTo>
                  <a:pt x="4403388" y="0"/>
                  <a:pt x="4454556" y="51167"/>
                  <a:pt x="4454556" y="114287"/>
                </a:cubicBezTo>
                <a:lnTo>
                  <a:pt x="4454556" y="2892468"/>
                </a:lnTo>
                <a:cubicBezTo>
                  <a:pt x="4454556" y="2955588"/>
                  <a:pt x="4403388" y="3006756"/>
                  <a:pt x="4340269" y="3006756"/>
                </a:cubicBezTo>
                <a:lnTo>
                  <a:pt x="114286" y="3006756"/>
                </a:lnTo>
                <a:cubicBezTo>
                  <a:pt x="51167" y="3006756"/>
                  <a:pt x="0" y="2955588"/>
                  <a:pt x="0" y="2892468"/>
                </a:cubicBezTo>
                <a:lnTo>
                  <a:pt x="0" y="114287"/>
                </a:lnTo>
                <a:cubicBezTo>
                  <a:pt x="0" y="51210"/>
                  <a:pt x="51210" y="0"/>
                  <a:pt x="114286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7" name="dsl:shape15"/>
          <p:cNvSpPr/>
          <p:nvPr/>
        </p:nvSpPr>
        <p:spPr>
          <a:xfrm>
            <a:off x="7562088" y="1987581"/>
            <a:ext cx="214312" cy="190500"/>
          </a:xfrm>
          <a:custGeom>
            <a:avLst/>
            <a:gdLst/>
            <a:ahLst/>
            <a:cxnLst/>
            <a:rect l="l" t="t" r="r" b="b"/>
            <a:pathLst>
              <a:path w="214312" h="190500">
                <a:moveTo>
                  <a:pt x="149274" y="14548"/>
                </a:moveTo>
                <a:lnTo>
                  <a:pt x="204414" y="70470"/>
                </a:lnTo>
                <a:cubicBezTo>
                  <a:pt x="214720" y="80925"/>
                  <a:pt x="214720" y="97668"/>
                  <a:pt x="204414" y="108124"/>
                </a:cubicBezTo>
                <a:lnTo>
                  <a:pt x="146223" y="167022"/>
                </a:lnTo>
                <a:cubicBezTo>
                  <a:pt x="142762" y="170520"/>
                  <a:pt x="137107" y="170557"/>
                  <a:pt x="133609" y="167097"/>
                </a:cubicBezTo>
                <a:cubicBezTo>
                  <a:pt x="130112" y="163637"/>
                  <a:pt x="130075" y="157981"/>
                  <a:pt x="133535" y="154484"/>
                </a:cubicBezTo>
                <a:lnTo>
                  <a:pt x="191727" y="95548"/>
                </a:lnTo>
                <a:cubicBezTo>
                  <a:pt x="195150" y="92087"/>
                  <a:pt x="195150" y="86469"/>
                  <a:pt x="191727" y="83009"/>
                </a:cubicBezTo>
                <a:lnTo>
                  <a:pt x="136549" y="27124"/>
                </a:lnTo>
                <a:cubicBezTo>
                  <a:pt x="133089" y="23626"/>
                  <a:pt x="133126" y="17971"/>
                  <a:pt x="136623" y="14511"/>
                </a:cubicBezTo>
                <a:cubicBezTo>
                  <a:pt x="140121" y="11050"/>
                  <a:pt x="145776" y="11088"/>
                  <a:pt x="149236" y="14585"/>
                </a:cubicBezTo>
                <a:close/>
                <a:moveTo>
                  <a:pt x="11942" y="85390"/>
                </a:moveTo>
                <a:lnTo>
                  <a:pt x="11942" y="35719"/>
                </a:lnTo>
                <a:cubicBezTo>
                  <a:pt x="11942" y="22585"/>
                  <a:pt x="22621" y="11906"/>
                  <a:pt x="35755" y="11906"/>
                </a:cubicBezTo>
                <a:lnTo>
                  <a:pt x="85426" y="11906"/>
                </a:lnTo>
                <a:cubicBezTo>
                  <a:pt x="91752" y="11906"/>
                  <a:pt x="97816" y="14399"/>
                  <a:pt x="102281" y="18864"/>
                </a:cubicBezTo>
                <a:lnTo>
                  <a:pt x="155859" y="72442"/>
                </a:lnTo>
                <a:cubicBezTo>
                  <a:pt x="165161" y="81744"/>
                  <a:pt x="165161" y="96813"/>
                  <a:pt x="155859" y="106114"/>
                </a:cubicBezTo>
                <a:lnTo>
                  <a:pt x="106188" y="155786"/>
                </a:lnTo>
                <a:cubicBezTo>
                  <a:pt x="96886" y="165088"/>
                  <a:pt x="81817" y="165088"/>
                  <a:pt x="72516" y="155786"/>
                </a:cubicBezTo>
                <a:lnTo>
                  <a:pt x="18937" y="102208"/>
                </a:lnTo>
                <a:cubicBezTo>
                  <a:pt x="14473" y="97743"/>
                  <a:pt x="11980" y="91678"/>
                  <a:pt x="11980" y="85353"/>
                </a:cubicBezTo>
                <a:close/>
                <a:moveTo>
                  <a:pt x="65521" y="53578"/>
                </a:moveTo>
                <a:cubicBezTo>
                  <a:pt x="65521" y="47007"/>
                  <a:pt x="60186" y="41672"/>
                  <a:pt x="53614" y="41672"/>
                </a:cubicBezTo>
                <a:cubicBezTo>
                  <a:pt x="47043" y="41672"/>
                  <a:pt x="41708" y="47007"/>
                  <a:pt x="41708" y="53578"/>
                </a:cubicBezTo>
                <a:cubicBezTo>
                  <a:pt x="41708" y="60149"/>
                  <a:pt x="47043" y="65484"/>
                  <a:pt x="53614" y="65484"/>
                </a:cubicBezTo>
                <a:cubicBezTo>
                  <a:pt x="60186" y="65484"/>
                  <a:pt x="65521" y="60149"/>
                  <a:pt x="65521" y="5357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8" name="dsl:shape16"/>
          <p:cNvSpPr/>
          <p:nvPr/>
        </p:nvSpPr>
        <p:spPr>
          <a:xfrm>
            <a:off x="7788306" y="1949481"/>
            <a:ext cx="39243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text17"/>
          <p:cNvSpPr txBox="1"/>
          <p:nvPr/>
        </p:nvSpPr>
        <p:spPr>
          <a:xfrm>
            <a:off x="7696866" y="1903761"/>
            <a:ext cx="410718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Разметка IOB2</a:t>
            </a:r>
          </a:p>
        </p:txBody>
      </p:sp>
      <p:sp>
        <p:nvSpPr>
          <p:cNvPr id="20" name="dsl:shape18"/>
          <p:cNvSpPr/>
          <p:nvPr/>
        </p:nvSpPr>
        <p:spPr>
          <a:xfrm>
            <a:off x="7553325" y="2371725"/>
            <a:ext cx="4054506" cy="2054256"/>
          </a:xfrm>
          <a:custGeom>
            <a:avLst/>
            <a:gdLst/>
            <a:ahLst/>
            <a:cxnLst/>
            <a:rect l="l" t="t" r="r" b="b"/>
            <a:pathLst>
              <a:path w="4054506" h="2054256">
                <a:moveTo>
                  <a:pt x="76191" y="0"/>
                </a:moveTo>
                <a:lnTo>
                  <a:pt x="3978314" y="0"/>
                </a:lnTo>
                <a:cubicBezTo>
                  <a:pt x="4020393" y="0"/>
                  <a:pt x="4054506" y="34112"/>
                  <a:pt x="4054506" y="76192"/>
                </a:cubicBezTo>
                <a:lnTo>
                  <a:pt x="4054506" y="1978063"/>
                </a:lnTo>
                <a:cubicBezTo>
                  <a:pt x="4054506" y="2020143"/>
                  <a:pt x="4020393" y="2054256"/>
                  <a:pt x="3978314" y="2054256"/>
                </a:cubicBezTo>
                <a:lnTo>
                  <a:pt x="76191" y="2054256"/>
                </a:lnTo>
                <a:cubicBezTo>
                  <a:pt x="34112" y="2054256"/>
                  <a:pt x="0" y="2020143"/>
                  <a:pt x="0" y="1978063"/>
                </a:cubicBezTo>
                <a:lnTo>
                  <a:pt x="0" y="76192"/>
                </a:lnTo>
                <a:cubicBezTo>
                  <a:pt x="0" y="34112"/>
                  <a:pt x="34112" y="0"/>
                  <a:pt x="76191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graphicFrame>
        <p:nvGraphicFramePr>
          <p:cNvPr id="21" name="dsl:table19"/>
          <p:cNvGraphicFramePr>
            <a:graphicFrameLocks noGrp="1"/>
          </p:cNvGraphicFramePr>
          <p:nvPr/>
        </p:nvGraphicFramePr>
        <p:xfrm>
          <a:off x="7708868" y="2527268"/>
          <a:ext cx="3743698" cy="1743075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019307"/>
                <a:gridCol w="1467009"/>
                <a:gridCol w="1257382"/>
              </a:tblGrid>
              <a:tr h="348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token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tag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normalized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Включи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-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свет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B-DEVICE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light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6366F1"/>
                    </a:solidFill>
                  </a:tcPr>
                </a:tc>
              </a:tr>
              <a:tr h="348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в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8F8F8F"/>
                          </a:solidFill>
                          <a:latin typeface="微软雅黑"/>
                          <a:ea typeface="微软雅黑"/>
                        </a:rPr>
                        <a:t>-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b="1"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спальне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EFEFEF"/>
                          </a:solidFill>
                          <a:latin typeface="微软雅黑"/>
                          <a:ea typeface="微软雅黑"/>
                        </a:rPr>
                        <a:t>B-LOCATION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997" noProof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bedroom</a:t>
                      </a:r>
                    </a:p>
                  </a:txBody>
                  <a:tcPr marL="91440" marR="91440" marT="0" marB="0" anchor="ctr">
                    <a:lnB w="8509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6366F1"/>
                    </a:solidFill>
                  </a:tcPr>
                </a:tc>
              </a:tr>
            </a:tbl>
          </a:graphicData>
        </a:graphic>
      </p:graphicFrame>
      <p:sp>
        <p:nvSpPr>
          <p:cNvPr id="22" name="dsl:shape20"/>
          <p:cNvSpPr/>
          <p:nvPr/>
        </p:nvSpPr>
        <p:spPr>
          <a:xfrm>
            <a:off x="7356443" y="4918043"/>
            <a:ext cx="4454556" cy="1558956"/>
          </a:xfrm>
          <a:custGeom>
            <a:avLst/>
            <a:gdLst/>
            <a:ahLst/>
            <a:cxnLst/>
            <a:rect l="l" t="t" r="r" b="b"/>
            <a:pathLst>
              <a:path w="4454556" h="1558956">
                <a:moveTo>
                  <a:pt x="114300" y="0"/>
                </a:moveTo>
                <a:lnTo>
                  <a:pt x="4340255" y="0"/>
                </a:lnTo>
                <a:cubicBezTo>
                  <a:pt x="4403381" y="0"/>
                  <a:pt x="4454556" y="51175"/>
                  <a:pt x="4454556" y="114302"/>
                </a:cubicBezTo>
                <a:lnTo>
                  <a:pt x="4454556" y="1444653"/>
                </a:lnTo>
                <a:cubicBezTo>
                  <a:pt x="4454556" y="1507738"/>
                  <a:pt x="4403339" y="1558956"/>
                  <a:pt x="4340255" y="1558956"/>
                </a:cubicBezTo>
                <a:lnTo>
                  <a:pt x="114300" y="1558956"/>
                </a:lnTo>
                <a:cubicBezTo>
                  <a:pt x="51174" y="1558956"/>
                  <a:pt x="0" y="1507780"/>
                  <a:pt x="0" y="1444653"/>
                </a:cubicBezTo>
                <a:lnTo>
                  <a:pt x="0" y="114302"/>
                </a:lnTo>
                <a:cubicBezTo>
                  <a:pt x="0" y="51217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23" name="dsl:shape21"/>
          <p:cNvSpPr/>
          <p:nvPr/>
        </p:nvSpPr>
        <p:spPr>
          <a:xfrm>
            <a:off x="7535894" y="51117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4" name="dsl:shape22"/>
          <p:cNvSpPr/>
          <p:nvPr/>
        </p:nvSpPr>
        <p:spPr>
          <a:xfrm>
            <a:off x="7864506" y="5073681"/>
            <a:ext cx="11239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text23"/>
          <p:cNvSpPr txBox="1"/>
          <p:nvPr/>
        </p:nvSpPr>
        <p:spPr>
          <a:xfrm>
            <a:off x="7773066" y="5027961"/>
            <a:ext cx="130683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350" noProof="1">
                <a:solidFill>
                  <a:srgbClr val="EFEFEF"/>
                </a:solidFill>
                <a:latin typeface="Liter"/>
                <a:ea typeface="Liter"/>
              </a:rPr>
              <a:t>Формат IOB2</a:t>
            </a:r>
          </a:p>
        </p:txBody>
      </p:sp>
      <p:sp>
        <p:nvSpPr>
          <p:cNvPr id="26" name="dsl:shape24"/>
          <p:cNvSpPr/>
          <p:nvPr/>
        </p:nvSpPr>
        <p:spPr>
          <a:xfrm>
            <a:off x="7512081" y="5454681"/>
            <a:ext cx="276225" cy="228600"/>
          </a:xfrm>
          <a:custGeom>
            <a:avLst/>
            <a:gdLst/>
            <a:ahLst/>
            <a:cxnLst/>
            <a:rect l="l" t="t" r="r" b="b"/>
            <a:pathLst>
              <a:path w="276225" h="228600">
                <a:moveTo>
                  <a:pt x="38101" y="0"/>
                </a:moveTo>
                <a:lnTo>
                  <a:pt x="238124" y="0"/>
                </a:lnTo>
                <a:cubicBezTo>
                  <a:pt x="259167" y="0"/>
                  <a:pt x="276225" y="17058"/>
                  <a:pt x="276225" y="38101"/>
                </a:cubicBezTo>
                <a:lnTo>
                  <a:pt x="276225" y="190499"/>
                </a:lnTo>
                <a:cubicBezTo>
                  <a:pt x="276225" y="211542"/>
                  <a:pt x="259167" y="228600"/>
                  <a:pt x="2381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7" name="dsl:shape25"/>
          <p:cNvSpPr/>
          <p:nvPr/>
        </p:nvSpPr>
        <p:spPr>
          <a:xfrm>
            <a:off x="7512081" y="5454681"/>
            <a:ext cx="333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text26"/>
          <p:cNvSpPr txBox="1"/>
          <p:nvPr/>
        </p:nvSpPr>
        <p:spPr>
          <a:xfrm>
            <a:off x="7496841" y="5447061"/>
            <a:ext cx="363855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noProof="1">
                <a:solidFill>
                  <a:srgbClr val="FFFFFF"/>
                </a:solidFill>
                <a:latin typeface="MiSans"/>
                <a:ea typeface="MiSans"/>
              </a:rPr>
              <a:t>B-</a:t>
            </a:r>
          </a:p>
        </p:txBody>
      </p:sp>
      <p:sp>
        <p:nvSpPr>
          <p:cNvPr id="29" name="dsl:shape27"/>
          <p:cNvSpPr/>
          <p:nvPr/>
        </p:nvSpPr>
        <p:spPr>
          <a:xfrm>
            <a:off x="7904416" y="5473731"/>
            <a:ext cx="1143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text28"/>
          <p:cNvSpPr txBox="1"/>
          <p:nvPr/>
        </p:nvSpPr>
        <p:spPr>
          <a:xfrm>
            <a:off x="7812976" y="5428011"/>
            <a:ext cx="132588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EFEFEF"/>
                </a:solidFill>
                <a:latin typeface="Liter"/>
                <a:ea typeface="Liter"/>
              </a:rPr>
              <a:t>Начало сущности</a:t>
            </a:r>
          </a:p>
        </p:txBody>
      </p:sp>
      <p:sp>
        <p:nvSpPr>
          <p:cNvPr id="31" name="dsl:shape29"/>
          <p:cNvSpPr/>
          <p:nvPr/>
        </p:nvSpPr>
        <p:spPr>
          <a:xfrm>
            <a:off x="7515225" y="5762625"/>
            <a:ext cx="282606" cy="234981"/>
          </a:xfrm>
          <a:custGeom>
            <a:avLst/>
            <a:gdLst/>
            <a:ahLst/>
            <a:cxnLst/>
            <a:rect l="l" t="t" r="r" b="b"/>
            <a:pathLst>
              <a:path w="282606" h="234981">
                <a:moveTo>
                  <a:pt x="38103" y="0"/>
                </a:moveTo>
                <a:lnTo>
                  <a:pt x="244502" y="0"/>
                </a:lnTo>
                <a:cubicBezTo>
                  <a:pt x="265532" y="0"/>
                  <a:pt x="282606" y="17074"/>
                  <a:pt x="282606" y="38104"/>
                </a:cubicBezTo>
                <a:lnTo>
                  <a:pt x="282606" y="196876"/>
                </a:lnTo>
                <a:cubicBezTo>
                  <a:pt x="282606" y="217906"/>
                  <a:pt x="265532" y="234981"/>
                  <a:pt x="244502" y="234981"/>
                </a:cubicBezTo>
                <a:lnTo>
                  <a:pt x="38103" y="234981"/>
                </a:lnTo>
                <a:cubicBezTo>
                  <a:pt x="17073" y="234981"/>
                  <a:pt x="0" y="217906"/>
                  <a:pt x="0" y="196876"/>
                </a:cubicBezTo>
                <a:lnTo>
                  <a:pt x="0" y="38104"/>
                </a:lnTo>
                <a:cubicBezTo>
                  <a:pt x="0" y="17074"/>
                  <a:pt x="17073" y="0"/>
                  <a:pt x="38103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6366F1"/>
            </a:solidFill>
            <a:prstDash val="solid"/>
          </a:ln>
          <a:effectLst/>
        </p:spPr>
      </p:sp>
      <p:sp>
        <p:nvSpPr>
          <p:cNvPr id="32" name="dsl:shape30"/>
          <p:cNvSpPr/>
          <p:nvPr/>
        </p:nvSpPr>
        <p:spPr>
          <a:xfrm>
            <a:off x="7512081" y="5759481"/>
            <a:ext cx="3333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sl:text31"/>
          <p:cNvSpPr txBox="1"/>
          <p:nvPr/>
        </p:nvSpPr>
        <p:spPr>
          <a:xfrm>
            <a:off x="7496841" y="5751861"/>
            <a:ext cx="363855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noProof="1">
                <a:solidFill>
                  <a:srgbClr val="6366F1"/>
                </a:solidFill>
                <a:latin typeface="MiSans"/>
                <a:ea typeface="MiSans"/>
              </a:rPr>
              <a:t>I-</a:t>
            </a:r>
          </a:p>
        </p:txBody>
      </p:sp>
      <p:sp>
        <p:nvSpPr>
          <p:cNvPr id="34" name="dsl:shape32"/>
          <p:cNvSpPr/>
          <p:nvPr/>
        </p:nvSpPr>
        <p:spPr>
          <a:xfrm>
            <a:off x="7917180" y="5784818"/>
            <a:ext cx="113347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sl:text33"/>
          <p:cNvSpPr txBox="1"/>
          <p:nvPr/>
        </p:nvSpPr>
        <p:spPr>
          <a:xfrm>
            <a:off x="7825740" y="5739098"/>
            <a:ext cx="131635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EFEFEF"/>
                </a:solidFill>
                <a:latin typeface="Liter"/>
                <a:ea typeface="Liter"/>
              </a:rPr>
              <a:t>Внутри сущности</a:t>
            </a:r>
          </a:p>
        </p:txBody>
      </p:sp>
      <p:sp>
        <p:nvSpPr>
          <p:cNvPr id="36" name="dsl:shape34"/>
          <p:cNvSpPr/>
          <p:nvPr/>
        </p:nvSpPr>
        <p:spPr>
          <a:xfrm>
            <a:off x="7515225" y="6080093"/>
            <a:ext cx="225456" cy="234981"/>
          </a:xfrm>
          <a:custGeom>
            <a:avLst/>
            <a:gdLst/>
            <a:ahLst/>
            <a:cxnLst/>
            <a:rect l="l" t="t" r="r" b="b"/>
            <a:pathLst>
              <a:path w="225456" h="234981">
                <a:moveTo>
                  <a:pt x="38104" y="0"/>
                </a:moveTo>
                <a:lnTo>
                  <a:pt x="187351" y="0"/>
                </a:lnTo>
                <a:cubicBezTo>
                  <a:pt x="208395" y="0"/>
                  <a:pt x="225455" y="17060"/>
                  <a:pt x="225455" y="38104"/>
                </a:cubicBezTo>
                <a:lnTo>
                  <a:pt x="225455" y="196876"/>
                </a:lnTo>
                <a:cubicBezTo>
                  <a:pt x="225455" y="217920"/>
                  <a:pt x="208395" y="234981"/>
                  <a:pt x="187351" y="234981"/>
                </a:cubicBezTo>
                <a:lnTo>
                  <a:pt x="38104" y="234981"/>
                </a:lnTo>
                <a:cubicBezTo>
                  <a:pt x="17060" y="234981"/>
                  <a:pt x="0" y="217920"/>
                  <a:pt x="0" y="19687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37" name="dsl:shape35"/>
          <p:cNvSpPr/>
          <p:nvPr/>
        </p:nvSpPr>
        <p:spPr>
          <a:xfrm>
            <a:off x="7512081" y="6076950"/>
            <a:ext cx="27622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sl:text36"/>
          <p:cNvSpPr txBox="1"/>
          <p:nvPr/>
        </p:nvSpPr>
        <p:spPr>
          <a:xfrm>
            <a:off x="7496841" y="6069330"/>
            <a:ext cx="306705" cy="243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noProof="1">
                <a:solidFill>
                  <a:srgbClr val="8F8F8F"/>
                </a:solidFill>
                <a:latin typeface="MiSans"/>
                <a:ea typeface="MiSans"/>
              </a:rPr>
              <a:t>O</a:t>
            </a:r>
          </a:p>
        </p:txBody>
      </p:sp>
      <p:sp>
        <p:nvSpPr>
          <p:cNvPr id="39" name="dsl:shape37"/>
          <p:cNvSpPr/>
          <p:nvPr/>
        </p:nvSpPr>
        <p:spPr>
          <a:xfrm>
            <a:off x="7854315" y="6102381"/>
            <a:ext cx="92392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sl:text38"/>
          <p:cNvSpPr txBox="1"/>
          <p:nvPr/>
        </p:nvSpPr>
        <p:spPr>
          <a:xfrm>
            <a:off x="7762875" y="6056661"/>
            <a:ext cx="110680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EFEFEF"/>
                </a:solidFill>
                <a:latin typeface="Liter"/>
                <a:ea typeface="Liter"/>
              </a:rPr>
              <a:t>Вне сущности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362331" y="362331"/>
            <a:ext cx="362331" cy="362331"/>
          </a:xfrm>
          <a:custGeom>
            <a:avLst/>
            <a:gdLst/>
            <a:ahLst/>
            <a:cxnLst/>
            <a:rect l="l" t="t" r="r" b="b"/>
            <a:pathLst>
              <a:path w="362331" h="362331">
                <a:moveTo>
                  <a:pt x="72466" y="0"/>
                </a:moveTo>
                <a:lnTo>
                  <a:pt x="289864" y="0"/>
                </a:lnTo>
                <a:cubicBezTo>
                  <a:pt x="329886" y="0"/>
                  <a:pt x="362331" y="32444"/>
                  <a:pt x="362331" y="72466"/>
                </a:cubicBezTo>
                <a:lnTo>
                  <a:pt x="362331" y="289864"/>
                </a:lnTo>
                <a:cubicBezTo>
                  <a:pt x="362331" y="329886"/>
                  <a:pt x="329886" y="362331"/>
                  <a:pt x="289864" y="362331"/>
                </a:cubicBezTo>
                <a:lnTo>
                  <a:pt x="72466" y="362331"/>
                </a:lnTo>
                <a:cubicBezTo>
                  <a:pt x="32444" y="362331"/>
                  <a:pt x="0" y="329886"/>
                  <a:pt x="0" y="289864"/>
                </a:cubicBezTo>
                <a:lnTo>
                  <a:pt x="0" y="72466"/>
                </a:lnTo>
                <a:cubicBezTo>
                  <a:pt x="0" y="32444"/>
                  <a:pt x="32444" y="0"/>
                  <a:pt x="7246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3" name="dsl:shape1"/>
          <p:cNvSpPr/>
          <p:nvPr/>
        </p:nvSpPr>
        <p:spPr>
          <a:xfrm>
            <a:off x="454056" y="461962"/>
            <a:ext cx="183451" cy="163068"/>
          </a:xfrm>
          <a:custGeom>
            <a:avLst/>
            <a:gdLst/>
            <a:ahLst/>
            <a:cxnLst/>
            <a:rect l="l" t="t" r="r" b="b"/>
            <a:pathLst>
              <a:path w="183451" h="163068">
                <a:moveTo>
                  <a:pt x="133607" y="30575"/>
                </a:moveTo>
                <a:cubicBezTo>
                  <a:pt x="128320" y="30575"/>
                  <a:pt x="123192" y="32008"/>
                  <a:pt x="118702" y="34620"/>
                </a:cubicBezTo>
                <a:cubicBezTo>
                  <a:pt x="113669" y="29524"/>
                  <a:pt x="107809" y="25256"/>
                  <a:pt x="101344" y="22039"/>
                </a:cubicBezTo>
                <a:cubicBezTo>
                  <a:pt x="110325" y="14396"/>
                  <a:pt x="121759" y="10191"/>
                  <a:pt x="133607" y="10191"/>
                </a:cubicBezTo>
                <a:cubicBezTo>
                  <a:pt x="161125" y="10191"/>
                  <a:pt x="183451" y="32485"/>
                  <a:pt x="183451" y="60036"/>
                </a:cubicBezTo>
                <a:cubicBezTo>
                  <a:pt x="183451" y="73253"/>
                  <a:pt x="178196" y="85929"/>
                  <a:pt x="168864" y="95260"/>
                </a:cubicBezTo>
                <a:lnTo>
                  <a:pt x="146219" y="117906"/>
                </a:lnTo>
                <a:cubicBezTo>
                  <a:pt x="136887" y="127237"/>
                  <a:pt x="124211" y="132493"/>
                  <a:pt x="110994" y="132493"/>
                </a:cubicBezTo>
                <a:cubicBezTo>
                  <a:pt x="83476" y="132493"/>
                  <a:pt x="61150" y="110197"/>
                  <a:pt x="61150" y="82648"/>
                </a:cubicBezTo>
                <a:cubicBezTo>
                  <a:pt x="61150" y="82170"/>
                  <a:pt x="61150" y="81693"/>
                  <a:pt x="61182" y="81215"/>
                </a:cubicBezTo>
                <a:cubicBezTo>
                  <a:pt x="61341" y="75578"/>
                  <a:pt x="66023" y="71150"/>
                  <a:pt x="71660" y="71310"/>
                </a:cubicBezTo>
                <a:cubicBezTo>
                  <a:pt x="77297" y="71469"/>
                  <a:pt x="81725" y="76151"/>
                  <a:pt x="81565" y="81788"/>
                </a:cubicBezTo>
                <a:cubicBezTo>
                  <a:pt x="81565" y="82075"/>
                  <a:pt x="81565" y="82361"/>
                  <a:pt x="81565" y="82616"/>
                </a:cubicBezTo>
                <a:cubicBezTo>
                  <a:pt x="81565" y="98892"/>
                  <a:pt x="94751" y="112077"/>
                  <a:pt x="111025" y="112077"/>
                </a:cubicBezTo>
                <a:cubicBezTo>
                  <a:pt x="118829" y="112077"/>
                  <a:pt x="126314" y="108987"/>
                  <a:pt x="131856" y="103445"/>
                </a:cubicBezTo>
                <a:lnTo>
                  <a:pt x="154500" y="80801"/>
                </a:lnTo>
                <a:cubicBezTo>
                  <a:pt x="160010" y="75291"/>
                  <a:pt x="163131" y="67775"/>
                  <a:pt x="163131" y="59972"/>
                </a:cubicBezTo>
                <a:cubicBezTo>
                  <a:pt x="163131" y="43696"/>
                  <a:pt x="149945" y="30511"/>
                  <a:pt x="133671" y="30511"/>
                </a:cubicBezTo>
                <a:close/>
                <a:moveTo>
                  <a:pt x="87649" y="55194"/>
                </a:moveTo>
                <a:cubicBezTo>
                  <a:pt x="87044" y="54940"/>
                  <a:pt x="86439" y="54589"/>
                  <a:pt x="85897" y="54207"/>
                </a:cubicBezTo>
                <a:cubicBezTo>
                  <a:pt x="81884" y="52136"/>
                  <a:pt x="77297" y="50958"/>
                  <a:pt x="72489" y="50958"/>
                </a:cubicBezTo>
                <a:cubicBezTo>
                  <a:pt x="64685" y="50958"/>
                  <a:pt x="57200" y="54048"/>
                  <a:pt x="51659" y="59590"/>
                </a:cubicBezTo>
                <a:lnTo>
                  <a:pt x="29014" y="82234"/>
                </a:lnTo>
                <a:cubicBezTo>
                  <a:pt x="23504" y="87744"/>
                  <a:pt x="20383" y="95260"/>
                  <a:pt x="20383" y="103063"/>
                </a:cubicBezTo>
                <a:cubicBezTo>
                  <a:pt x="20383" y="119339"/>
                  <a:pt x="33569" y="132524"/>
                  <a:pt x="49843" y="132524"/>
                </a:cubicBezTo>
                <a:cubicBezTo>
                  <a:pt x="55099" y="132524"/>
                  <a:pt x="60227" y="131123"/>
                  <a:pt x="64717" y="128511"/>
                </a:cubicBezTo>
                <a:cubicBezTo>
                  <a:pt x="69749" y="133607"/>
                  <a:pt x="75609" y="137875"/>
                  <a:pt x="82107" y="141091"/>
                </a:cubicBezTo>
                <a:cubicBezTo>
                  <a:pt x="73126" y="148703"/>
                  <a:pt x="61723" y="152940"/>
                  <a:pt x="49843" y="152940"/>
                </a:cubicBezTo>
                <a:cubicBezTo>
                  <a:pt x="22326" y="152940"/>
                  <a:pt x="0" y="130646"/>
                  <a:pt x="0" y="103095"/>
                </a:cubicBezTo>
                <a:cubicBezTo>
                  <a:pt x="0" y="89878"/>
                  <a:pt x="5254" y="77202"/>
                  <a:pt x="14587" y="67870"/>
                </a:cubicBezTo>
                <a:lnTo>
                  <a:pt x="37231" y="45225"/>
                </a:lnTo>
                <a:cubicBezTo>
                  <a:pt x="46563" y="35894"/>
                  <a:pt x="59239" y="30638"/>
                  <a:pt x="72457" y="30638"/>
                </a:cubicBezTo>
                <a:cubicBezTo>
                  <a:pt x="100038" y="30638"/>
                  <a:pt x="122300" y="53124"/>
                  <a:pt x="122300" y="80610"/>
                </a:cubicBezTo>
                <a:cubicBezTo>
                  <a:pt x="122300" y="81024"/>
                  <a:pt x="122300" y="81438"/>
                  <a:pt x="122300" y="81852"/>
                </a:cubicBezTo>
                <a:cubicBezTo>
                  <a:pt x="122173" y="87489"/>
                  <a:pt x="117491" y="91917"/>
                  <a:pt x="111854" y="91789"/>
                </a:cubicBezTo>
                <a:cubicBezTo>
                  <a:pt x="106217" y="91662"/>
                  <a:pt x="101790" y="86980"/>
                  <a:pt x="101917" y="81342"/>
                </a:cubicBezTo>
                <a:cubicBezTo>
                  <a:pt x="101917" y="81088"/>
                  <a:pt x="101917" y="80865"/>
                  <a:pt x="101917" y="80610"/>
                </a:cubicBezTo>
                <a:cubicBezTo>
                  <a:pt x="101917" y="69877"/>
                  <a:pt x="96184" y="60450"/>
                  <a:pt x="87649" y="5525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4" name="dsl:shape2"/>
          <p:cNvSpPr/>
          <p:nvPr/>
        </p:nvSpPr>
        <p:spPr>
          <a:xfrm>
            <a:off x="833342" y="434816"/>
            <a:ext cx="1603248" cy="21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ext3"/>
          <p:cNvSpPr txBox="1"/>
          <p:nvPr/>
        </p:nvSpPr>
        <p:spPr>
          <a:xfrm>
            <a:off x="741902" y="389096"/>
            <a:ext cx="1786128" cy="308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139" noProof="1" spc="57">
                <a:solidFill>
                  <a:srgbClr val="6366F1"/>
                </a:solidFill>
                <a:latin typeface="Liter"/>
                <a:ea typeface="Liter"/>
              </a:rPr>
              <a:t>Cross-layer Links</a:t>
            </a:r>
          </a:p>
        </p:txBody>
      </p:sp>
      <p:sp>
        <p:nvSpPr>
          <p:cNvPr id="6" name="dsl:shape4"/>
          <p:cNvSpPr/>
          <p:nvPr/>
        </p:nvSpPr>
        <p:spPr>
          <a:xfrm>
            <a:off x="362331" y="833342"/>
            <a:ext cx="11630406" cy="3623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text5"/>
          <p:cNvSpPr txBox="1"/>
          <p:nvPr/>
        </p:nvSpPr>
        <p:spPr>
          <a:xfrm>
            <a:off x="270891" y="787622"/>
            <a:ext cx="11813286" cy="4537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b="1" sz="2565" noProof="1">
                <a:solidFill>
                  <a:srgbClr val="EFEFEF"/>
                </a:solidFill>
                <a:latin typeface="Liter"/>
                <a:ea typeface="Liter"/>
              </a:rPr>
              <a:t>Связи между уровнями</a:t>
            </a:r>
          </a:p>
        </p:txBody>
      </p:sp>
      <p:sp>
        <p:nvSpPr>
          <p:cNvPr id="8" name="dsl:shape6"/>
          <p:cNvSpPr/>
          <p:nvPr/>
        </p:nvSpPr>
        <p:spPr>
          <a:xfrm>
            <a:off x="362331" y="1268158"/>
            <a:ext cx="11548872" cy="253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text7"/>
          <p:cNvSpPr txBox="1"/>
          <p:nvPr/>
        </p:nvSpPr>
        <p:spPr>
          <a:xfrm>
            <a:off x="270891" y="1222438"/>
            <a:ext cx="11731752" cy="34509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82" noProof="1">
                <a:solidFill>
                  <a:srgbClr val="8F8F8F"/>
                </a:solidFill>
                <a:latin typeface="Liter"/>
                <a:ea typeface="Liter"/>
              </a:rPr>
              <a:t>Вертикальная интеграция разметки</a:t>
            </a:r>
          </a:p>
        </p:txBody>
      </p:sp>
      <p:sp>
        <p:nvSpPr>
          <p:cNvPr id="10" name="dsl:shape8"/>
          <p:cNvSpPr/>
          <p:nvPr/>
        </p:nvSpPr>
        <p:spPr>
          <a:xfrm>
            <a:off x="365379" y="1669637"/>
            <a:ext cx="11455241" cy="5187219"/>
          </a:xfrm>
          <a:custGeom>
            <a:avLst/>
            <a:gdLst/>
            <a:ahLst/>
            <a:cxnLst/>
            <a:rect l="l" t="t" r="r" b="b"/>
            <a:pathLst>
              <a:path w="11455241" h="5187219">
                <a:moveTo>
                  <a:pt x="108671" y="0"/>
                </a:moveTo>
                <a:lnTo>
                  <a:pt x="11346569" y="0"/>
                </a:lnTo>
                <a:cubicBezTo>
                  <a:pt x="11406587" y="0"/>
                  <a:pt x="11455241" y="48654"/>
                  <a:pt x="11455241" y="108672"/>
                </a:cubicBezTo>
                <a:lnTo>
                  <a:pt x="11455241" y="5078546"/>
                </a:lnTo>
                <a:cubicBezTo>
                  <a:pt x="11455241" y="5138564"/>
                  <a:pt x="11406587" y="5187219"/>
                  <a:pt x="11346569" y="5187219"/>
                </a:cubicBezTo>
                <a:lnTo>
                  <a:pt x="108671" y="5187219"/>
                </a:lnTo>
                <a:cubicBezTo>
                  <a:pt x="48653" y="5187219"/>
                  <a:pt x="0" y="5138564"/>
                  <a:pt x="0" y="5078546"/>
                </a:cubicBezTo>
                <a:lnTo>
                  <a:pt x="0" y="108672"/>
                </a:lnTo>
                <a:cubicBezTo>
                  <a:pt x="0" y="48694"/>
                  <a:pt x="48693" y="0"/>
                  <a:pt x="108671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1" name="dsl:shape9"/>
          <p:cNvSpPr/>
          <p:nvPr/>
        </p:nvSpPr>
        <p:spPr>
          <a:xfrm>
            <a:off x="2040064" y="1893093"/>
            <a:ext cx="6772370" cy="694467"/>
          </a:xfrm>
          <a:custGeom>
            <a:avLst/>
            <a:gdLst/>
            <a:ahLst/>
            <a:cxnLst/>
            <a:rect l="l" t="t" r="r" b="b"/>
            <a:pathLst>
              <a:path w="6772370" h="694467">
                <a:moveTo>
                  <a:pt x="72465" y="0"/>
                </a:moveTo>
                <a:lnTo>
                  <a:pt x="6699904" y="0"/>
                </a:lnTo>
                <a:cubicBezTo>
                  <a:pt x="6739925" y="0"/>
                  <a:pt x="6772370" y="32445"/>
                  <a:pt x="6772370" y="72467"/>
                </a:cubicBezTo>
                <a:lnTo>
                  <a:pt x="6772370" y="621999"/>
                </a:lnTo>
                <a:cubicBezTo>
                  <a:pt x="6772370" y="662021"/>
                  <a:pt x="6739925" y="694467"/>
                  <a:pt x="6699904" y="694467"/>
                </a:cubicBezTo>
                <a:lnTo>
                  <a:pt x="72465" y="694467"/>
                </a:lnTo>
                <a:cubicBezTo>
                  <a:pt x="32444" y="694467"/>
                  <a:pt x="0" y="662021"/>
                  <a:pt x="0" y="621999"/>
                </a:cubicBezTo>
                <a:lnTo>
                  <a:pt x="0" y="72467"/>
                </a:lnTo>
                <a:cubicBezTo>
                  <a:pt x="0" y="32445"/>
                  <a:pt x="32444" y="0"/>
                  <a:pt x="72465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2" name="dsl:shape10"/>
          <p:cNvSpPr/>
          <p:nvPr/>
        </p:nvSpPr>
        <p:spPr>
          <a:xfrm>
            <a:off x="2210657" y="2149792"/>
            <a:ext cx="181165" cy="181165"/>
          </a:xfrm>
          <a:custGeom>
            <a:avLst/>
            <a:gdLst/>
            <a:ahLst/>
            <a:cxnLst/>
            <a:rect l="l" t="t" r="r" b="b"/>
            <a:pathLst>
              <a:path w="181165" h="181165">
                <a:moveTo>
                  <a:pt x="22645" y="33968"/>
                </a:moveTo>
                <a:cubicBezTo>
                  <a:pt x="22645" y="27705"/>
                  <a:pt x="27705" y="22645"/>
                  <a:pt x="33968" y="22645"/>
                </a:cubicBezTo>
                <a:lnTo>
                  <a:pt x="90581" y="22645"/>
                </a:lnTo>
                <a:cubicBezTo>
                  <a:pt x="96845" y="22645"/>
                  <a:pt x="101905" y="27705"/>
                  <a:pt x="101905" y="33968"/>
                </a:cubicBezTo>
                <a:lnTo>
                  <a:pt x="101905" y="135873"/>
                </a:lnTo>
                <a:lnTo>
                  <a:pt x="135873" y="135873"/>
                </a:lnTo>
                <a:lnTo>
                  <a:pt x="135873" y="90581"/>
                </a:lnTo>
                <a:cubicBezTo>
                  <a:pt x="135873" y="84319"/>
                  <a:pt x="140933" y="79259"/>
                  <a:pt x="147196" y="79259"/>
                </a:cubicBezTo>
                <a:lnTo>
                  <a:pt x="169842" y="79259"/>
                </a:lnTo>
                <a:cubicBezTo>
                  <a:pt x="176104" y="79259"/>
                  <a:pt x="181165" y="84319"/>
                  <a:pt x="181165" y="90581"/>
                </a:cubicBezTo>
                <a:cubicBezTo>
                  <a:pt x="181165" y="96845"/>
                  <a:pt x="176104" y="101905"/>
                  <a:pt x="169842" y="101905"/>
                </a:cubicBezTo>
                <a:lnTo>
                  <a:pt x="158519" y="101905"/>
                </a:lnTo>
                <a:lnTo>
                  <a:pt x="158519" y="147196"/>
                </a:lnTo>
                <a:cubicBezTo>
                  <a:pt x="158519" y="153459"/>
                  <a:pt x="153459" y="158519"/>
                  <a:pt x="147196" y="158519"/>
                </a:cubicBezTo>
                <a:lnTo>
                  <a:pt x="90581" y="158519"/>
                </a:lnTo>
                <a:cubicBezTo>
                  <a:pt x="84319" y="158519"/>
                  <a:pt x="79259" y="153459"/>
                  <a:pt x="79259" y="147196"/>
                </a:cubicBezTo>
                <a:lnTo>
                  <a:pt x="79259" y="45291"/>
                </a:lnTo>
                <a:lnTo>
                  <a:pt x="45291" y="45291"/>
                </a:lnTo>
                <a:lnTo>
                  <a:pt x="45291" y="90581"/>
                </a:lnTo>
                <a:cubicBezTo>
                  <a:pt x="45291" y="96845"/>
                  <a:pt x="40231" y="101905"/>
                  <a:pt x="33968" y="101905"/>
                </a:cubicBezTo>
                <a:lnTo>
                  <a:pt x="11322" y="101905"/>
                </a:lnTo>
                <a:cubicBezTo>
                  <a:pt x="5060" y="101905"/>
                  <a:pt x="0" y="96845"/>
                  <a:pt x="0" y="90581"/>
                </a:cubicBezTo>
                <a:cubicBezTo>
                  <a:pt x="0" y="84319"/>
                  <a:pt x="5060" y="79259"/>
                  <a:pt x="11322" y="79259"/>
                </a:cubicBezTo>
                <a:lnTo>
                  <a:pt x="22645" y="79259"/>
                </a:lnTo>
                <a:lnTo>
                  <a:pt x="22645" y="33968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3" name="dsl:shape11"/>
          <p:cNvSpPr/>
          <p:nvPr/>
        </p:nvSpPr>
        <p:spPr>
          <a:xfrm>
            <a:off x="2523077" y="2041017"/>
            <a:ext cx="1096041" cy="21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xt12"/>
          <p:cNvSpPr txBox="1"/>
          <p:nvPr/>
        </p:nvSpPr>
        <p:spPr>
          <a:xfrm>
            <a:off x="2431637" y="1995297"/>
            <a:ext cx="1278921" cy="308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139" noProof="1">
                <a:solidFill>
                  <a:srgbClr val="EFEFEF"/>
                </a:solidFill>
                <a:latin typeface="Liter"/>
                <a:ea typeface="Liter"/>
              </a:rPr>
              <a:t>Аудио-сегмент</a:t>
            </a:r>
          </a:p>
        </p:txBody>
      </p:sp>
      <p:sp>
        <p:nvSpPr>
          <p:cNvPr id="15" name="dsl:shape13"/>
          <p:cNvSpPr/>
          <p:nvPr/>
        </p:nvSpPr>
        <p:spPr>
          <a:xfrm>
            <a:off x="2523077" y="2258472"/>
            <a:ext cx="1086993" cy="1811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text14"/>
          <p:cNvSpPr txBox="1"/>
          <p:nvPr/>
        </p:nvSpPr>
        <p:spPr>
          <a:xfrm>
            <a:off x="2431637" y="2212752"/>
            <a:ext cx="1269873" cy="2726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7" noProof="1">
                <a:solidFill>
                  <a:srgbClr val="8F8F8F"/>
                </a:solidFill>
                <a:latin typeface="MiSans"/>
                <a:ea typeface="MiSans"/>
              </a:rPr>
              <a:t>0.5-2.1s</a:t>
            </a:r>
          </a:p>
        </p:txBody>
      </p:sp>
      <p:sp>
        <p:nvSpPr>
          <p:cNvPr id="17" name="dsl:shape15"/>
          <p:cNvSpPr/>
          <p:nvPr/>
        </p:nvSpPr>
        <p:spPr>
          <a:xfrm>
            <a:off x="9014364" y="2131599"/>
            <a:ext cx="163068" cy="217360"/>
          </a:xfrm>
          <a:custGeom>
            <a:avLst/>
            <a:gdLst/>
            <a:ahLst/>
            <a:cxnLst/>
            <a:rect l="l" t="t" r="r" b="b"/>
            <a:pathLst>
              <a:path w="163068" h="217360">
                <a:moveTo>
                  <a:pt x="71937" y="213369"/>
                </a:moveTo>
                <a:cubicBezTo>
                  <a:pt x="77244" y="218675"/>
                  <a:pt x="85865" y="218675"/>
                  <a:pt x="91173" y="213369"/>
                </a:cubicBezTo>
                <a:lnTo>
                  <a:pt x="159118" y="145444"/>
                </a:lnTo>
                <a:cubicBezTo>
                  <a:pt x="164427" y="140138"/>
                  <a:pt x="164427" y="131519"/>
                  <a:pt x="159118" y="126212"/>
                </a:cubicBezTo>
                <a:cubicBezTo>
                  <a:pt x="153810" y="120906"/>
                  <a:pt x="145190" y="120906"/>
                  <a:pt x="139881" y="126212"/>
                </a:cubicBezTo>
                <a:lnTo>
                  <a:pt x="95122" y="170958"/>
                </a:lnTo>
                <a:lnTo>
                  <a:pt x="95122" y="13585"/>
                </a:lnTo>
                <a:cubicBezTo>
                  <a:pt x="95122" y="6071"/>
                  <a:pt x="89050" y="0"/>
                  <a:pt x="81534" y="0"/>
                </a:cubicBezTo>
                <a:cubicBezTo>
                  <a:pt x="74017" y="0"/>
                  <a:pt x="67945" y="6071"/>
                  <a:pt x="67945" y="13585"/>
                </a:cubicBezTo>
                <a:lnTo>
                  <a:pt x="67945" y="170958"/>
                </a:lnTo>
                <a:lnTo>
                  <a:pt x="23186" y="126212"/>
                </a:lnTo>
                <a:cubicBezTo>
                  <a:pt x="17877" y="120906"/>
                  <a:pt x="9257" y="120906"/>
                  <a:pt x="3949" y="126212"/>
                </a:cubicBezTo>
                <a:cubicBezTo>
                  <a:pt x="-1359" y="131519"/>
                  <a:pt x="-1359" y="140138"/>
                  <a:pt x="3949" y="145444"/>
                </a:cubicBezTo>
                <a:lnTo>
                  <a:pt x="71894" y="213369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8" name="dsl:shape16"/>
          <p:cNvSpPr/>
          <p:nvPr/>
        </p:nvSpPr>
        <p:spPr>
          <a:xfrm>
            <a:off x="9304210" y="2077307"/>
            <a:ext cx="851439" cy="326040"/>
          </a:xfrm>
          <a:custGeom>
            <a:avLst/>
            <a:gdLst/>
            <a:ahLst/>
            <a:cxnLst/>
            <a:rect l="l" t="t" r="r" b="b"/>
            <a:pathLst>
              <a:path w="851439" h="326040">
                <a:moveTo>
                  <a:pt x="36230" y="0"/>
                </a:moveTo>
                <a:lnTo>
                  <a:pt x="815208" y="0"/>
                </a:lnTo>
                <a:cubicBezTo>
                  <a:pt x="835218" y="0"/>
                  <a:pt x="851439" y="16218"/>
                  <a:pt x="851439" y="36225"/>
                </a:cubicBezTo>
                <a:lnTo>
                  <a:pt x="851439" y="289814"/>
                </a:lnTo>
                <a:cubicBezTo>
                  <a:pt x="851439" y="309821"/>
                  <a:pt x="835218" y="326040"/>
                  <a:pt x="815208" y="326040"/>
                </a:cubicBezTo>
                <a:lnTo>
                  <a:pt x="36230" y="326040"/>
                </a:lnTo>
                <a:cubicBezTo>
                  <a:pt x="16220" y="326040"/>
                  <a:pt x="0" y="309821"/>
                  <a:pt x="0" y="289814"/>
                </a:cubicBezTo>
                <a:lnTo>
                  <a:pt x="0" y="36225"/>
                </a:lnTo>
                <a:cubicBezTo>
                  <a:pt x="0" y="16232"/>
                  <a:pt x="16234" y="0"/>
                  <a:pt x="362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19" name="dsl:shape17"/>
          <p:cNvSpPr/>
          <p:nvPr/>
        </p:nvSpPr>
        <p:spPr>
          <a:xfrm>
            <a:off x="9412890" y="2149792"/>
            <a:ext cx="694753" cy="1811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text18"/>
          <p:cNvSpPr txBox="1"/>
          <p:nvPr/>
        </p:nvSpPr>
        <p:spPr>
          <a:xfrm>
            <a:off x="9321450" y="2104072"/>
            <a:ext cx="877633" cy="2726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997" noProof="1">
                <a:solidFill>
                  <a:srgbClr val="6366F1"/>
                </a:solidFill>
                <a:latin typeface="Liter"/>
                <a:ea typeface="Liter"/>
              </a:rPr>
              <a:t>aligns_with</a:t>
            </a:r>
          </a:p>
        </p:txBody>
      </p:sp>
      <p:sp>
        <p:nvSpPr>
          <p:cNvPr id="21" name="dsl:shape19"/>
          <p:cNvSpPr/>
          <p:nvPr/>
        </p:nvSpPr>
        <p:spPr>
          <a:xfrm>
            <a:off x="2474785" y="2702242"/>
            <a:ext cx="6500622" cy="694467"/>
          </a:xfrm>
          <a:custGeom>
            <a:avLst/>
            <a:gdLst/>
            <a:ahLst/>
            <a:cxnLst/>
            <a:rect l="l" t="t" r="r" b="b"/>
            <a:pathLst>
              <a:path w="6500622" h="694467">
                <a:moveTo>
                  <a:pt x="72465" y="0"/>
                </a:moveTo>
                <a:lnTo>
                  <a:pt x="6428156" y="0"/>
                </a:lnTo>
                <a:cubicBezTo>
                  <a:pt x="6468178" y="0"/>
                  <a:pt x="6500622" y="32445"/>
                  <a:pt x="6500622" y="72467"/>
                </a:cubicBezTo>
                <a:lnTo>
                  <a:pt x="6500622" y="621999"/>
                </a:lnTo>
                <a:cubicBezTo>
                  <a:pt x="6500622" y="662021"/>
                  <a:pt x="6468178" y="694467"/>
                  <a:pt x="6428156" y="694467"/>
                </a:cubicBezTo>
                <a:lnTo>
                  <a:pt x="72465" y="694467"/>
                </a:lnTo>
                <a:cubicBezTo>
                  <a:pt x="32444" y="694467"/>
                  <a:pt x="0" y="662021"/>
                  <a:pt x="0" y="621999"/>
                </a:cubicBezTo>
                <a:lnTo>
                  <a:pt x="0" y="72467"/>
                </a:lnTo>
                <a:cubicBezTo>
                  <a:pt x="0" y="32445"/>
                  <a:pt x="32444" y="0"/>
                  <a:pt x="72465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6366F1"/>
            </a:solidFill>
            <a:prstDash val="solid"/>
          </a:ln>
          <a:effectLst/>
        </p:spPr>
      </p:sp>
      <p:sp>
        <p:nvSpPr>
          <p:cNvPr id="22" name="dsl:shape20"/>
          <p:cNvSpPr/>
          <p:nvPr/>
        </p:nvSpPr>
        <p:spPr>
          <a:xfrm>
            <a:off x="2645378" y="2958941"/>
            <a:ext cx="181165" cy="181165"/>
          </a:xfrm>
          <a:custGeom>
            <a:avLst/>
            <a:gdLst/>
            <a:ahLst/>
            <a:cxnLst/>
            <a:rect l="l" t="t" r="r" b="b"/>
            <a:pathLst>
              <a:path w="181165" h="181165">
                <a:moveTo>
                  <a:pt x="100879" y="17939"/>
                </a:moveTo>
                <a:cubicBezTo>
                  <a:pt x="99039" y="13905"/>
                  <a:pt x="95005" y="11322"/>
                  <a:pt x="90581" y="11322"/>
                </a:cubicBezTo>
                <a:cubicBezTo>
                  <a:pt x="86159" y="11322"/>
                  <a:pt x="82125" y="13905"/>
                  <a:pt x="80285" y="17939"/>
                </a:cubicBezTo>
                <a:lnTo>
                  <a:pt x="21053" y="147196"/>
                </a:lnTo>
                <a:lnTo>
                  <a:pt x="16984" y="147196"/>
                </a:lnTo>
                <a:cubicBezTo>
                  <a:pt x="10721" y="147196"/>
                  <a:pt x="5661" y="152256"/>
                  <a:pt x="5661" y="158519"/>
                </a:cubicBezTo>
                <a:cubicBezTo>
                  <a:pt x="5661" y="164782"/>
                  <a:pt x="10721" y="169842"/>
                  <a:pt x="16984" y="169842"/>
                </a:cubicBezTo>
                <a:lnTo>
                  <a:pt x="48121" y="169842"/>
                </a:lnTo>
                <a:cubicBezTo>
                  <a:pt x="54384" y="169842"/>
                  <a:pt x="59444" y="164782"/>
                  <a:pt x="59444" y="158519"/>
                </a:cubicBezTo>
                <a:cubicBezTo>
                  <a:pt x="59444" y="152256"/>
                  <a:pt x="54384" y="147196"/>
                  <a:pt x="48121" y="147196"/>
                </a:cubicBezTo>
                <a:lnTo>
                  <a:pt x="45963" y="147196"/>
                </a:lnTo>
                <a:lnTo>
                  <a:pt x="53747" y="130212"/>
                </a:lnTo>
                <a:lnTo>
                  <a:pt x="127452" y="130212"/>
                </a:lnTo>
                <a:lnTo>
                  <a:pt x="135236" y="147196"/>
                </a:lnTo>
                <a:lnTo>
                  <a:pt x="133078" y="147196"/>
                </a:lnTo>
                <a:cubicBezTo>
                  <a:pt x="126815" y="147196"/>
                  <a:pt x="121756" y="152256"/>
                  <a:pt x="121756" y="158519"/>
                </a:cubicBezTo>
                <a:cubicBezTo>
                  <a:pt x="121756" y="164782"/>
                  <a:pt x="126815" y="169842"/>
                  <a:pt x="133078" y="169842"/>
                </a:cubicBezTo>
                <a:lnTo>
                  <a:pt x="164216" y="169842"/>
                </a:lnTo>
                <a:cubicBezTo>
                  <a:pt x="170478" y="169842"/>
                  <a:pt x="175538" y="164782"/>
                  <a:pt x="175538" y="158519"/>
                </a:cubicBezTo>
                <a:cubicBezTo>
                  <a:pt x="175538" y="152256"/>
                  <a:pt x="170478" y="147196"/>
                  <a:pt x="164216" y="147196"/>
                </a:cubicBezTo>
                <a:lnTo>
                  <a:pt x="160147" y="147196"/>
                </a:lnTo>
                <a:lnTo>
                  <a:pt x="100914" y="17939"/>
                </a:lnTo>
                <a:close/>
                <a:moveTo>
                  <a:pt x="117049" y="107566"/>
                </a:moveTo>
                <a:lnTo>
                  <a:pt x="64115" y="107566"/>
                </a:lnTo>
                <a:lnTo>
                  <a:pt x="90581" y="49820"/>
                </a:lnTo>
                <a:lnTo>
                  <a:pt x="117049" y="107566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3" name="dsl:shape21"/>
          <p:cNvSpPr/>
          <p:nvPr/>
        </p:nvSpPr>
        <p:spPr>
          <a:xfrm>
            <a:off x="2957893" y="2850261"/>
            <a:ext cx="1322451" cy="21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text22"/>
          <p:cNvSpPr txBox="1"/>
          <p:nvPr/>
        </p:nvSpPr>
        <p:spPr>
          <a:xfrm>
            <a:off x="2866453" y="2804541"/>
            <a:ext cx="1505331" cy="308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139" noProof="1">
                <a:solidFill>
                  <a:srgbClr val="EFEFEF"/>
                </a:solidFill>
                <a:latin typeface="Liter"/>
                <a:ea typeface="Liter"/>
              </a:rPr>
              <a:t>Токен "включи"</a:t>
            </a:r>
          </a:p>
        </p:txBody>
      </p:sp>
      <p:sp>
        <p:nvSpPr>
          <p:cNvPr id="25" name="dsl:shape23"/>
          <p:cNvSpPr/>
          <p:nvPr/>
        </p:nvSpPr>
        <p:spPr>
          <a:xfrm>
            <a:off x="2957893" y="3067621"/>
            <a:ext cx="1313402" cy="1811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text24"/>
          <p:cNvSpPr txBox="1"/>
          <p:nvPr/>
        </p:nvSpPr>
        <p:spPr>
          <a:xfrm>
            <a:off x="2866453" y="3021901"/>
            <a:ext cx="1496282" cy="2726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7" noProof="1">
                <a:solidFill>
                  <a:srgbClr val="8F8F8F"/>
                </a:solidFill>
                <a:latin typeface="Liter"/>
                <a:ea typeface="Liter"/>
              </a:rPr>
              <a:t>Лексический уровень</a:t>
            </a:r>
          </a:p>
        </p:txBody>
      </p:sp>
      <p:sp>
        <p:nvSpPr>
          <p:cNvPr id="27" name="dsl:shape25"/>
          <p:cNvSpPr/>
          <p:nvPr/>
        </p:nvSpPr>
        <p:spPr>
          <a:xfrm>
            <a:off x="9181338" y="2940843"/>
            <a:ext cx="163068" cy="217360"/>
          </a:xfrm>
          <a:custGeom>
            <a:avLst/>
            <a:gdLst/>
            <a:ahLst/>
            <a:cxnLst/>
            <a:rect l="l" t="t" r="r" b="b"/>
            <a:pathLst>
              <a:path w="163068" h="217360">
                <a:moveTo>
                  <a:pt x="71937" y="213369"/>
                </a:moveTo>
                <a:cubicBezTo>
                  <a:pt x="77244" y="218675"/>
                  <a:pt x="85865" y="218675"/>
                  <a:pt x="91173" y="213369"/>
                </a:cubicBezTo>
                <a:lnTo>
                  <a:pt x="159118" y="145444"/>
                </a:lnTo>
                <a:cubicBezTo>
                  <a:pt x="164427" y="140138"/>
                  <a:pt x="164427" y="131519"/>
                  <a:pt x="159118" y="126212"/>
                </a:cubicBezTo>
                <a:cubicBezTo>
                  <a:pt x="153810" y="120906"/>
                  <a:pt x="145190" y="120906"/>
                  <a:pt x="139881" y="126212"/>
                </a:cubicBezTo>
                <a:lnTo>
                  <a:pt x="95122" y="170958"/>
                </a:lnTo>
                <a:lnTo>
                  <a:pt x="95122" y="13585"/>
                </a:lnTo>
                <a:cubicBezTo>
                  <a:pt x="95122" y="6071"/>
                  <a:pt x="89050" y="0"/>
                  <a:pt x="81534" y="0"/>
                </a:cubicBezTo>
                <a:cubicBezTo>
                  <a:pt x="74017" y="0"/>
                  <a:pt x="67945" y="6071"/>
                  <a:pt x="67945" y="13585"/>
                </a:cubicBezTo>
                <a:lnTo>
                  <a:pt x="67945" y="170958"/>
                </a:lnTo>
                <a:lnTo>
                  <a:pt x="23186" y="126212"/>
                </a:lnTo>
                <a:cubicBezTo>
                  <a:pt x="17877" y="120906"/>
                  <a:pt x="9257" y="120906"/>
                  <a:pt x="3949" y="126212"/>
                </a:cubicBezTo>
                <a:cubicBezTo>
                  <a:pt x="-1359" y="131519"/>
                  <a:pt x="-1359" y="140138"/>
                  <a:pt x="3949" y="145444"/>
                </a:cubicBezTo>
                <a:lnTo>
                  <a:pt x="71894" y="213369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8" name="dsl:shape26"/>
          <p:cNvSpPr/>
          <p:nvPr/>
        </p:nvSpPr>
        <p:spPr>
          <a:xfrm>
            <a:off x="9471183" y="2886456"/>
            <a:ext cx="679322" cy="326040"/>
          </a:xfrm>
          <a:custGeom>
            <a:avLst/>
            <a:gdLst/>
            <a:ahLst/>
            <a:cxnLst/>
            <a:rect l="l" t="t" r="r" b="b"/>
            <a:pathLst>
              <a:path w="679322" h="326040">
                <a:moveTo>
                  <a:pt x="36229" y="0"/>
                </a:moveTo>
                <a:lnTo>
                  <a:pt x="643092" y="0"/>
                </a:lnTo>
                <a:cubicBezTo>
                  <a:pt x="663101" y="0"/>
                  <a:pt x="679322" y="16218"/>
                  <a:pt x="679322" y="36225"/>
                </a:cubicBezTo>
                <a:lnTo>
                  <a:pt x="679322" y="289814"/>
                </a:lnTo>
                <a:cubicBezTo>
                  <a:pt x="679322" y="309821"/>
                  <a:pt x="663101" y="326040"/>
                  <a:pt x="643092" y="326040"/>
                </a:cubicBezTo>
                <a:lnTo>
                  <a:pt x="36229" y="326040"/>
                </a:lnTo>
                <a:cubicBezTo>
                  <a:pt x="16220" y="326040"/>
                  <a:pt x="0" y="309821"/>
                  <a:pt x="0" y="289814"/>
                </a:cubicBezTo>
                <a:lnTo>
                  <a:pt x="0" y="36225"/>
                </a:lnTo>
                <a:cubicBezTo>
                  <a:pt x="0" y="16232"/>
                  <a:pt x="16234" y="0"/>
                  <a:pt x="3622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29" name="dsl:shape27"/>
          <p:cNvSpPr/>
          <p:nvPr/>
        </p:nvSpPr>
        <p:spPr>
          <a:xfrm>
            <a:off x="9579959" y="2958941"/>
            <a:ext cx="527685" cy="1811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text28"/>
          <p:cNvSpPr txBox="1"/>
          <p:nvPr/>
        </p:nvSpPr>
        <p:spPr>
          <a:xfrm>
            <a:off x="9488519" y="2913221"/>
            <a:ext cx="710565" cy="2726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997" noProof="1">
                <a:solidFill>
                  <a:srgbClr val="6366F1"/>
                </a:solidFill>
                <a:latin typeface="Liter"/>
                <a:ea typeface="Liter"/>
              </a:rPr>
              <a:t>has_pos</a:t>
            </a:r>
          </a:p>
        </p:txBody>
      </p:sp>
      <p:sp>
        <p:nvSpPr>
          <p:cNvPr id="31" name="dsl:shape29"/>
          <p:cNvSpPr/>
          <p:nvPr/>
        </p:nvSpPr>
        <p:spPr>
          <a:xfrm>
            <a:off x="2909601" y="3511486"/>
            <a:ext cx="5803106" cy="694467"/>
          </a:xfrm>
          <a:custGeom>
            <a:avLst/>
            <a:gdLst/>
            <a:ahLst/>
            <a:cxnLst/>
            <a:rect l="l" t="t" r="r" b="b"/>
            <a:pathLst>
              <a:path w="5803106" h="694467">
                <a:moveTo>
                  <a:pt x="72464" y="0"/>
                </a:moveTo>
                <a:lnTo>
                  <a:pt x="5730641" y="0"/>
                </a:lnTo>
                <a:cubicBezTo>
                  <a:pt x="5770663" y="0"/>
                  <a:pt x="5803106" y="32445"/>
                  <a:pt x="5803106" y="72467"/>
                </a:cubicBezTo>
                <a:lnTo>
                  <a:pt x="5803106" y="621999"/>
                </a:lnTo>
                <a:cubicBezTo>
                  <a:pt x="5803106" y="662021"/>
                  <a:pt x="5770663" y="694467"/>
                  <a:pt x="5730641" y="694467"/>
                </a:cubicBezTo>
                <a:lnTo>
                  <a:pt x="72464" y="694467"/>
                </a:lnTo>
                <a:cubicBezTo>
                  <a:pt x="32443" y="694467"/>
                  <a:pt x="0" y="662021"/>
                  <a:pt x="0" y="621999"/>
                </a:cubicBezTo>
                <a:lnTo>
                  <a:pt x="0" y="72467"/>
                </a:lnTo>
                <a:cubicBezTo>
                  <a:pt x="0" y="32445"/>
                  <a:pt x="32443" y="0"/>
                  <a:pt x="72464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32" name="dsl:shape30"/>
          <p:cNvSpPr/>
          <p:nvPr/>
        </p:nvSpPr>
        <p:spPr>
          <a:xfrm>
            <a:off x="3057525" y="3695604"/>
            <a:ext cx="534447" cy="326040"/>
          </a:xfrm>
          <a:custGeom>
            <a:avLst/>
            <a:gdLst/>
            <a:ahLst/>
            <a:cxnLst/>
            <a:rect l="l" t="t" r="r" b="b"/>
            <a:pathLst>
              <a:path w="534447" h="326040">
                <a:moveTo>
                  <a:pt x="36232" y="0"/>
                </a:moveTo>
                <a:lnTo>
                  <a:pt x="498214" y="0"/>
                </a:lnTo>
                <a:cubicBezTo>
                  <a:pt x="518225" y="0"/>
                  <a:pt x="534447" y="16218"/>
                  <a:pt x="534447" y="36225"/>
                </a:cubicBezTo>
                <a:lnTo>
                  <a:pt x="534447" y="289814"/>
                </a:lnTo>
                <a:cubicBezTo>
                  <a:pt x="534447" y="309821"/>
                  <a:pt x="518225" y="326040"/>
                  <a:pt x="498214" y="326040"/>
                </a:cubicBezTo>
                <a:lnTo>
                  <a:pt x="36232" y="326040"/>
                </a:lnTo>
                <a:cubicBezTo>
                  <a:pt x="16221" y="326040"/>
                  <a:pt x="0" y="309821"/>
                  <a:pt x="0" y="289814"/>
                </a:cubicBezTo>
                <a:lnTo>
                  <a:pt x="0" y="36225"/>
                </a:lnTo>
                <a:cubicBezTo>
                  <a:pt x="0" y="16232"/>
                  <a:pt x="16235" y="0"/>
                  <a:pt x="36232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33" name="dsl:shape31"/>
          <p:cNvSpPr/>
          <p:nvPr/>
        </p:nvSpPr>
        <p:spPr>
          <a:xfrm>
            <a:off x="3057525" y="3695604"/>
            <a:ext cx="606837" cy="326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text32"/>
          <p:cNvSpPr txBox="1"/>
          <p:nvPr/>
        </p:nvSpPr>
        <p:spPr>
          <a:xfrm>
            <a:off x="3074765" y="3704272"/>
            <a:ext cx="572357" cy="308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139" noProof="1">
                <a:solidFill>
                  <a:srgbClr val="FFFFFF"/>
                </a:solidFill>
                <a:latin typeface="MiSans"/>
                <a:ea typeface="MiSans"/>
              </a:rPr>
              <a:t>VERB</a:t>
            </a:r>
          </a:p>
        </p:txBody>
      </p:sp>
      <p:sp>
        <p:nvSpPr>
          <p:cNvPr id="35" name="dsl:shape33"/>
          <p:cNvSpPr/>
          <p:nvPr/>
        </p:nvSpPr>
        <p:spPr>
          <a:xfrm>
            <a:off x="3702367" y="3659409"/>
            <a:ext cx="2065210" cy="21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sl:text34"/>
          <p:cNvSpPr txBox="1"/>
          <p:nvPr/>
        </p:nvSpPr>
        <p:spPr>
          <a:xfrm>
            <a:off x="3610927" y="3613689"/>
            <a:ext cx="2248090" cy="308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139" noProof="1">
                <a:solidFill>
                  <a:srgbClr val="EFEFEF"/>
                </a:solidFill>
                <a:latin typeface="Liter"/>
                <a:ea typeface="Liter"/>
              </a:rPr>
              <a:t>Морфосинтаксический</a:t>
            </a:r>
          </a:p>
        </p:txBody>
      </p:sp>
      <p:sp>
        <p:nvSpPr>
          <p:cNvPr id="37" name="dsl:shape35"/>
          <p:cNvSpPr/>
          <p:nvPr/>
        </p:nvSpPr>
        <p:spPr>
          <a:xfrm>
            <a:off x="3702367" y="3876770"/>
            <a:ext cx="2056161" cy="1811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sl:text36"/>
          <p:cNvSpPr txBox="1"/>
          <p:nvPr/>
        </p:nvSpPr>
        <p:spPr>
          <a:xfrm>
            <a:off x="3610927" y="3831050"/>
            <a:ext cx="2239041" cy="2726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7" noProof="1">
                <a:solidFill>
                  <a:srgbClr val="8F8F8F"/>
                </a:solidFill>
                <a:latin typeface="Liter"/>
                <a:ea typeface="Liter"/>
              </a:rPr>
              <a:t>Mood=Imp|Number=Sing|Person=2</a:t>
            </a:r>
          </a:p>
        </p:txBody>
      </p:sp>
      <p:sp>
        <p:nvSpPr>
          <p:cNvPr id="39" name="dsl:shape37"/>
          <p:cNvSpPr/>
          <p:nvPr/>
        </p:nvSpPr>
        <p:spPr>
          <a:xfrm>
            <a:off x="8915495" y="3749992"/>
            <a:ext cx="163068" cy="217360"/>
          </a:xfrm>
          <a:custGeom>
            <a:avLst/>
            <a:gdLst/>
            <a:ahLst/>
            <a:cxnLst/>
            <a:rect l="l" t="t" r="r" b="b"/>
            <a:pathLst>
              <a:path w="163068" h="217360">
                <a:moveTo>
                  <a:pt x="71937" y="213369"/>
                </a:moveTo>
                <a:cubicBezTo>
                  <a:pt x="77244" y="218675"/>
                  <a:pt x="85865" y="218675"/>
                  <a:pt x="91173" y="213369"/>
                </a:cubicBezTo>
                <a:lnTo>
                  <a:pt x="159118" y="145444"/>
                </a:lnTo>
                <a:cubicBezTo>
                  <a:pt x="164427" y="140138"/>
                  <a:pt x="164427" y="131519"/>
                  <a:pt x="159118" y="126212"/>
                </a:cubicBezTo>
                <a:cubicBezTo>
                  <a:pt x="153810" y="120906"/>
                  <a:pt x="145190" y="120906"/>
                  <a:pt x="139881" y="126212"/>
                </a:cubicBezTo>
                <a:lnTo>
                  <a:pt x="95122" y="170958"/>
                </a:lnTo>
                <a:lnTo>
                  <a:pt x="95122" y="13585"/>
                </a:lnTo>
                <a:cubicBezTo>
                  <a:pt x="95122" y="6071"/>
                  <a:pt x="89050" y="0"/>
                  <a:pt x="81534" y="0"/>
                </a:cubicBezTo>
                <a:cubicBezTo>
                  <a:pt x="74017" y="0"/>
                  <a:pt x="67945" y="6071"/>
                  <a:pt x="67945" y="13585"/>
                </a:cubicBezTo>
                <a:lnTo>
                  <a:pt x="67945" y="170958"/>
                </a:lnTo>
                <a:lnTo>
                  <a:pt x="23186" y="126212"/>
                </a:lnTo>
                <a:cubicBezTo>
                  <a:pt x="17877" y="120906"/>
                  <a:pt x="9257" y="120906"/>
                  <a:pt x="3949" y="126212"/>
                </a:cubicBezTo>
                <a:cubicBezTo>
                  <a:pt x="-1359" y="131519"/>
                  <a:pt x="-1359" y="140138"/>
                  <a:pt x="3949" y="145444"/>
                </a:cubicBezTo>
                <a:lnTo>
                  <a:pt x="71894" y="213369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40" name="dsl:shape38"/>
          <p:cNvSpPr/>
          <p:nvPr/>
        </p:nvSpPr>
        <p:spPr>
          <a:xfrm>
            <a:off x="9205341" y="3695604"/>
            <a:ext cx="951071" cy="326040"/>
          </a:xfrm>
          <a:custGeom>
            <a:avLst/>
            <a:gdLst/>
            <a:ahLst/>
            <a:cxnLst/>
            <a:rect l="l" t="t" r="r" b="b"/>
            <a:pathLst>
              <a:path w="951071" h="326040">
                <a:moveTo>
                  <a:pt x="36230" y="0"/>
                </a:moveTo>
                <a:lnTo>
                  <a:pt x="914839" y="0"/>
                </a:lnTo>
                <a:cubicBezTo>
                  <a:pt x="934849" y="0"/>
                  <a:pt x="951071" y="16218"/>
                  <a:pt x="951071" y="36225"/>
                </a:cubicBezTo>
                <a:lnTo>
                  <a:pt x="951071" y="289814"/>
                </a:lnTo>
                <a:cubicBezTo>
                  <a:pt x="951071" y="309821"/>
                  <a:pt x="934849" y="326040"/>
                  <a:pt x="914839" y="326040"/>
                </a:cubicBezTo>
                <a:lnTo>
                  <a:pt x="36230" y="326040"/>
                </a:lnTo>
                <a:cubicBezTo>
                  <a:pt x="16220" y="326040"/>
                  <a:pt x="0" y="309821"/>
                  <a:pt x="0" y="289814"/>
                </a:cubicBezTo>
                <a:lnTo>
                  <a:pt x="0" y="36225"/>
                </a:lnTo>
                <a:cubicBezTo>
                  <a:pt x="0" y="16232"/>
                  <a:pt x="16234" y="0"/>
                  <a:pt x="362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41" name="dsl:shape39"/>
          <p:cNvSpPr/>
          <p:nvPr/>
        </p:nvSpPr>
        <p:spPr>
          <a:xfrm>
            <a:off x="9314021" y="3768090"/>
            <a:ext cx="793622" cy="1811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sl:text40"/>
          <p:cNvSpPr txBox="1"/>
          <p:nvPr/>
        </p:nvSpPr>
        <p:spPr>
          <a:xfrm>
            <a:off x="9222581" y="3722370"/>
            <a:ext cx="976503" cy="2726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997" noProof="1">
                <a:solidFill>
                  <a:srgbClr val="6366F1"/>
                </a:solidFill>
                <a:latin typeface="Liter"/>
                <a:ea typeface="Liter"/>
              </a:rPr>
              <a:t>governed_by</a:t>
            </a:r>
          </a:p>
        </p:txBody>
      </p:sp>
      <p:sp>
        <p:nvSpPr>
          <p:cNvPr id="43" name="dsl:shape41"/>
          <p:cNvSpPr/>
          <p:nvPr/>
        </p:nvSpPr>
        <p:spPr>
          <a:xfrm>
            <a:off x="3344322" y="4320635"/>
            <a:ext cx="5676328" cy="694467"/>
          </a:xfrm>
          <a:custGeom>
            <a:avLst/>
            <a:gdLst/>
            <a:ahLst/>
            <a:cxnLst/>
            <a:rect l="l" t="t" r="r" b="b"/>
            <a:pathLst>
              <a:path w="5676328" h="694467">
                <a:moveTo>
                  <a:pt x="72465" y="0"/>
                </a:moveTo>
                <a:lnTo>
                  <a:pt x="5603862" y="0"/>
                </a:lnTo>
                <a:cubicBezTo>
                  <a:pt x="5643883" y="0"/>
                  <a:pt x="5676328" y="32445"/>
                  <a:pt x="5676328" y="72467"/>
                </a:cubicBezTo>
                <a:lnTo>
                  <a:pt x="5676328" y="621999"/>
                </a:lnTo>
                <a:cubicBezTo>
                  <a:pt x="5676328" y="662021"/>
                  <a:pt x="5643883" y="694467"/>
                  <a:pt x="5603862" y="694467"/>
                </a:cubicBezTo>
                <a:lnTo>
                  <a:pt x="72465" y="694467"/>
                </a:lnTo>
                <a:cubicBezTo>
                  <a:pt x="32444" y="694467"/>
                  <a:pt x="0" y="662021"/>
                  <a:pt x="0" y="621999"/>
                </a:cubicBezTo>
                <a:lnTo>
                  <a:pt x="0" y="72467"/>
                </a:lnTo>
                <a:cubicBezTo>
                  <a:pt x="0" y="32445"/>
                  <a:pt x="32444" y="0"/>
                  <a:pt x="72465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44" name="dsl:shape42"/>
          <p:cNvSpPr/>
          <p:nvPr/>
        </p:nvSpPr>
        <p:spPr>
          <a:xfrm>
            <a:off x="3514915" y="4577238"/>
            <a:ext cx="181165" cy="181165"/>
          </a:xfrm>
          <a:custGeom>
            <a:avLst/>
            <a:gdLst/>
            <a:ahLst/>
            <a:cxnLst/>
            <a:rect l="l" t="t" r="r" b="b"/>
            <a:pathLst>
              <a:path w="181165" h="181165">
                <a:moveTo>
                  <a:pt x="0" y="28306"/>
                </a:moveTo>
                <a:cubicBezTo>
                  <a:pt x="0" y="18930"/>
                  <a:pt x="7607" y="11322"/>
                  <a:pt x="16984" y="11322"/>
                </a:cubicBezTo>
                <a:lnTo>
                  <a:pt x="50952" y="11322"/>
                </a:lnTo>
                <a:cubicBezTo>
                  <a:pt x="60328" y="11322"/>
                  <a:pt x="67937" y="18930"/>
                  <a:pt x="67937" y="28306"/>
                </a:cubicBezTo>
                <a:lnTo>
                  <a:pt x="67937" y="33968"/>
                </a:lnTo>
                <a:lnTo>
                  <a:pt x="113227" y="33968"/>
                </a:lnTo>
                <a:lnTo>
                  <a:pt x="113227" y="28306"/>
                </a:lnTo>
                <a:cubicBezTo>
                  <a:pt x="113227" y="18930"/>
                  <a:pt x="120836" y="11322"/>
                  <a:pt x="130212" y="11322"/>
                </a:cubicBezTo>
                <a:lnTo>
                  <a:pt x="164180" y="11322"/>
                </a:lnTo>
                <a:cubicBezTo>
                  <a:pt x="173557" y="11322"/>
                  <a:pt x="181165" y="18930"/>
                  <a:pt x="181165" y="28306"/>
                </a:cubicBezTo>
                <a:lnTo>
                  <a:pt x="181165" y="62275"/>
                </a:lnTo>
                <a:cubicBezTo>
                  <a:pt x="181165" y="71652"/>
                  <a:pt x="173557" y="79259"/>
                  <a:pt x="164180" y="79259"/>
                </a:cubicBezTo>
                <a:lnTo>
                  <a:pt x="130212" y="79259"/>
                </a:lnTo>
                <a:cubicBezTo>
                  <a:pt x="120836" y="79259"/>
                  <a:pt x="113227" y="71652"/>
                  <a:pt x="113227" y="62275"/>
                </a:cubicBezTo>
                <a:lnTo>
                  <a:pt x="113227" y="56613"/>
                </a:lnTo>
                <a:lnTo>
                  <a:pt x="67937" y="56613"/>
                </a:lnTo>
                <a:lnTo>
                  <a:pt x="67937" y="62275"/>
                </a:lnTo>
                <a:cubicBezTo>
                  <a:pt x="67937" y="64858"/>
                  <a:pt x="67335" y="67335"/>
                  <a:pt x="66309" y="69529"/>
                </a:cubicBezTo>
                <a:lnTo>
                  <a:pt x="90581" y="101905"/>
                </a:lnTo>
                <a:lnTo>
                  <a:pt x="118889" y="101905"/>
                </a:lnTo>
                <a:cubicBezTo>
                  <a:pt x="128266" y="101905"/>
                  <a:pt x="135873" y="109512"/>
                  <a:pt x="135873" y="118889"/>
                </a:cubicBezTo>
                <a:lnTo>
                  <a:pt x="135873" y="152858"/>
                </a:lnTo>
                <a:cubicBezTo>
                  <a:pt x="135873" y="162234"/>
                  <a:pt x="128266" y="169842"/>
                  <a:pt x="118889" y="169842"/>
                </a:cubicBezTo>
                <a:lnTo>
                  <a:pt x="84920" y="169842"/>
                </a:lnTo>
                <a:cubicBezTo>
                  <a:pt x="75544" y="169842"/>
                  <a:pt x="67937" y="162234"/>
                  <a:pt x="67937" y="152858"/>
                </a:cubicBezTo>
                <a:lnTo>
                  <a:pt x="67937" y="118889"/>
                </a:lnTo>
                <a:cubicBezTo>
                  <a:pt x="67937" y="116306"/>
                  <a:pt x="68538" y="113829"/>
                  <a:pt x="69564" y="111635"/>
                </a:cubicBezTo>
                <a:lnTo>
                  <a:pt x="45291" y="79259"/>
                </a:lnTo>
                <a:lnTo>
                  <a:pt x="16984" y="79259"/>
                </a:lnTo>
                <a:cubicBezTo>
                  <a:pt x="7607" y="79259"/>
                  <a:pt x="0" y="71652"/>
                  <a:pt x="0" y="62275"/>
                </a:cubicBezTo>
                <a:lnTo>
                  <a:pt x="0" y="28306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45" name="dsl:shape43"/>
          <p:cNvSpPr/>
          <p:nvPr/>
        </p:nvSpPr>
        <p:spPr>
          <a:xfrm>
            <a:off x="3827430" y="4468558"/>
            <a:ext cx="1521714" cy="21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sl:text44"/>
          <p:cNvSpPr txBox="1"/>
          <p:nvPr/>
        </p:nvSpPr>
        <p:spPr>
          <a:xfrm>
            <a:off x="3735990" y="4422838"/>
            <a:ext cx="1704594" cy="308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139" noProof="1">
                <a:solidFill>
                  <a:srgbClr val="EFEFEF"/>
                </a:solidFill>
                <a:latin typeface="Liter"/>
                <a:ea typeface="Liter"/>
              </a:rPr>
              <a:t>root</a:t>
            </a:r>
          </a:p>
        </p:txBody>
      </p:sp>
      <p:sp>
        <p:nvSpPr>
          <p:cNvPr id="47" name="dsl:shape45"/>
          <p:cNvSpPr/>
          <p:nvPr/>
        </p:nvSpPr>
        <p:spPr>
          <a:xfrm>
            <a:off x="3827430" y="4686014"/>
            <a:ext cx="1512665" cy="1811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sl:text46"/>
          <p:cNvSpPr txBox="1"/>
          <p:nvPr/>
        </p:nvSpPr>
        <p:spPr>
          <a:xfrm>
            <a:off x="3735990" y="4640294"/>
            <a:ext cx="1695545" cy="2726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7" noProof="1">
                <a:solidFill>
                  <a:srgbClr val="8F8F8F"/>
                </a:solidFill>
                <a:latin typeface="Liter"/>
                <a:ea typeface="Liter"/>
              </a:rPr>
              <a:t>Синтаксический уровень</a:t>
            </a:r>
          </a:p>
        </p:txBody>
      </p:sp>
      <p:sp>
        <p:nvSpPr>
          <p:cNvPr id="49" name="dsl:shape47"/>
          <p:cNvSpPr/>
          <p:nvPr/>
        </p:nvSpPr>
        <p:spPr>
          <a:xfrm>
            <a:off x="9220866" y="4559141"/>
            <a:ext cx="163068" cy="217360"/>
          </a:xfrm>
          <a:custGeom>
            <a:avLst/>
            <a:gdLst/>
            <a:ahLst/>
            <a:cxnLst/>
            <a:rect l="l" t="t" r="r" b="b"/>
            <a:pathLst>
              <a:path w="163068" h="217360">
                <a:moveTo>
                  <a:pt x="71937" y="213369"/>
                </a:moveTo>
                <a:cubicBezTo>
                  <a:pt x="77244" y="218675"/>
                  <a:pt x="85865" y="218675"/>
                  <a:pt x="91173" y="213369"/>
                </a:cubicBezTo>
                <a:lnTo>
                  <a:pt x="159118" y="145444"/>
                </a:lnTo>
                <a:cubicBezTo>
                  <a:pt x="164427" y="140138"/>
                  <a:pt x="164427" y="131519"/>
                  <a:pt x="159118" y="126212"/>
                </a:cubicBezTo>
                <a:cubicBezTo>
                  <a:pt x="153810" y="120906"/>
                  <a:pt x="145190" y="120906"/>
                  <a:pt x="139881" y="126212"/>
                </a:cubicBezTo>
                <a:lnTo>
                  <a:pt x="95122" y="170958"/>
                </a:lnTo>
                <a:lnTo>
                  <a:pt x="95122" y="13585"/>
                </a:lnTo>
                <a:cubicBezTo>
                  <a:pt x="95122" y="6071"/>
                  <a:pt x="89050" y="0"/>
                  <a:pt x="81534" y="0"/>
                </a:cubicBezTo>
                <a:cubicBezTo>
                  <a:pt x="74017" y="0"/>
                  <a:pt x="67945" y="6071"/>
                  <a:pt x="67945" y="13585"/>
                </a:cubicBezTo>
                <a:lnTo>
                  <a:pt x="67945" y="170958"/>
                </a:lnTo>
                <a:lnTo>
                  <a:pt x="23186" y="126212"/>
                </a:lnTo>
                <a:cubicBezTo>
                  <a:pt x="17877" y="120906"/>
                  <a:pt x="9257" y="120906"/>
                  <a:pt x="3949" y="126212"/>
                </a:cubicBezTo>
                <a:cubicBezTo>
                  <a:pt x="-1359" y="131519"/>
                  <a:pt x="-1359" y="140138"/>
                  <a:pt x="3949" y="145444"/>
                </a:cubicBezTo>
                <a:lnTo>
                  <a:pt x="71894" y="213369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50" name="dsl:shape48"/>
          <p:cNvSpPr/>
          <p:nvPr/>
        </p:nvSpPr>
        <p:spPr>
          <a:xfrm>
            <a:off x="9510712" y="4504848"/>
            <a:ext cx="643128" cy="326040"/>
          </a:xfrm>
          <a:custGeom>
            <a:avLst/>
            <a:gdLst/>
            <a:ahLst/>
            <a:cxnLst/>
            <a:rect l="l" t="t" r="r" b="b"/>
            <a:pathLst>
              <a:path w="643128" h="326040">
                <a:moveTo>
                  <a:pt x="36231" y="0"/>
                </a:moveTo>
                <a:lnTo>
                  <a:pt x="606896" y="0"/>
                </a:lnTo>
                <a:cubicBezTo>
                  <a:pt x="626906" y="0"/>
                  <a:pt x="643128" y="16218"/>
                  <a:pt x="643128" y="36225"/>
                </a:cubicBezTo>
                <a:lnTo>
                  <a:pt x="643128" y="289814"/>
                </a:lnTo>
                <a:cubicBezTo>
                  <a:pt x="643128" y="309821"/>
                  <a:pt x="626906" y="326040"/>
                  <a:pt x="606896" y="326040"/>
                </a:cubicBezTo>
                <a:lnTo>
                  <a:pt x="36231" y="326040"/>
                </a:lnTo>
                <a:cubicBezTo>
                  <a:pt x="16221" y="326040"/>
                  <a:pt x="0" y="309821"/>
                  <a:pt x="0" y="289814"/>
                </a:cubicBezTo>
                <a:lnTo>
                  <a:pt x="0" y="36225"/>
                </a:lnTo>
                <a:cubicBezTo>
                  <a:pt x="0" y="16232"/>
                  <a:pt x="16235" y="0"/>
                  <a:pt x="362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51" name="dsl:shape49"/>
          <p:cNvSpPr/>
          <p:nvPr/>
        </p:nvSpPr>
        <p:spPr>
          <a:xfrm>
            <a:off x="9619488" y="4577238"/>
            <a:ext cx="488156" cy="1811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sl:text50"/>
          <p:cNvSpPr txBox="1"/>
          <p:nvPr/>
        </p:nvSpPr>
        <p:spPr>
          <a:xfrm>
            <a:off x="9528048" y="4531518"/>
            <a:ext cx="671036" cy="2726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997" noProof="1">
                <a:solidFill>
                  <a:srgbClr val="6366F1"/>
                </a:solidFill>
                <a:latin typeface="Liter"/>
                <a:ea typeface="Liter"/>
              </a:rPr>
              <a:t>realizes</a:t>
            </a:r>
          </a:p>
        </p:txBody>
      </p:sp>
      <p:sp>
        <p:nvSpPr>
          <p:cNvPr id="53" name="dsl:shape51"/>
          <p:cNvSpPr/>
          <p:nvPr/>
        </p:nvSpPr>
        <p:spPr>
          <a:xfrm>
            <a:off x="3779139" y="5129783"/>
            <a:ext cx="4870132" cy="694467"/>
          </a:xfrm>
          <a:custGeom>
            <a:avLst/>
            <a:gdLst/>
            <a:ahLst/>
            <a:cxnLst/>
            <a:rect l="l" t="t" r="r" b="b"/>
            <a:pathLst>
              <a:path w="4870132" h="694467">
                <a:moveTo>
                  <a:pt x="72464" y="0"/>
                </a:moveTo>
                <a:lnTo>
                  <a:pt x="4797666" y="0"/>
                </a:lnTo>
                <a:cubicBezTo>
                  <a:pt x="4837688" y="0"/>
                  <a:pt x="4870132" y="32445"/>
                  <a:pt x="4870132" y="72467"/>
                </a:cubicBezTo>
                <a:lnTo>
                  <a:pt x="4870132" y="621999"/>
                </a:lnTo>
                <a:cubicBezTo>
                  <a:pt x="4870132" y="662021"/>
                  <a:pt x="4837688" y="694467"/>
                  <a:pt x="4797666" y="694467"/>
                </a:cubicBezTo>
                <a:lnTo>
                  <a:pt x="72464" y="694467"/>
                </a:lnTo>
                <a:cubicBezTo>
                  <a:pt x="32443" y="694467"/>
                  <a:pt x="0" y="662021"/>
                  <a:pt x="0" y="621999"/>
                </a:cubicBezTo>
                <a:lnTo>
                  <a:pt x="0" y="72467"/>
                </a:lnTo>
                <a:cubicBezTo>
                  <a:pt x="0" y="32445"/>
                  <a:pt x="32443" y="0"/>
                  <a:pt x="72464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6366F1"/>
            </a:solidFill>
            <a:prstDash val="solid"/>
          </a:ln>
          <a:effectLst/>
        </p:spPr>
      </p:sp>
      <p:sp>
        <p:nvSpPr>
          <p:cNvPr id="54" name="dsl:shape52"/>
          <p:cNvSpPr/>
          <p:nvPr/>
        </p:nvSpPr>
        <p:spPr>
          <a:xfrm>
            <a:off x="3949731" y="5386482"/>
            <a:ext cx="181165" cy="181165"/>
          </a:xfrm>
          <a:custGeom>
            <a:avLst/>
            <a:gdLst/>
            <a:ahLst/>
            <a:cxnLst/>
            <a:rect l="l" t="t" r="r" b="b"/>
            <a:pathLst>
              <a:path w="181165" h="181165">
                <a:moveTo>
                  <a:pt x="158519" y="90581"/>
                </a:moveTo>
                <a:cubicBezTo>
                  <a:pt x="158519" y="53086"/>
                  <a:pt x="128078" y="22645"/>
                  <a:pt x="90581" y="22645"/>
                </a:cubicBezTo>
                <a:cubicBezTo>
                  <a:pt x="53086" y="22645"/>
                  <a:pt x="22645" y="53086"/>
                  <a:pt x="22645" y="90581"/>
                </a:cubicBezTo>
                <a:cubicBezTo>
                  <a:pt x="22645" y="128078"/>
                  <a:pt x="53086" y="158519"/>
                  <a:pt x="90581" y="158519"/>
                </a:cubicBezTo>
                <a:cubicBezTo>
                  <a:pt x="128078" y="158519"/>
                  <a:pt x="158519" y="128078"/>
                  <a:pt x="158519" y="90581"/>
                </a:cubicBezTo>
                <a:close/>
                <a:moveTo>
                  <a:pt x="0" y="90581"/>
                </a:moveTo>
                <a:cubicBezTo>
                  <a:pt x="0" y="40588"/>
                  <a:pt x="40588" y="0"/>
                  <a:pt x="90581" y="0"/>
                </a:cubicBezTo>
                <a:cubicBezTo>
                  <a:pt x="140576" y="0"/>
                  <a:pt x="181165" y="40588"/>
                  <a:pt x="181165" y="90581"/>
                </a:cubicBezTo>
                <a:cubicBezTo>
                  <a:pt x="181165" y="140576"/>
                  <a:pt x="140576" y="181165"/>
                  <a:pt x="90581" y="181165"/>
                </a:cubicBezTo>
                <a:cubicBezTo>
                  <a:pt x="40588" y="181165"/>
                  <a:pt x="0" y="140576"/>
                  <a:pt x="0" y="90581"/>
                </a:cubicBezTo>
                <a:close/>
                <a:moveTo>
                  <a:pt x="90581" y="118889"/>
                </a:moveTo>
                <a:cubicBezTo>
                  <a:pt x="106205" y="118889"/>
                  <a:pt x="118889" y="106205"/>
                  <a:pt x="118889" y="90581"/>
                </a:cubicBezTo>
                <a:cubicBezTo>
                  <a:pt x="118889" y="74959"/>
                  <a:pt x="106205" y="62275"/>
                  <a:pt x="90581" y="62275"/>
                </a:cubicBezTo>
                <a:cubicBezTo>
                  <a:pt x="74959" y="62275"/>
                  <a:pt x="62275" y="74959"/>
                  <a:pt x="62275" y="90581"/>
                </a:cubicBezTo>
                <a:cubicBezTo>
                  <a:pt x="62275" y="106205"/>
                  <a:pt x="74959" y="118889"/>
                  <a:pt x="90581" y="118889"/>
                </a:cubicBezTo>
                <a:close/>
                <a:moveTo>
                  <a:pt x="90581" y="39630"/>
                </a:moveTo>
                <a:cubicBezTo>
                  <a:pt x="118703" y="39630"/>
                  <a:pt x="141534" y="62461"/>
                  <a:pt x="141534" y="90581"/>
                </a:cubicBezTo>
                <a:cubicBezTo>
                  <a:pt x="141534" y="118703"/>
                  <a:pt x="118703" y="141534"/>
                  <a:pt x="90581" y="141534"/>
                </a:cubicBezTo>
                <a:cubicBezTo>
                  <a:pt x="62461" y="141534"/>
                  <a:pt x="39630" y="118703"/>
                  <a:pt x="39630" y="90581"/>
                </a:cubicBezTo>
                <a:cubicBezTo>
                  <a:pt x="39630" y="62461"/>
                  <a:pt x="62461" y="39630"/>
                  <a:pt x="90581" y="39630"/>
                </a:cubicBezTo>
                <a:close/>
                <a:moveTo>
                  <a:pt x="79259" y="90581"/>
                </a:moveTo>
                <a:cubicBezTo>
                  <a:pt x="79259" y="84332"/>
                  <a:pt x="84332" y="79259"/>
                  <a:pt x="90581" y="79259"/>
                </a:cubicBezTo>
                <a:cubicBezTo>
                  <a:pt x="96832" y="79259"/>
                  <a:pt x="101905" y="84332"/>
                  <a:pt x="101905" y="90581"/>
                </a:cubicBezTo>
                <a:cubicBezTo>
                  <a:pt x="101905" y="96832"/>
                  <a:pt x="96832" y="101905"/>
                  <a:pt x="90581" y="101905"/>
                </a:cubicBezTo>
                <a:cubicBezTo>
                  <a:pt x="84332" y="101905"/>
                  <a:pt x="79259" y="96832"/>
                  <a:pt x="79259" y="9058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55" name="dsl:shape53"/>
          <p:cNvSpPr/>
          <p:nvPr/>
        </p:nvSpPr>
        <p:spPr>
          <a:xfrm>
            <a:off x="4262247" y="5277802"/>
            <a:ext cx="1476470" cy="21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sl:text54"/>
          <p:cNvSpPr txBox="1"/>
          <p:nvPr/>
        </p:nvSpPr>
        <p:spPr>
          <a:xfrm>
            <a:off x="4170807" y="5232082"/>
            <a:ext cx="1659350" cy="308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139" noProof="1">
                <a:solidFill>
                  <a:srgbClr val="EFEFEF"/>
                </a:solidFill>
                <a:latin typeface="Liter"/>
                <a:ea typeface="Liter"/>
              </a:rPr>
              <a:t>Intent: turn_on</a:t>
            </a:r>
          </a:p>
        </p:txBody>
      </p:sp>
      <p:sp>
        <p:nvSpPr>
          <p:cNvPr id="57" name="dsl:shape55"/>
          <p:cNvSpPr/>
          <p:nvPr/>
        </p:nvSpPr>
        <p:spPr>
          <a:xfrm>
            <a:off x="4262247" y="5495163"/>
            <a:ext cx="1467421" cy="1811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sl:text56"/>
          <p:cNvSpPr txBox="1"/>
          <p:nvPr/>
        </p:nvSpPr>
        <p:spPr>
          <a:xfrm>
            <a:off x="4170807" y="5449443"/>
            <a:ext cx="1650301" cy="2726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7" noProof="1">
                <a:solidFill>
                  <a:srgbClr val="8F8F8F"/>
                </a:solidFill>
                <a:latin typeface="Liter"/>
                <a:ea typeface="Liter"/>
              </a:rPr>
              <a:t>Семантический уровень</a:t>
            </a:r>
          </a:p>
        </p:txBody>
      </p:sp>
      <p:sp>
        <p:nvSpPr>
          <p:cNvPr id="59" name="dsl:shape57"/>
          <p:cNvSpPr/>
          <p:nvPr/>
        </p:nvSpPr>
        <p:spPr>
          <a:xfrm>
            <a:off x="8847867" y="5368385"/>
            <a:ext cx="163068" cy="217360"/>
          </a:xfrm>
          <a:custGeom>
            <a:avLst/>
            <a:gdLst/>
            <a:ahLst/>
            <a:cxnLst/>
            <a:rect l="l" t="t" r="r" b="b"/>
            <a:pathLst>
              <a:path w="163068" h="217360">
                <a:moveTo>
                  <a:pt x="71937" y="213369"/>
                </a:moveTo>
                <a:cubicBezTo>
                  <a:pt x="77244" y="218675"/>
                  <a:pt x="85865" y="218675"/>
                  <a:pt x="91173" y="213369"/>
                </a:cubicBezTo>
                <a:lnTo>
                  <a:pt x="159118" y="145444"/>
                </a:lnTo>
                <a:cubicBezTo>
                  <a:pt x="164427" y="140138"/>
                  <a:pt x="164427" y="131519"/>
                  <a:pt x="159118" y="126212"/>
                </a:cubicBezTo>
                <a:cubicBezTo>
                  <a:pt x="153810" y="120906"/>
                  <a:pt x="145190" y="120906"/>
                  <a:pt x="139881" y="126212"/>
                </a:cubicBezTo>
                <a:lnTo>
                  <a:pt x="95122" y="170958"/>
                </a:lnTo>
                <a:lnTo>
                  <a:pt x="95122" y="13585"/>
                </a:lnTo>
                <a:cubicBezTo>
                  <a:pt x="95122" y="6071"/>
                  <a:pt x="89050" y="0"/>
                  <a:pt x="81534" y="0"/>
                </a:cubicBezTo>
                <a:cubicBezTo>
                  <a:pt x="74017" y="0"/>
                  <a:pt x="67945" y="6071"/>
                  <a:pt x="67945" y="13585"/>
                </a:cubicBezTo>
                <a:lnTo>
                  <a:pt x="67945" y="170958"/>
                </a:lnTo>
                <a:lnTo>
                  <a:pt x="23186" y="126212"/>
                </a:lnTo>
                <a:cubicBezTo>
                  <a:pt x="17877" y="120906"/>
                  <a:pt x="9257" y="120906"/>
                  <a:pt x="3949" y="126212"/>
                </a:cubicBezTo>
                <a:cubicBezTo>
                  <a:pt x="-1359" y="131519"/>
                  <a:pt x="-1359" y="140138"/>
                  <a:pt x="3949" y="145444"/>
                </a:cubicBezTo>
                <a:lnTo>
                  <a:pt x="71894" y="213369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60" name="dsl:shape58"/>
          <p:cNvSpPr/>
          <p:nvPr/>
        </p:nvSpPr>
        <p:spPr>
          <a:xfrm>
            <a:off x="9137713" y="5313997"/>
            <a:ext cx="1014507" cy="326040"/>
          </a:xfrm>
          <a:custGeom>
            <a:avLst/>
            <a:gdLst/>
            <a:ahLst/>
            <a:cxnLst/>
            <a:rect l="l" t="t" r="r" b="b"/>
            <a:pathLst>
              <a:path w="1014507" h="326040">
                <a:moveTo>
                  <a:pt x="36231" y="0"/>
                </a:moveTo>
                <a:lnTo>
                  <a:pt x="978275" y="0"/>
                </a:lnTo>
                <a:cubicBezTo>
                  <a:pt x="998285" y="0"/>
                  <a:pt x="1014507" y="16218"/>
                  <a:pt x="1014507" y="36225"/>
                </a:cubicBezTo>
                <a:lnTo>
                  <a:pt x="1014507" y="289814"/>
                </a:lnTo>
                <a:cubicBezTo>
                  <a:pt x="1014507" y="309821"/>
                  <a:pt x="998285" y="326040"/>
                  <a:pt x="978275" y="326040"/>
                </a:cubicBezTo>
                <a:lnTo>
                  <a:pt x="36231" y="326040"/>
                </a:lnTo>
                <a:cubicBezTo>
                  <a:pt x="16221" y="326040"/>
                  <a:pt x="0" y="309821"/>
                  <a:pt x="0" y="289814"/>
                </a:cubicBezTo>
                <a:lnTo>
                  <a:pt x="0" y="36225"/>
                </a:lnTo>
                <a:cubicBezTo>
                  <a:pt x="0" y="16232"/>
                  <a:pt x="16235" y="0"/>
                  <a:pt x="362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61" name="dsl:shape59"/>
          <p:cNvSpPr/>
          <p:nvPr/>
        </p:nvSpPr>
        <p:spPr>
          <a:xfrm>
            <a:off x="9246393" y="5386482"/>
            <a:ext cx="861250" cy="1811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sl:text60"/>
          <p:cNvSpPr txBox="1"/>
          <p:nvPr/>
        </p:nvSpPr>
        <p:spPr>
          <a:xfrm>
            <a:off x="9154953" y="5340762"/>
            <a:ext cx="1044130" cy="2726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997" noProof="1">
                <a:solidFill>
                  <a:srgbClr val="6366F1"/>
                </a:solidFill>
                <a:latin typeface="Liter"/>
                <a:ea typeface="Liter"/>
              </a:rPr>
              <a:t>has_argument</a:t>
            </a:r>
          </a:p>
        </p:txBody>
      </p:sp>
      <p:sp>
        <p:nvSpPr>
          <p:cNvPr id="63" name="dsl:shape61"/>
          <p:cNvSpPr/>
          <p:nvPr/>
        </p:nvSpPr>
        <p:spPr>
          <a:xfrm>
            <a:off x="4213955" y="5939028"/>
            <a:ext cx="5939028" cy="694467"/>
          </a:xfrm>
          <a:custGeom>
            <a:avLst/>
            <a:gdLst/>
            <a:ahLst/>
            <a:cxnLst/>
            <a:rect l="l" t="t" r="r" b="b"/>
            <a:pathLst>
              <a:path w="5939028" h="694467">
                <a:moveTo>
                  <a:pt x="72465" y="0"/>
                </a:moveTo>
                <a:lnTo>
                  <a:pt x="5866561" y="0"/>
                </a:lnTo>
                <a:cubicBezTo>
                  <a:pt x="5906583" y="0"/>
                  <a:pt x="5939027" y="32445"/>
                  <a:pt x="5939027" y="72467"/>
                </a:cubicBezTo>
                <a:lnTo>
                  <a:pt x="5939027" y="621999"/>
                </a:lnTo>
                <a:cubicBezTo>
                  <a:pt x="5939027" y="662021"/>
                  <a:pt x="5906583" y="694467"/>
                  <a:pt x="5866561" y="694467"/>
                </a:cubicBezTo>
                <a:lnTo>
                  <a:pt x="72465" y="694467"/>
                </a:lnTo>
                <a:cubicBezTo>
                  <a:pt x="32444" y="694467"/>
                  <a:pt x="0" y="662021"/>
                  <a:pt x="0" y="621999"/>
                </a:cubicBezTo>
                <a:lnTo>
                  <a:pt x="0" y="72467"/>
                </a:lnTo>
                <a:cubicBezTo>
                  <a:pt x="0" y="32445"/>
                  <a:pt x="32444" y="0"/>
                  <a:pt x="72465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6366F1"/>
            </a:solidFill>
            <a:prstDash val="solid"/>
          </a:ln>
          <a:effectLst/>
        </p:spPr>
      </p:sp>
      <p:sp>
        <p:nvSpPr>
          <p:cNvPr id="64" name="dsl:shape62"/>
          <p:cNvSpPr/>
          <p:nvPr/>
        </p:nvSpPr>
        <p:spPr>
          <a:xfrm>
            <a:off x="4384548" y="6195631"/>
            <a:ext cx="181165" cy="181165"/>
          </a:xfrm>
          <a:custGeom>
            <a:avLst/>
            <a:gdLst/>
            <a:ahLst/>
            <a:cxnLst/>
            <a:rect l="l" t="t" r="r" b="b"/>
            <a:pathLst>
              <a:path w="181165" h="181165">
                <a:moveTo>
                  <a:pt x="11499" y="33968"/>
                </a:moveTo>
                <a:lnTo>
                  <a:pt x="11499" y="86866"/>
                </a:lnTo>
                <a:cubicBezTo>
                  <a:pt x="11499" y="92882"/>
                  <a:pt x="13870" y="98650"/>
                  <a:pt x="18116" y="102896"/>
                </a:cubicBezTo>
                <a:lnTo>
                  <a:pt x="86053" y="170832"/>
                </a:lnTo>
                <a:cubicBezTo>
                  <a:pt x="94899" y="179678"/>
                  <a:pt x="109229" y="179678"/>
                  <a:pt x="118075" y="170832"/>
                </a:cubicBezTo>
                <a:lnTo>
                  <a:pt x="170974" y="117933"/>
                </a:lnTo>
                <a:cubicBezTo>
                  <a:pt x="179819" y="109088"/>
                  <a:pt x="179819" y="94758"/>
                  <a:pt x="170974" y="85911"/>
                </a:cubicBezTo>
                <a:lnTo>
                  <a:pt x="103037" y="17974"/>
                </a:lnTo>
                <a:cubicBezTo>
                  <a:pt x="98791" y="13693"/>
                  <a:pt x="93059" y="11322"/>
                  <a:pt x="87043" y="11322"/>
                </a:cubicBezTo>
                <a:lnTo>
                  <a:pt x="34145" y="11322"/>
                </a:lnTo>
                <a:cubicBezTo>
                  <a:pt x="21654" y="11322"/>
                  <a:pt x="11499" y="21477"/>
                  <a:pt x="11499" y="33968"/>
                </a:cubicBezTo>
                <a:close/>
                <a:moveTo>
                  <a:pt x="51129" y="39630"/>
                </a:moveTo>
                <a:cubicBezTo>
                  <a:pt x="57378" y="39630"/>
                  <a:pt x="62452" y="44703"/>
                  <a:pt x="62452" y="50952"/>
                </a:cubicBezTo>
                <a:cubicBezTo>
                  <a:pt x="62452" y="57201"/>
                  <a:pt x="57378" y="62275"/>
                  <a:pt x="51129" y="62275"/>
                </a:cubicBezTo>
                <a:cubicBezTo>
                  <a:pt x="44880" y="62275"/>
                  <a:pt x="39806" y="57201"/>
                  <a:pt x="39806" y="50952"/>
                </a:cubicBezTo>
                <a:cubicBezTo>
                  <a:pt x="39806" y="44703"/>
                  <a:pt x="44880" y="39630"/>
                  <a:pt x="51129" y="3963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65" name="dsl:shape63"/>
          <p:cNvSpPr/>
          <p:nvPr/>
        </p:nvSpPr>
        <p:spPr>
          <a:xfrm>
            <a:off x="4697063" y="6086951"/>
            <a:ext cx="1956530" cy="21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sl:text64"/>
          <p:cNvSpPr txBox="1"/>
          <p:nvPr/>
        </p:nvSpPr>
        <p:spPr>
          <a:xfrm>
            <a:off x="4605623" y="6041231"/>
            <a:ext cx="2139410" cy="308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139" noProof="1">
                <a:solidFill>
                  <a:srgbClr val="EFEFEF"/>
                </a:solidFill>
                <a:latin typeface="Liter"/>
                <a:ea typeface="Liter"/>
              </a:rPr>
              <a:t>Slot: DEVICE=light</a:t>
            </a:r>
          </a:p>
        </p:txBody>
      </p:sp>
      <p:sp>
        <p:nvSpPr>
          <p:cNvPr id="67" name="dsl:shape65"/>
          <p:cNvSpPr/>
          <p:nvPr/>
        </p:nvSpPr>
        <p:spPr>
          <a:xfrm>
            <a:off x="4697063" y="6304311"/>
            <a:ext cx="1947481" cy="18116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sl:text66"/>
          <p:cNvSpPr txBox="1"/>
          <p:nvPr/>
        </p:nvSpPr>
        <p:spPr>
          <a:xfrm>
            <a:off x="4605623" y="6258591"/>
            <a:ext cx="2130361" cy="27260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7" noProof="1">
                <a:solidFill>
                  <a:srgbClr val="8F8F8F"/>
                </a:solidFill>
                <a:latin typeface="Liter"/>
                <a:ea typeface="Liter"/>
              </a:rPr>
              <a:t>Семантический уровень (слоты)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359092" y="359092"/>
            <a:ext cx="359092" cy="359092"/>
          </a:xfrm>
          <a:custGeom>
            <a:avLst/>
            <a:gdLst/>
            <a:ahLst/>
            <a:cxnLst/>
            <a:rect l="l" t="t" r="r" b="b"/>
            <a:pathLst>
              <a:path w="359092" h="359092">
                <a:moveTo>
                  <a:pt x="71818" y="0"/>
                </a:moveTo>
                <a:lnTo>
                  <a:pt x="287273" y="0"/>
                </a:lnTo>
                <a:cubicBezTo>
                  <a:pt x="326938" y="0"/>
                  <a:pt x="359092" y="32153"/>
                  <a:pt x="359092" y="71818"/>
                </a:cubicBezTo>
                <a:lnTo>
                  <a:pt x="359092" y="287273"/>
                </a:lnTo>
                <a:cubicBezTo>
                  <a:pt x="359092" y="326938"/>
                  <a:pt x="326938" y="359092"/>
                  <a:pt x="287273" y="359092"/>
                </a:cubicBezTo>
                <a:lnTo>
                  <a:pt x="71818" y="359092"/>
                </a:lnTo>
                <a:cubicBezTo>
                  <a:pt x="32153" y="359092"/>
                  <a:pt x="0" y="326938"/>
                  <a:pt x="0" y="287273"/>
                </a:cubicBezTo>
                <a:lnTo>
                  <a:pt x="0" y="71818"/>
                </a:lnTo>
                <a:cubicBezTo>
                  <a:pt x="0" y="32153"/>
                  <a:pt x="32153" y="0"/>
                  <a:pt x="7181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3" name="dsl:shape1"/>
          <p:cNvSpPr/>
          <p:nvPr/>
        </p:nvSpPr>
        <p:spPr>
          <a:xfrm>
            <a:off x="470249" y="457866"/>
            <a:ext cx="141446" cy="161639"/>
          </a:xfrm>
          <a:custGeom>
            <a:avLst/>
            <a:gdLst/>
            <a:ahLst/>
            <a:cxnLst/>
            <a:rect l="l" t="t" r="r" b="b"/>
            <a:pathLst>
              <a:path w="141446" h="161639">
                <a:moveTo>
                  <a:pt x="141446" y="64971"/>
                </a:moveTo>
                <a:cubicBezTo>
                  <a:pt x="136773" y="68065"/>
                  <a:pt x="131405" y="70559"/>
                  <a:pt x="125817" y="72548"/>
                </a:cubicBezTo>
                <a:cubicBezTo>
                  <a:pt x="110978" y="77851"/>
                  <a:pt x="91497" y="80819"/>
                  <a:pt x="70723" y="80819"/>
                </a:cubicBezTo>
                <a:cubicBezTo>
                  <a:pt x="49948" y="80819"/>
                  <a:pt x="30436" y="77820"/>
                  <a:pt x="15628" y="72548"/>
                </a:cubicBezTo>
                <a:cubicBezTo>
                  <a:pt x="10072" y="70559"/>
                  <a:pt x="4672" y="68065"/>
                  <a:pt x="0" y="64971"/>
                </a:cubicBezTo>
                <a:lnTo>
                  <a:pt x="0" y="90921"/>
                </a:lnTo>
                <a:cubicBezTo>
                  <a:pt x="0" y="104876"/>
                  <a:pt x="31667" y="116178"/>
                  <a:pt x="70723" y="116178"/>
                </a:cubicBezTo>
                <a:cubicBezTo>
                  <a:pt x="109778" y="116178"/>
                  <a:pt x="141446" y="104876"/>
                  <a:pt x="141446" y="90921"/>
                </a:cubicBezTo>
                <a:lnTo>
                  <a:pt x="141446" y="64971"/>
                </a:lnTo>
                <a:close/>
                <a:moveTo>
                  <a:pt x="141446" y="40410"/>
                </a:moveTo>
                <a:lnTo>
                  <a:pt x="141446" y="25255"/>
                </a:lnTo>
                <a:cubicBezTo>
                  <a:pt x="141446" y="11302"/>
                  <a:pt x="109778" y="0"/>
                  <a:pt x="70723" y="0"/>
                </a:cubicBezTo>
                <a:cubicBezTo>
                  <a:pt x="31667" y="0"/>
                  <a:pt x="0" y="11302"/>
                  <a:pt x="0" y="25255"/>
                </a:cubicBezTo>
                <a:lnTo>
                  <a:pt x="0" y="40410"/>
                </a:lnTo>
                <a:cubicBezTo>
                  <a:pt x="0" y="54363"/>
                  <a:pt x="31667" y="65666"/>
                  <a:pt x="70723" y="65666"/>
                </a:cubicBezTo>
                <a:cubicBezTo>
                  <a:pt x="109778" y="65666"/>
                  <a:pt x="141446" y="54363"/>
                  <a:pt x="141446" y="40410"/>
                </a:cubicBezTo>
                <a:close/>
                <a:moveTo>
                  <a:pt x="125817" y="123060"/>
                </a:moveTo>
                <a:cubicBezTo>
                  <a:pt x="111009" y="128332"/>
                  <a:pt x="91529" y="131332"/>
                  <a:pt x="70723" y="131332"/>
                </a:cubicBezTo>
                <a:cubicBezTo>
                  <a:pt x="49916" y="131332"/>
                  <a:pt x="30436" y="128332"/>
                  <a:pt x="15628" y="123060"/>
                </a:cubicBezTo>
                <a:cubicBezTo>
                  <a:pt x="10072" y="121071"/>
                  <a:pt x="4672" y="118577"/>
                  <a:pt x="0" y="115483"/>
                </a:cubicBezTo>
                <a:lnTo>
                  <a:pt x="0" y="136383"/>
                </a:lnTo>
                <a:cubicBezTo>
                  <a:pt x="0" y="150337"/>
                  <a:pt x="31667" y="161639"/>
                  <a:pt x="70723" y="161639"/>
                </a:cubicBezTo>
                <a:cubicBezTo>
                  <a:pt x="109778" y="161639"/>
                  <a:pt x="141446" y="150337"/>
                  <a:pt x="141446" y="136383"/>
                </a:cubicBezTo>
                <a:lnTo>
                  <a:pt x="141446" y="115483"/>
                </a:lnTo>
                <a:cubicBezTo>
                  <a:pt x="136773" y="118577"/>
                  <a:pt x="131405" y="121071"/>
                  <a:pt x="125817" y="12306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4" name="dsl:shape2"/>
          <p:cNvSpPr/>
          <p:nvPr/>
        </p:nvSpPr>
        <p:spPr>
          <a:xfrm>
            <a:off x="826008" y="430911"/>
            <a:ext cx="1598104" cy="2154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ext3"/>
          <p:cNvSpPr txBox="1"/>
          <p:nvPr/>
        </p:nvSpPr>
        <p:spPr>
          <a:xfrm>
            <a:off x="734568" y="385191"/>
            <a:ext cx="1780984" cy="3068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132" noProof="1" spc="57">
                <a:solidFill>
                  <a:srgbClr val="6366F1"/>
                </a:solidFill>
                <a:latin typeface="Liter"/>
                <a:ea typeface="Liter"/>
              </a:rPr>
              <a:t>Хранение данных</a:t>
            </a:r>
          </a:p>
        </p:txBody>
      </p:sp>
      <p:sp>
        <p:nvSpPr>
          <p:cNvPr id="6" name="dsl:shape4"/>
          <p:cNvSpPr/>
          <p:nvPr/>
        </p:nvSpPr>
        <p:spPr>
          <a:xfrm>
            <a:off x="359092" y="826008"/>
            <a:ext cx="11635359" cy="3590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text5"/>
          <p:cNvSpPr txBox="1"/>
          <p:nvPr/>
        </p:nvSpPr>
        <p:spPr>
          <a:xfrm>
            <a:off x="267652" y="780288"/>
            <a:ext cx="11818239" cy="4505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b="1" sz="2542" noProof="1">
                <a:solidFill>
                  <a:srgbClr val="EFEFEF"/>
                </a:solidFill>
                <a:latin typeface="Liter"/>
                <a:ea typeface="Liter"/>
              </a:rPr>
              <a:t>Форматы хранения: JSON-LD</a:t>
            </a:r>
          </a:p>
        </p:txBody>
      </p:sp>
      <p:sp>
        <p:nvSpPr>
          <p:cNvPr id="8" name="dsl:shape6"/>
          <p:cNvSpPr/>
          <p:nvPr/>
        </p:nvSpPr>
        <p:spPr>
          <a:xfrm>
            <a:off x="359092" y="1256919"/>
            <a:ext cx="11554587" cy="2513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text7"/>
          <p:cNvSpPr txBox="1"/>
          <p:nvPr/>
        </p:nvSpPr>
        <p:spPr>
          <a:xfrm>
            <a:off x="267652" y="1211199"/>
            <a:ext cx="11737467" cy="3428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75" noProof="1">
                <a:solidFill>
                  <a:srgbClr val="8F8F8F"/>
                </a:solidFill>
                <a:latin typeface="Liter"/>
                <a:ea typeface="Liter"/>
              </a:rPr>
              <a:t>Обогащение связанными данными, граф знаний</a:t>
            </a:r>
          </a:p>
        </p:txBody>
      </p:sp>
      <p:sp>
        <p:nvSpPr>
          <p:cNvPr id="10" name="dsl:shape8"/>
          <p:cNvSpPr/>
          <p:nvPr/>
        </p:nvSpPr>
        <p:spPr>
          <a:xfrm>
            <a:off x="362140" y="1654968"/>
            <a:ext cx="5644133" cy="3713892"/>
          </a:xfrm>
          <a:custGeom>
            <a:avLst/>
            <a:gdLst/>
            <a:ahLst/>
            <a:cxnLst/>
            <a:rect l="l" t="t" r="r" b="b"/>
            <a:pathLst>
              <a:path w="5644133" h="3713892">
                <a:moveTo>
                  <a:pt x="107739" y="0"/>
                </a:moveTo>
                <a:lnTo>
                  <a:pt x="5536393" y="0"/>
                </a:lnTo>
                <a:cubicBezTo>
                  <a:pt x="5595856" y="0"/>
                  <a:pt x="5644133" y="48276"/>
                  <a:pt x="5644133" y="107739"/>
                </a:cubicBezTo>
                <a:lnTo>
                  <a:pt x="5644133" y="3606151"/>
                </a:lnTo>
                <a:cubicBezTo>
                  <a:pt x="5644133" y="3665614"/>
                  <a:pt x="5595856" y="3713892"/>
                  <a:pt x="5536393" y="3713892"/>
                </a:cubicBezTo>
                <a:lnTo>
                  <a:pt x="107739" y="3713892"/>
                </a:lnTo>
                <a:cubicBezTo>
                  <a:pt x="48276" y="3713892"/>
                  <a:pt x="0" y="3665614"/>
                  <a:pt x="0" y="3606151"/>
                </a:cubicBezTo>
                <a:lnTo>
                  <a:pt x="0" y="107739"/>
                </a:lnTo>
                <a:cubicBezTo>
                  <a:pt x="0" y="48276"/>
                  <a:pt x="48276" y="0"/>
                  <a:pt x="107739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1" name="dsl:shape9"/>
          <p:cNvSpPr/>
          <p:nvPr/>
        </p:nvSpPr>
        <p:spPr>
          <a:xfrm>
            <a:off x="567118" y="1873377"/>
            <a:ext cx="179546" cy="179546"/>
          </a:xfrm>
          <a:custGeom>
            <a:avLst/>
            <a:gdLst/>
            <a:ahLst/>
            <a:cxnLst/>
            <a:rect l="l" t="t" r="r" b="b"/>
            <a:pathLst>
              <a:path w="179546" h="179546">
                <a:moveTo>
                  <a:pt x="78656" y="-876"/>
                </a:moveTo>
                <a:cubicBezTo>
                  <a:pt x="85600" y="-4874"/>
                  <a:pt x="94156" y="-4874"/>
                  <a:pt x="101100" y="-876"/>
                </a:cubicBezTo>
                <a:lnTo>
                  <a:pt x="162784" y="34716"/>
                </a:lnTo>
                <a:cubicBezTo>
                  <a:pt x="169727" y="38714"/>
                  <a:pt x="174005" y="46148"/>
                  <a:pt x="174005" y="54144"/>
                </a:cubicBezTo>
                <a:lnTo>
                  <a:pt x="174005" y="125331"/>
                </a:lnTo>
                <a:cubicBezTo>
                  <a:pt x="174005" y="133362"/>
                  <a:pt x="169727" y="140761"/>
                  <a:pt x="162784" y="144759"/>
                </a:cubicBezTo>
                <a:lnTo>
                  <a:pt x="101100" y="180422"/>
                </a:lnTo>
                <a:cubicBezTo>
                  <a:pt x="94156" y="184420"/>
                  <a:pt x="85600" y="184420"/>
                  <a:pt x="78656" y="180422"/>
                </a:cubicBezTo>
                <a:lnTo>
                  <a:pt x="17007" y="144829"/>
                </a:lnTo>
                <a:cubicBezTo>
                  <a:pt x="10064" y="140831"/>
                  <a:pt x="5786" y="133397"/>
                  <a:pt x="5786" y="125401"/>
                </a:cubicBezTo>
                <a:lnTo>
                  <a:pt x="5786" y="54214"/>
                </a:lnTo>
                <a:cubicBezTo>
                  <a:pt x="5786" y="46183"/>
                  <a:pt x="10064" y="38784"/>
                  <a:pt x="17007" y="34786"/>
                </a:cubicBezTo>
                <a:lnTo>
                  <a:pt x="78656" y="-876"/>
                </a:lnTo>
                <a:close/>
                <a:moveTo>
                  <a:pt x="151526" y="125366"/>
                </a:moveTo>
                <a:lnTo>
                  <a:pt x="151526" y="67119"/>
                </a:lnTo>
                <a:lnTo>
                  <a:pt x="101100" y="96225"/>
                </a:lnTo>
                <a:lnTo>
                  <a:pt x="101100" y="154472"/>
                </a:lnTo>
                <a:lnTo>
                  <a:pt x="151526" y="125366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2" name="dsl:shape10"/>
          <p:cNvSpPr/>
          <p:nvPr/>
        </p:nvSpPr>
        <p:spPr>
          <a:xfrm>
            <a:off x="769143" y="1837467"/>
            <a:ext cx="5144357" cy="2513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text11"/>
          <p:cNvSpPr txBox="1"/>
          <p:nvPr/>
        </p:nvSpPr>
        <p:spPr>
          <a:xfrm>
            <a:off x="677703" y="1791747"/>
            <a:ext cx="5327237" cy="3428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417" noProof="1">
                <a:solidFill>
                  <a:srgbClr val="EFEFEF"/>
                </a:solidFill>
                <a:latin typeface="Liter"/>
                <a:ea typeface="Liter"/>
              </a:rPr>
              <a:t>Основной формат</a:t>
            </a:r>
          </a:p>
        </p:txBody>
      </p:sp>
      <p:sp>
        <p:nvSpPr>
          <p:cNvPr id="14" name="dsl:shape12"/>
          <p:cNvSpPr/>
          <p:nvPr/>
        </p:nvSpPr>
        <p:spPr>
          <a:xfrm>
            <a:off x="547687" y="2235517"/>
            <a:ext cx="5267039" cy="2088832"/>
          </a:xfrm>
          <a:custGeom>
            <a:avLst/>
            <a:gdLst/>
            <a:ahLst/>
            <a:cxnLst/>
            <a:rect l="l" t="t" r="r" b="b"/>
            <a:pathLst>
              <a:path w="5267039" h="2088832">
                <a:moveTo>
                  <a:pt x="71814" y="0"/>
                </a:moveTo>
                <a:lnTo>
                  <a:pt x="5195224" y="0"/>
                </a:lnTo>
                <a:cubicBezTo>
                  <a:pt x="5234886" y="0"/>
                  <a:pt x="5267039" y="32152"/>
                  <a:pt x="5267039" y="71814"/>
                </a:cubicBezTo>
                <a:lnTo>
                  <a:pt x="5267039" y="2017017"/>
                </a:lnTo>
                <a:cubicBezTo>
                  <a:pt x="5267039" y="2056679"/>
                  <a:pt x="5234886" y="2088832"/>
                  <a:pt x="5195224" y="2088832"/>
                </a:cubicBezTo>
                <a:lnTo>
                  <a:pt x="71814" y="2088832"/>
                </a:lnTo>
                <a:cubicBezTo>
                  <a:pt x="32152" y="2088832"/>
                  <a:pt x="0" y="2056679"/>
                  <a:pt x="0" y="2017017"/>
                </a:cubicBezTo>
                <a:lnTo>
                  <a:pt x="0" y="71814"/>
                </a:lnTo>
                <a:cubicBezTo>
                  <a:pt x="0" y="32152"/>
                  <a:pt x="32152" y="0"/>
                  <a:pt x="71814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5" name="dsl:shape13"/>
          <p:cNvSpPr/>
          <p:nvPr/>
        </p:nvSpPr>
        <p:spPr>
          <a:xfrm>
            <a:off x="694277" y="2382107"/>
            <a:ext cx="906780" cy="395001"/>
          </a:xfrm>
          <a:custGeom>
            <a:avLst/>
            <a:gdLst/>
            <a:ahLst/>
            <a:cxnLst/>
            <a:rect l="l" t="t" r="r" b="b"/>
            <a:pathLst>
              <a:path w="906780" h="395001">
                <a:moveTo>
                  <a:pt x="71824" y="0"/>
                </a:moveTo>
                <a:lnTo>
                  <a:pt x="834955" y="0"/>
                </a:lnTo>
                <a:cubicBezTo>
                  <a:pt x="874596" y="0"/>
                  <a:pt x="906780" y="32180"/>
                  <a:pt x="906780" y="71819"/>
                </a:cubicBezTo>
                <a:lnTo>
                  <a:pt x="906780" y="323181"/>
                </a:lnTo>
                <a:cubicBezTo>
                  <a:pt x="906780" y="362820"/>
                  <a:pt x="874596" y="395001"/>
                  <a:pt x="834955" y="395001"/>
                </a:cubicBezTo>
                <a:lnTo>
                  <a:pt x="71824" y="395001"/>
                </a:lnTo>
                <a:cubicBezTo>
                  <a:pt x="32183" y="395001"/>
                  <a:pt x="0" y="362820"/>
                  <a:pt x="0" y="323181"/>
                </a:cubicBezTo>
                <a:lnTo>
                  <a:pt x="0" y="71819"/>
                </a:lnTo>
                <a:cubicBezTo>
                  <a:pt x="0" y="32180"/>
                  <a:pt x="32183" y="0"/>
                  <a:pt x="71824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6" name="dsl:shape14"/>
          <p:cNvSpPr/>
          <p:nvPr/>
        </p:nvSpPr>
        <p:spPr>
          <a:xfrm>
            <a:off x="694277" y="2382107"/>
            <a:ext cx="987552" cy="39500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ext15"/>
          <p:cNvSpPr txBox="1"/>
          <p:nvPr/>
        </p:nvSpPr>
        <p:spPr>
          <a:xfrm>
            <a:off x="746474" y="2408205"/>
            <a:ext cx="883158" cy="3428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75" noProof="1">
                <a:solidFill>
                  <a:srgbClr val="FFFFFF"/>
                </a:solidFill>
                <a:latin typeface="MiSans"/>
                <a:ea typeface="MiSans"/>
              </a:rPr>
              <a:t>JSON-LD</a:t>
            </a:r>
          </a:p>
        </p:txBody>
      </p:sp>
      <p:sp>
        <p:nvSpPr>
          <p:cNvPr id="18" name="dsl:shape16"/>
          <p:cNvSpPr/>
          <p:nvPr/>
        </p:nvSpPr>
        <p:spPr>
          <a:xfrm>
            <a:off x="694277" y="2884932"/>
            <a:ext cx="5045583" cy="4668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text17"/>
          <p:cNvSpPr txBox="1"/>
          <p:nvPr/>
        </p:nvSpPr>
        <p:spPr>
          <a:xfrm>
            <a:off x="602837" y="2839212"/>
            <a:ext cx="5228463" cy="5582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132" noProof="1">
                <a:solidFill>
                  <a:srgbClr val="EFEFEF"/>
                </a:solidFill>
                <a:latin typeface="Liter"/>
                <a:ea typeface="Liter"/>
              </a:rPr>
              <a:t>JSON for Linked Data — расширение JSON для представления связанных данных и построения графов знаний</a:t>
            </a:r>
          </a:p>
        </p:txBody>
      </p:sp>
      <p:sp>
        <p:nvSpPr>
          <p:cNvPr id="20" name="dsl:shape18"/>
          <p:cNvSpPr/>
          <p:nvPr/>
        </p:nvSpPr>
        <p:spPr>
          <a:xfrm>
            <a:off x="721233" y="3513391"/>
            <a:ext cx="125730" cy="143637"/>
          </a:xfrm>
          <a:custGeom>
            <a:avLst/>
            <a:gdLst/>
            <a:ahLst/>
            <a:cxnLst/>
            <a:rect l="l" t="t" r="r" b="b"/>
            <a:pathLst>
              <a:path w="125730" h="143637">
                <a:moveTo>
                  <a:pt x="122024" y="19665"/>
                </a:moveTo>
                <a:cubicBezTo>
                  <a:pt x="126038" y="22583"/>
                  <a:pt x="126936" y="28194"/>
                  <a:pt x="124017" y="32205"/>
                </a:cubicBezTo>
                <a:lnTo>
                  <a:pt x="52172" y="130955"/>
                </a:lnTo>
                <a:cubicBezTo>
                  <a:pt x="50628" y="133087"/>
                  <a:pt x="48242" y="134406"/>
                  <a:pt x="45605" y="134631"/>
                </a:cubicBezTo>
                <a:cubicBezTo>
                  <a:pt x="42967" y="134855"/>
                  <a:pt x="40413" y="133873"/>
                  <a:pt x="38560" y="132021"/>
                </a:cubicBezTo>
                <a:lnTo>
                  <a:pt x="2637" y="96113"/>
                </a:lnTo>
                <a:cubicBezTo>
                  <a:pt x="-870" y="92606"/>
                  <a:pt x="-870" y="86910"/>
                  <a:pt x="2637" y="83404"/>
                </a:cubicBezTo>
                <a:cubicBezTo>
                  <a:pt x="6145" y="79897"/>
                  <a:pt x="11843" y="79897"/>
                  <a:pt x="15351" y="83404"/>
                </a:cubicBezTo>
                <a:lnTo>
                  <a:pt x="43836" y="111879"/>
                </a:lnTo>
                <a:lnTo>
                  <a:pt x="109507" y="21629"/>
                </a:lnTo>
                <a:cubicBezTo>
                  <a:pt x="112426" y="17617"/>
                  <a:pt x="118039" y="16719"/>
                  <a:pt x="122052" y="1963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1" name="dsl:shape19"/>
          <p:cNvSpPr/>
          <p:nvPr/>
        </p:nvSpPr>
        <p:spPr>
          <a:xfrm>
            <a:off x="945642" y="3495389"/>
            <a:ext cx="2253424" cy="1795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xt20"/>
          <p:cNvSpPr txBox="1"/>
          <p:nvPr/>
        </p:nvSpPr>
        <p:spPr>
          <a:xfrm>
            <a:off x="854202" y="3449669"/>
            <a:ext cx="2436304" cy="2709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0" noProof="1">
                <a:solidFill>
                  <a:srgbClr val="EFEFEF"/>
                </a:solidFill>
                <a:latin typeface="Liter"/>
                <a:ea typeface="Liter"/>
              </a:rPr>
              <a:t>Семантическая интероперабельность</a:t>
            </a:r>
          </a:p>
        </p:txBody>
      </p:sp>
      <p:sp>
        <p:nvSpPr>
          <p:cNvPr id="23" name="dsl:shape21"/>
          <p:cNvSpPr/>
          <p:nvPr/>
        </p:nvSpPr>
        <p:spPr>
          <a:xfrm>
            <a:off x="721233" y="3764756"/>
            <a:ext cx="125730" cy="143637"/>
          </a:xfrm>
          <a:custGeom>
            <a:avLst/>
            <a:gdLst/>
            <a:ahLst/>
            <a:cxnLst/>
            <a:rect l="l" t="t" r="r" b="b"/>
            <a:pathLst>
              <a:path w="125730" h="143637">
                <a:moveTo>
                  <a:pt x="122024" y="19665"/>
                </a:moveTo>
                <a:cubicBezTo>
                  <a:pt x="126038" y="22583"/>
                  <a:pt x="126936" y="28194"/>
                  <a:pt x="124017" y="32205"/>
                </a:cubicBezTo>
                <a:lnTo>
                  <a:pt x="52172" y="130955"/>
                </a:lnTo>
                <a:cubicBezTo>
                  <a:pt x="50628" y="133087"/>
                  <a:pt x="48242" y="134406"/>
                  <a:pt x="45605" y="134631"/>
                </a:cubicBezTo>
                <a:cubicBezTo>
                  <a:pt x="42967" y="134855"/>
                  <a:pt x="40413" y="133873"/>
                  <a:pt x="38560" y="132021"/>
                </a:cubicBezTo>
                <a:lnTo>
                  <a:pt x="2637" y="96113"/>
                </a:lnTo>
                <a:cubicBezTo>
                  <a:pt x="-870" y="92606"/>
                  <a:pt x="-870" y="86910"/>
                  <a:pt x="2637" y="83404"/>
                </a:cubicBezTo>
                <a:cubicBezTo>
                  <a:pt x="6145" y="79897"/>
                  <a:pt x="11843" y="79897"/>
                  <a:pt x="15351" y="83404"/>
                </a:cubicBezTo>
                <a:lnTo>
                  <a:pt x="43836" y="111879"/>
                </a:lnTo>
                <a:lnTo>
                  <a:pt x="109507" y="21629"/>
                </a:lnTo>
                <a:cubicBezTo>
                  <a:pt x="112426" y="17617"/>
                  <a:pt x="118039" y="16719"/>
                  <a:pt x="122052" y="1963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4" name="dsl:shape22"/>
          <p:cNvSpPr/>
          <p:nvPr/>
        </p:nvSpPr>
        <p:spPr>
          <a:xfrm>
            <a:off x="945642" y="3746754"/>
            <a:ext cx="1616011" cy="1795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text23"/>
          <p:cNvSpPr txBox="1"/>
          <p:nvPr/>
        </p:nvSpPr>
        <p:spPr>
          <a:xfrm>
            <a:off x="854202" y="3701034"/>
            <a:ext cx="1798891" cy="2709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0" noProof="1">
                <a:solidFill>
                  <a:srgbClr val="EFEFEF"/>
                </a:solidFill>
                <a:latin typeface="Liter"/>
                <a:ea typeface="Liter"/>
              </a:rPr>
              <a:t>Интеграция с онтологиями</a:t>
            </a:r>
          </a:p>
        </p:txBody>
      </p:sp>
      <p:sp>
        <p:nvSpPr>
          <p:cNvPr id="26" name="dsl:shape24"/>
          <p:cNvSpPr/>
          <p:nvPr/>
        </p:nvSpPr>
        <p:spPr>
          <a:xfrm>
            <a:off x="721233" y="4016121"/>
            <a:ext cx="125730" cy="143637"/>
          </a:xfrm>
          <a:custGeom>
            <a:avLst/>
            <a:gdLst/>
            <a:ahLst/>
            <a:cxnLst/>
            <a:rect l="l" t="t" r="r" b="b"/>
            <a:pathLst>
              <a:path w="125730" h="143637">
                <a:moveTo>
                  <a:pt x="122024" y="19665"/>
                </a:moveTo>
                <a:cubicBezTo>
                  <a:pt x="126038" y="22583"/>
                  <a:pt x="126936" y="28194"/>
                  <a:pt x="124017" y="32205"/>
                </a:cubicBezTo>
                <a:lnTo>
                  <a:pt x="52172" y="130955"/>
                </a:lnTo>
                <a:cubicBezTo>
                  <a:pt x="50628" y="133087"/>
                  <a:pt x="48242" y="134406"/>
                  <a:pt x="45605" y="134631"/>
                </a:cubicBezTo>
                <a:cubicBezTo>
                  <a:pt x="42967" y="134855"/>
                  <a:pt x="40413" y="133873"/>
                  <a:pt x="38560" y="132021"/>
                </a:cubicBezTo>
                <a:lnTo>
                  <a:pt x="2637" y="96113"/>
                </a:lnTo>
                <a:cubicBezTo>
                  <a:pt x="-870" y="92606"/>
                  <a:pt x="-870" y="86910"/>
                  <a:pt x="2637" y="83404"/>
                </a:cubicBezTo>
                <a:cubicBezTo>
                  <a:pt x="6145" y="79897"/>
                  <a:pt x="11843" y="79897"/>
                  <a:pt x="15351" y="83404"/>
                </a:cubicBezTo>
                <a:lnTo>
                  <a:pt x="43836" y="111879"/>
                </a:lnTo>
                <a:lnTo>
                  <a:pt x="109507" y="21629"/>
                </a:lnTo>
                <a:cubicBezTo>
                  <a:pt x="112426" y="17617"/>
                  <a:pt x="118039" y="16719"/>
                  <a:pt x="122052" y="1963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7" name="dsl:shape25"/>
          <p:cNvSpPr/>
          <p:nvPr/>
        </p:nvSpPr>
        <p:spPr>
          <a:xfrm>
            <a:off x="945642" y="3998118"/>
            <a:ext cx="1382553" cy="1795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text26"/>
          <p:cNvSpPr txBox="1"/>
          <p:nvPr/>
        </p:nvSpPr>
        <p:spPr>
          <a:xfrm>
            <a:off x="854202" y="3952398"/>
            <a:ext cx="1565433" cy="2709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0" noProof="1">
                <a:solidFill>
                  <a:srgbClr val="EFEFEF"/>
                </a:solidFill>
                <a:latin typeface="Liter"/>
                <a:ea typeface="Liter"/>
              </a:rPr>
              <a:t>Расширяемость схемы</a:t>
            </a:r>
          </a:p>
        </p:txBody>
      </p:sp>
      <p:sp>
        <p:nvSpPr>
          <p:cNvPr id="29" name="dsl:shape27"/>
          <p:cNvSpPr/>
          <p:nvPr/>
        </p:nvSpPr>
        <p:spPr>
          <a:xfrm>
            <a:off x="362140" y="5522118"/>
            <a:ext cx="5644133" cy="1334738"/>
          </a:xfrm>
          <a:custGeom>
            <a:avLst/>
            <a:gdLst/>
            <a:ahLst/>
            <a:cxnLst/>
            <a:rect l="l" t="t" r="r" b="b"/>
            <a:pathLst>
              <a:path w="5644133" h="1334738">
                <a:moveTo>
                  <a:pt x="107738" y="0"/>
                </a:moveTo>
                <a:lnTo>
                  <a:pt x="5536394" y="0"/>
                </a:lnTo>
                <a:cubicBezTo>
                  <a:pt x="5595896" y="0"/>
                  <a:pt x="5644133" y="48236"/>
                  <a:pt x="5644133" y="107739"/>
                </a:cubicBezTo>
                <a:lnTo>
                  <a:pt x="5644133" y="1226998"/>
                </a:lnTo>
                <a:cubicBezTo>
                  <a:pt x="5644133" y="1286501"/>
                  <a:pt x="5595896" y="1334737"/>
                  <a:pt x="5536394" y="1334737"/>
                </a:cubicBezTo>
                <a:lnTo>
                  <a:pt x="107738" y="1334737"/>
                </a:lnTo>
                <a:cubicBezTo>
                  <a:pt x="48236" y="1334737"/>
                  <a:pt x="0" y="1286501"/>
                  <a:pt x="0" y="1226998"/>
                </a:cubicBezTo>
                <a:lnTo>
                  <a:pt x="0" y="107739"/>
                </a:lnTo>
                <a:cubicBezTo>
                  <a:pt x="0" y="48276"/>
                  <a:pt x="48276" y="0"/>
                  <a:pt x="107738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30" name="dsl:shape28"/>
          <p:cNvSpPr/>
          <p:nvPr/>
        </p:nvSpPr>
        <p:spPr>
          <a:xfrm>
            <a:off x="531209" y="5713666"/>
            <a:ext cx="161639" cy="161639"/>
          </a:xfrm>
          <a:custGeom>
            <a:avLst/>
            <a:gdLst/>
            <a:ahLst/>
            <a:cxnLst/>
            <a:rect l="l" t="t" r="r" b="b"/>
            <a:pathLst>
              <a:path w="161639" h="161639">
                <a:moveTo>
                  <a:pt x="111095" y="88396"/>
                </a:moveTo>
                <a:lnTo>
                  <a:pt x="50827" y="88396"/>
                </a:lnTo>
                <a:cubicBezTo>
                  <a:pt x="51743" y="108758"/>
                  <a:pt x="56257" y="127512"/>
                  <a:pt x="62666" y="141245"/>
                </a:cubicBezTo>
                <a:cubicBezTo>
                  <a:pt x="66266" y="148980"/>
                  <a:pt x="70149" y="154441"/>
                  <a:pt x="73747" y="157788"/>
                </a:cubicBezTo>
                <a:cubicBezTo>
                  <a:pt x="77283" y="161102"/>
                  <a:pt x="79714" y="161639"/>
                  <a:pt x="80977" y="161639"/>
                </a:cubicBezTo>
                <a:cubicBezTo>
                  <a:pt x="82240" y="161639"/>
                  <a:pt x="84671" y="161102"/>
                  <a:pt x="88207" y="157788"/>
                </a:cubicBezTo>
                <a:cubicBezTo>
                  <a:pt x="91806" y="154441"/>
                  <a:pt x="95688" y="148948"/>
                  <a:pt x="99288" y="141245"/>
                </a:cubicBezTo>
                <a:cubicBezTo>
                  <a:pt x="105697" y="127512"/>
                  <a:pt x="110211" y="108758"/>
                  <a:pt x="111127" y="88396"/>
                </a:cubicBezTo>
                <a:close/>
                <a:moveTo>
                  <a:pt x="50796" y="73242"/>
                </a:moveTo>
                <a:lnTo>
                  <a:pt x="111063" y="73242"/>
                </a:lnTo>
                <a:cubicBezTo>
                  <a:pt x="110180" y="52880"/>
                  <a:pt x="105665" y="34127"/>
                  <a:pt x="99256" y="20394"/>
                </a:cubicBezTo>
                <a:cubicBezTo>
                  <a:pt x="95657" y="12690"/>
                  <a:pt x="91775" y="7197"/>
                  <a:pt x="88175" y="3851"/>
                </a:cubicBezTo>
                <a:cubicBezTo>
                  <a:pt x="84639" y="537"/>
                  <a:pt x="82208" y="0"/>
                  <a:pt x="80945" y="0"/>
                </a:cubicBezTo>
                <a:cubicBezTo>
                  <a:pt x="79683" y="0"/>
                  <a:pt x="77252" y="537"/>
                  <a:pt x="73716" y="3851"/>
                </a:cubicBezTo>
                <a:cubicBezTo>
                  <a:pt x="70117" y="7197"/>
                  <a:pt x="66234" y="12690"/>
                  <a:pt x="62635" y="20394"/>
                </a:cubicBezTo>
                <a:cubicBezTo>
                  <a:pt x="56226" y="34127"/>
                  <a:pt x="51711" y="52880"/>
                  <a:pt x="50796" y="73242"/>
                </a:cubicBezTo>
                <a:close/>
                <a:moveTo>
                  <a:pt x="35643" y="73242"/>
                </a:moveTo>
                <a:cubicBezTo>
                  <a:pt x="36747" y="46218"/>
                  <a:pt x="43725" y="21120"/>
                  <a:pt x="53922" y="4641"/>
                </a:cubicBezTo>
                <a:cubicBezTo>
                  <a:pt x="24845" y="14932"/>
                  <a:pt x="3440" y="41420"/>
                  <a:pt x="473" y="73242"/>
                </a:cubicBezTo>
                <a:lnTo>
                  <a:pt x="35643" y="73242"/>
                </a:lnTo>
                <a:close/>
                <a:moveTo>
                  <a:pt x="473" y="88396"/>
                </a:moveTo>
                <a:cubicBezTo>
                  <a:pt x="3440" y="120219"/>
                  <a:pt x="24845" y="146706"/>
                  <a:pt x="53922" y="156998"/>
                </a:cubicBezTo>
                <a:cubicBezTo>
                  <a:pt x="43725" y="140519"/>
                  <a:pt x="36747" y="115420"/>
                  <a:pt x="35643" y="88396"/>
                </a:cubicBezTo>
                <a:lnTo>
                  <a:pt x="473" y="88396"/>
                </a:lnTo>
                <a:close/>
                <a:moveTo>
                  <a:pt x="126248" y="88396"/>
                </a:moveTo>
                <a:cubicBezTo>
                  <a:pt x="125144" y="115420"/>
                  <a:pt x="118167" y="140519"/>
                  <a:pt x="107969" y="156998"/>
                </a:cubicBezTo>
                <a:cubicBezTo>
                  <a:pt x="137046" y="146675"/>
                  <a:pt x="158450" y="120219"/>
                  <a:pt x="161417" y="88396"/>
                </a:cubicBezTo>
                <a:lnTo>
                  <a:pt x="126248" y="88396"/>
                </a:lnTo>
                <a:close/>
                <a:moveTo>
                  <a:pt x="161417" y="73242"/>
                </a:moveTo>
                <a:cubicBezTo>
                  <a:pt x="158450" y="41420"/>
                  <a:pt x="137046" y="14932"/>
                  <a:pt x="107969" y="4641"/>
                </a:cubicBezTo>
                <a:cubicBezTo>
                  <a:pt x="118167" y="21120"/>
                  <a:pt x="125144" y="46218"/>
                  <a:pt x="126248" y="73242"/>
                </a:cubicBezTo>
                <a:lnTo>
                  <a:pt x="161417" y="73242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31" name="dsl:shape29"/>
          <p:cNvSpPr/>
          <p:nvPr/>
        </p:nvSpPr>
        <p:spPr>
          <a:xfrm>
            <a:off x="715232" y="5668803"/>
            <a:ext cx="5225129" cy="2513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text30"/>
          <p:cNvSpPr txBox="1"/>
          <p:nvPr/>
        </p:nvSpPr>
        <p:spPr>
          <a:xfrm>
            <a:off x="623792" y="5623083"/>
            <a:ext cx="5408009" cy="3428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75" noProof="1">
                <a:solidFill>
                  <a:srgbClr val="EFEFEF"/>
                </a:solidFill>
                <a:latin typeface="Liter"/>
                <a:ea typeface="Liter"/>
              </a:rPr>
              <a:t>Пространства имён</a:t>
            </a:r>
          </a:p>
        </p:txBody>
      </p:sp>
      <p:sp>
        <p:nvSpPr>
          <p:cNvPr id="33" name="dsl:shape31"/>
          <p:cNvSpPr/>
          <p:nvPr/>
        </p:nvSpPr>
        <p:spPr>
          <a:xfrm>
            <a:off x="508730" y="6027896"/>
            <a:ext cx="341185" cy="1795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text32"/>
          <p:cNvSpPr txBox="1"/>
          <p:nvPr/>
        </p:nvSpPr>
        <p:spPr>
          <a:xfrm>
            <a:off x="417290" y="5982176"/>
            <a:ext cx="524065" cy="2709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0" noProof="1">
                <a:solidFill>
                  <a:srgbClr val="6366F1"/>
                </a:solidFill>
                <a:latin typeface="MiSans"/>
                <a:ea typeface="MiSans"/>
              </a:rPr>
              <a:t>iot:</a:t>
            </a:r>
          </a:p>
        </p:txBody>
      </p:sp>
      <p:sp>
        <p:nvSpPr>
          <p:cNvPr id="35" name="dsl:shape33"/>
          <p:cNvSpPr/>
          <p:nvPr/>
        </p:nvSpPr>
        <p:spPr>
          <a:xfrm>
            <a:off x="892968" y="6027896"/>
            <a:ext cx="1373600" cy="1795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sl:text34"/>
          <p:cNvSpPr txBox="1"/>
          <p:nvPr/>
        </p:nvSpPr>
        <p:spPr>
          <a:xfrm>
            <a:off x="801528" y="5982176"/>
            <a:ext cx="1556480" cy="2709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0" noProof="1">
                <a:solidFill>
                  <a:srgbClr val="8F8F8F"/>
                </a:solidFill>
                <a:latin typeface="Liter"/>
                <a:ea typeface="Liter"/>
              </a:rPr>
              <a:t>http://example.org/iot#</a:t>
            </a:r>
          </a:p>
        </p:txBody>
      </p:sp>
      <p:sp>
        <p:nvSpPr>
          <p:cNvPr id="37" name="dsl:shape35"/>
          <p:cNvSpPr/>
          <p:nvPr/>
        </p:nvSpPr>
        <p:spPr>
          <a:xfrm>
            <a:off x="508730" y="6279261"/>
            <a:ext cx="341185" cy="1795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sl:text36"/>
          <p:cNvSpPr txBox="1"/>
          <p:nvPr/>
        </p:nvSpPr>
        <p:spPr>
          <a:xfrm>
            <a:off x="417290" y="6233541"/>
            <a:ext cx="524065" cy="2709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0" noProof="1">
                <a:solidFill>
                  <a:srgbClr val="6366F1"/>
                </a:solidFill>
                <a:latin typeface="MiSans"/>
                <a:ea typeface="MiSans"/>
              </a:rPr>
              <a:t>nif:</a:t>
            </a:r>
          </a:p>
        </p:txBody>
      </p:sp>
      <p:sp>
        <p:nvSpPr>
          <p:cNvPr id="39" name="dsl:shape37"/>
          <p:cNvSpPr/>
          <p:nvPr/>
        </p:nvSpPr>
        <p:spPr>
          <a:xfrm>
            <a:off x="892968" y="6279261"/>
            <a:ext cx="2011013" cy="1795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sl:text38"/>
          <p:cNvSpPr txBox="1"/>
          <p:nvPr/>
        </p:nvSpPr>
        <p:spPr>
          <a:xfrm>
            <a:off x="801528" y="6233541"/>
            <a:ext cx="2193893" cy="2709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0" noProof="1">
                <a:solidFill>
                  <a:srgbClr val="8F8F8F"/>
                </a:solidFill>
                <a:latin typeface="Liter"/>
                <a:ea typeface="Liter"/>
              </a:rPr>
              <a:t>http://persistence.uni-leipzig.org/...</a:t>
            </a:r>
          </a:p>
        </p:txBody>
      </p:sp>
      <p:sp>
        <p:nvSpPr>
          <p:cNvPr id="41" name="dsl:shape39"/>
          <p:cNvSpPr/>
          <p:nvPr/>
        </p:nvSpPr>
        <p:spPr>
          <a:xfrm>
            <a:off x="508730" y="6530721"/>
            <a:ext cx="404050" cy="1795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sl:text40"/>
          <p:cNvSpPr txBox="1"/>
          <p:nvPr/>
        </p:nvSpPr>
        <p:spPr>
          <a:xfrm>
            <a:off x="417290" y="6485001"/>
            <a:ext cx="586930" cy="2709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0" noProof="1">
                <a:solidFill>
                  <a:srgbClr val="6366F1"/>
                </a:solidFill>
                <a:latin typeface="MiSans"/>
                <a:ea typeface="MiSans"/>
              </a:rPr>
              <a:t>olia:</a:t>
            </a:r>
          </a:p>
        </p:txBody>
      </p:sp>
      <p:sp>
        <p:nvSpPr>
          <p:cNvPr id="43" name="dsl:shape41"/>
          <p:cNvSpPr/>
          <p:nvPr/>
        </p:nvSpPr>
        <p:spPr>
          <a:xfrm>
            <a:off x="962025" y="6530721"/>
            <a:ext cx="1634013" cy="1795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sl:text42"/>
          <p:cNvSpPr txBox="1"/>
          <p:nvPr/>
        </p:nvSpPr>
        <p:spPr>
          <a:xfrm>
            <a:off x="870585" y="6485001"/>
            <a:ext cx="1816893" cy="27098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990" noProof="1">
                <a:solidFill>
                  <a:srgbClr val="8F8F8F"/>
                </a:solidFill>
                <a:latin typeface="Liter"/>
                <a:ea typeface="Liter"/>
              </a:rPr>
              <a:t>http://purl.org/olia/olia.owl#</a:t>
            </a:r>
          </a:p>
        </p:txBody>
      </p:sp>
      <p:sp>
        <p:nvSpPr>
          <p:cNvPr id="45" name="dsl:shape43"/>
          <p:cNvSpPr/>
          <p:nvPr/>
        </p:nvSpPr>
        <p:spPr>
          <a:xfrm>
            <a:off x="6189726" y="1654968"/>
            <a:ext cx="5644133" cy="5204174"/>
          </a:xfrm>
          <a:custGeom>
            <a:avLst/>
            <a:gdLst/>
            <a:ahLst/>
            <a:cxnLst/>
            <a:rect l="l" t="t" r="r" b="b"/>
            <a:pathLst>
              <a:path w="5644133" h="5204174">
                <a:moveTo>
                  <a:pt x="107727" y="0"/>
                </a:moveTo>
                <a:lnTo>
                  <a:pt x="5536405" y="0"/>
                </a:lnTo>
                <a:cubicBezTo>
                  <a:pt x="5595901" y="0"/>
                  <a:pt x="5644133" y="48230"/>
                  <a:pt x="5644133" y="107726"/>
                </a:cubicBezTo>
                <a:lnTo>
                  <a:pt x="5644133" y="5096448"/>
                </a:lnTo>
                <a:cubicBezTo>
                  <a:pt x="5644133" y="5155943"/>
                  <a:pt x="5595901" y="5204174"/>
                  <a:pt x="5536405" y="5204174"/>
                </a:cubicBezTo>
                <a:lnTo>
                  <a:pt x="107727" y="5204174"/>
                </a:lnTo>
                <a:cubicBezTo>
                  <a:pt x="48231" y="5204174"/>
                  <a:pt x="0" y="5155943"/>
                  <a:pt x="0" y="5096448"/>
                </a:cubicBezTo>
                <a:lnTo>
                  <a:pt x="0" y="107726"/>
                </a:lnTo>
                <a:cubicBezTo>
                  <a:pt x="0" y="48230"/>
                  <a:pt x="48231" y="0"/>
                  <a:pt x="107727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46" name="dsl:shape44"/>
          <p:cNvSpPr/>
          <p:nvPr/>
        </p:nvSpPr>
        <p:spPr>
          <a:xfrm>
            <a:off x="6383464" y="1873377"/>
            <a:ext cx="202025" cy="179546"/>
          </a:xfrm>
          <a:custGeom>
            <a:avLst/>
            <a:gdLst/>
            <a:ahLst/>
            <a:cxnLst/>
            <a:rect l="l" t="t" r="r" b="b"/>
            <a:pathLst>
              <a:path w="202025" h="179546">
                <a:moveTo>
                  <a:pt x="126545" y="420"/>
                </a:moveTo>
                <a:cubicBezTo>
                  <a:pt x="120584" y="-1297"/>
                  <a:pt x="114375" y="2173"/>
                  <a:pt x="112657" y="8135"/>
                </a:cubicBezTo>
                <a:lnTo>
                  <a:pt x="67762" y="165238"/>
                </a:lnTo>
                <a:cubicBezTo>
                  <a:pt x="66044" y="171200"/>
                  <a:pt x="69516" y="177407"/>
                  <a:pt x="75479" y="179125"/>
                </a:cubicBezTo>
                <a:cubicBezTo>
                  <a:pt x="81440" y="180843"/>
                  <a:pt x="87649" y="177372"/>
                  <a:pt x="89367" y="171410"/>
                </a:cubicBezTo>
                <a:lnTo>
                  <a:pt x="134262" y="14308"/>
                </a:lnTo>
                <a:cubicBezTo>
                  <a:pt x="135980" y="8346"/>
                  <a:pt x="132508" y="2138"/>
                  <a:pt x="126545" y="420"/>
                </a:cubicBezTo>
                <a:close/>
                <a:moveTo>
                  <a:pt x="149204" y="48147"/>
                </a:moveTo>
                <a:cubicBezTo>
                  <a:pt x="144819" y="52531"/>
                  <a:pt x="144819" y="59650"/>
                  <a:pt x="149204" y="64033"/>
                </a:cubicBezTo>
                <a:lnTo>
                  <a:pt x="174948" y="89773"/>
                </a:lnTo>
                <a:lnTo>
                  <a:pt x="149204" y="115512"/>
                </a:lnTo>
                <a:cubicBezTo>
                  <a:pt x="144819" y="119895"/>
                  <a:pt x="144819" y="127014"/>
                  <a:pt x="149204" y="131398"/>
                </a:cubicBezTo>
                <a:cubicBezTo>
                  <a:pt x="153587" y="135781"/>
                  <a:pt x="160708" y="135781"/>
                  <a:pt x="165091" y="131398"/>
                </a:cubicBezTo>
                <a:lnTo>
                  <a:pt x="198762" y="97733"/>
                </a:lnTo>
                <a:cubicBezTo>
                  <a:pt x="203147" y="93349"/>
                  <a:pt x="203147" y="86231"/>
                  <a:pt x="198762" y="81847"/>
                </a:cubicBezTo>
                <a:lnTo>
                  <a:pt x="165091" y="48182"/>
                </a:lnTo>
                <a:cubicBezTo>
                  <a:pt x="160708" y="43799"/>
                  <a:pt x="153587" y="43799"/>
                  <a:pt x="149204" y="48182"/>
                </a:cubicBezTo>
                <a:close/>
                <a:moveTo>
                  <a:pt x="52855" y="48147"/>
                </a:moveTo>
                <a:cubicBezTo>
                  <a:pt x="48472" y="43764"/>
                  <a:pt x="41351" y="43764"/>
                  <a:pt x="36968" y="48147"/>
                </a:cubicBezTo>
                <a:lnTo>
                  <a:pt x="3297" y="81812"/>
                </a:lnTo>
                <a:cubicBezTo>
                  <a:pt x="-1087" y="86196"/>
                  <a:pt x="-1087" y="93314"/>
                  <a:pt x="3297" y="97698"/>
                </a:cubicBezTo>
                <a:lnTo>
                  <a:pt x="36968" y="131363"/>
                </a:lnTo>
                <a:cubicBezTo>
                  <a:pt x="41351" y="135746"/>
                  <a:pt x="48472" y="135746"/>
                  <a:pt x="52855" y="131363"/>
                </a:cubicBezTo>
                <a:cubicBezTo>
                  <a:pt x="57240" y="126979"/>
                  <a:pt x="57240" y="119860"/>
                  <a:pt x="52855" y="115477"/>
                </a:cubicBezTo>
                <a:lnTo>
                  <a:pt x="27111" y="89773"/>
                </a:lnTo>
                <a:lnTo>
                  <a:pt x="52820" y="64033"/>
                </a:lnTo>
                <a:cubicBezTo>
                  <a:pt x="57205" y="59650"/>
                  <a:pt x="57205" y="52531"/>
                  <a:pt x="52820" y="4814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47" name="dsl:shape45"/>
          <p:cNvSpPr/>
          <p:nvPr/>
        </p:nvSpPr>
        <p:spPr>
          <a:xfrm>
            <a:off x="6596729" y="1837467"/>
            <a:ext cx="5144357" cy="2513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sl:text46"/>
          <p:cNvSpPr txBox="1"/>
          <p:nvPr/>
        </p:nvSpPr>
        <p:spPr>
          <a:xfrm>
            <a:off x="6505289" y="1791747"/>
            <a:ext cx="5327237" cy="3428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417" noProof="1">
                <a:solidFill>
                  <a:srgbClr val="EFEFEF"/>
                </a:solidFill>
                <a:latin typeface="Liter"/>
                <a:ea typeface="Liter"/>
              </a:rPr>
              <a:t>Пример JSON-LD</a:t>
            </a:r>
          </a:p>
        </p:txBody>
      </p:sp>
      <p:sp>
        <p:nvSpPr>
          <p:cNvPr id="49" name="dsl:shape47"/>
          <p:cNvSpPr/>
          <p:nvPr/>
        </p:nvSpPr>
        <p:spPr>
          <a:xfrm>
            <a:off x="6375273" y="2235517"/>
            <a:ext cx="5267039" cy="4432077"/>
          </a:xfrm>
          <a:custGeom>
            <a:avLst/>
            <a:gdLst/>
            <a:ahLst/>
            <a:cxnLst/>
            <a:rect l="l" t="t" r="r" b="b"/>
            <a:pathLst>
              <a:path w="5267039" h="4432077">
                <a:moveTo>
                  <a:pt x="71843" y="0"/>
                </a:moveTo>
                <a:lnTo>
                  <a:pt x="5195195" y="0"/>
                </a:lnTo>
                <a:cubicBezTo>
                  <a:pt x="5234873" y="0"/>
                  <a:pt x="5267039" y="32165"/>
                  <a:pt x="5267039" y="71843"/>
                </a:cubicBezTo>
                <a:lnTo>
                  <a:pt x="5267039" y="4360233"/>
                </a:lnTo>
                <a:cubicBezTo>
                  <a:pt x="5267039" y="4399911"/>
                  <a:pt x="5234873" y="4432077"/>
                  <a:pt x="5195195" y="4432077"/>
                </a:cubicBezTo>
                <a:lnTo>
                  <a:pt x="71843" y="4432077"/>
                </a:lnTo>
                <a:cubicBezTo>
                  <a:pt x="32165" y="4432077"/>
                  <a:pt x="0" y="4399911"/>
                  <a:pt x="0" y="4360233"/>
                </a:cubicBezTo>
                <a:lnTo>
                  <a:pt x="0" y="71843"/>
                </a:lnTo>
                <a:cubicBezTo>
                  <a:pt x="0" y="32191"/>
                  <a:pt x="32191" y="0"/>
                  <a:pt x="71843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50" name="dsl:shape48"/>
          <p:cNvSpPr/>
          <p:nvPr/>
        </p:nvSpPr>
        <p:spPr>
          <a:xfrm>
            <a:off x="6557772" y="2424017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sl:text49"/>
          <p:cNvSpPr txBox="1"/>
          <p:nvPr/>
        </p:nvSpPr>
        <p:spPr>
          <a:xfrm>
            <a:off x="6466332" y="2378297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{</a:t>
            </a:r>
          </a:p>
        </p:txBody>
      </p:sp>
      <p:sp>
        <p:nvSpPr>
          <p:cNvPr id="52" name="dsl:shape50"/>
          <p:cNvSpPr/>
          <p:nvPr/>
        </p:nvSpPr>
        <p:spPr>
          <a:xfrm>
            <a:off x="6701408" y="2610707"/>
            <a:ext cx="646176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sl:text51"/>
          <p:cNvSpPr txBox="1"/>
          <p:nvPr/>
        </p:nvSpPr>
        <p:spPr>
          <a:xfrm>
            <a:off x="6609969" y="2564987"/>
            <a:ext cx="829056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"@context"</a:t>
            </a:r>
          </a:p>
        </p:txBody>
      </p:sp>
      <p:sp>
        <p:nvSpPr>
          <p:cNvPr id="54" name="dsl:shape52"/>
          <p:cNvSpPr/>
          <p:nvPr/>
        </p:nvSpPr>
        <p:spPr>
          <a:xfrm>
            <a:off x="7353109" y="2610707"/>
            <a:ext cx="172402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sl:text53"/>
          <p:cNvSpPr txBox="1"/>
          <p:nvPr/>
        </p:nvSpPr>
        <p:spPr>
          <a:xfrm>
            <a:off x="7261669" y="2564987"/>
            <a:ext cx="355282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EFEFEF"/>
                </a:solidFill>
                <a:latin typeface="MiSans"/>
                <a:ea typeface="MiSans"/>
              </a:rPr>
              <a:t>:</a:t>
            </a:r>
          </a:p>
        </p:txBody>
      </p:sp>
      <p:sp>
        <p:nvSpPr>
          <p:cNvPr id="56" name="dsl:shape54"/>
          <p:cNvSpPr/>
          <p:nvPr/>
        </p:nvSpPr>
        <p:spPr>
          <a:xfrm>
            <a:off x="7471600" y="2610707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sl:text55"/>
          <p:cNvSpPr txBox="1"/>
          <p:nvPr/>
        </p:nvSpPr>
        <p:spPr>
          <a:xfrm>
            <a:off x="7380160" y="2564987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{</a:t>
            </a:r>
          </a:p>
        </p:txBody>
      </p:sp>
      <p:sp>
        <p:nvSpPr>
          <p:cNvPr id="58" name="dsl:shape56"/>
          <p:cNvSpPr/>
          <p:nvPr/>
        </p:nvSpPr>
        <p:spPr>
          <a:xfrm>
            <a:off x="6845141" y="2797397"/>
            <a:ext cx="350043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sl:text57"/>
          <p:cNvSpPr txBox="1"/>
          <p:nvPr/>
        </p:nvSpPr>
        <p:spPr>
          <a:xfrm>
            <a:off x="6753701" y="2751677"/>
            <a:ext cx="532923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"iot"</a:t>
            </a:r>
          </a:p>
        </p:txBody>
      </p:sp>
      <p:sp>
        <p:nvSpPr>
          <p:cNvPr id="60" name="dsl:shape58"/>
          <p:cNvSpPr/>
          <p:nvPr/>
        </p:nvSpPr>
        <p:spPr>
          <a:xfrm>
            <a:off x="7200519" y="2797397"/>
            <a:ext cx="1534763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sl:text59"/>
          <p:cNvSpPr txBox="1"/>
          <p:nvPr/>
        </p:nvSpPr>
        <p:spPr>
          <a:xfrm>
            <a:off x="7109079" y="2751677"/>
            <a:ext cx="1717643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"http://example.org/iot#"</a:t>
            </a:r>
          </a:p>
        </p:txBody>
      </p:sp>
      <p:sp>
        <p:nvSpPr>
          <p:cNvPr id="62" name="dsl:shape60"/>
          <p:cNvSpPr/>
          <p:nvPr/>
        </p:nvSpPr>
        <p:spPr>
          <a:xfrm>
            <a:off x="8740711" y="2797397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sl:text61"/>
          <p:cNvSpPr txBox="1"/>
          <p:nvPr/>
        </p:nvSpPr>
        <p:spPr>
          <a:xfrm>
            <a:off x="8649271" y="2751677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64" name="dsl:shape62"/>
          <p:cNvSpPr/>
          <p:nvPr/>
        </p:nvSpPr>
        <p:spPr>
          <a:xfrm>
            <a:off x="6845141" y="2983991"/>
            <a:ext cx="350043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sl:text63"/>
          <p:cNvSpPr txBox="1"/>
          <p:nvPr/>
        </p:nvSpPr>
        <p:spPr>
          <a:xfrm>
            <a:off x="6753701" y="2938272"/>
            <a:ext cx="532923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"nif"</a:t>
            </a:r>
          </a:p>
        </p:txBody>
      </p:sp>
      <p:sp>
        <p:nvSpPr>
          <p:cNvPr id="66" name="dsl:shape64"/>
          <p:cNvSpPr/>
          <p:nvPr/>
        </p:nvSpPr>
        <p:spPr>
          <a:xfrm>
            <a:off x="7200519" y="2983991"/>
            <a:ext cx="1949291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sl:text65"/>
          <p:cNvSpPr txBox="1"/>
          <p:nvPr/>
        </p:nvSpPr>
        <p:spPr>
          <a:xfrm>
            <a:off x="7109079" y="2938272"/>
            <a:ext cx="2132171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"http://persistence...nif-core#"</a:t>
            </a:r>
          </a:p>
        </p:txBody>
      </p:sp>
      <p:sp>
        <p:nvSpPr>
          <p:cNvPr id="68" name="dsl:shape66"/>
          <p:cNvSpPr/>
          <p:nvPr/>
        </p:nvSpPr>
        <p:spPr>
          <a:xfrm>
            <a:off x="6701408" y="3170682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sl:text67"/>
          <p:cNvSpPr txBox="1"/>
          <p:nvPr/>
        </p:nvSpPr>
        <p:spPr>
          <a:xfrm>
            <a:off x="6609969" y="3124962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}</a:t>
            </a:r>
          </a:p>
        </p:txBody>
      </p:sp>
      <p:sp>
        <p:nvSpPr>
          <p:cNvPr id="70" name="dsl:shape68"/>
          <p:cNvSpPr/>
          <p:nvPr/>
        </p:nvSpPr>
        <p:spPr>
          <a:xfrm>
            <a:off x="6819995" y="3170682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sl:text69"/>
          <p:cNvSpPr txBox="1"/>
          <p:nvPr/>
        </p:nvSpPr>
        <p:spPr>
          <a:xfrm>
            <a:off x="6728555" y="3124962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72" name="dsl:shape70"/>
          <p:cNvSpPr/>
          <p:nvPr/>
        </p:nvSpPr>
        <p:spPr>
          <a:xfrm>
            <a:off x="6701408" y="3357372"/>
            <a:ext cx="350043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sl:text71"/>
          <p:cNvSpPr txBox="1"/>
          <p:nvPr/>
        </p:nvSpPr>
        <p:spPr>
          <a:xfrm>
            <a:off x="6609969" y="3311652"/>
            <a:ext cx="532923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"@id"</a:t>
            </a:r>
          </a:p>
        </p:txBody>
      </p:sp>
      <p:sp>
        <p:nvSpPr>
          <p:cNvPr id="74" name="dsl:shape72"/>
          <p:cNvSpPr/>
          <p:nvPr/>
        </p:nvSpPr>
        <p:spPr>
          <a:xfrm>
            <a:off x="7056882" y="3357372"/>
            <a:ext cx="942403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sl:text73"/>
          <p:cNvSpPr txBox="1"/>
          <p:nvPr/>
        </p:nvSpPr>
        <p:spPr>
          <a:xfrm>
            <a:off x="6965442" y="3311652"/>
            <a:ext cx="1125283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"utterance_001"</a:t>
            </a:r>
          </a:p>
        </p:txBody>
      </p:sp>
      <p:sp>
        <p:nvSpPr>
          <p:cNvPr id="76" name="dsl:shape74"/>
          <p:cNvSpPr/>
          <p:nvPr/>
        </p:nvSpPr>
        <p:spPr>
          <a:xfrm>
            <a:off x="8004714" y="3357372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sl:text75"/>
          <p:cNvSpPr txBox="1"/>
          <p:nvPr/>
        </p:nvSpPr>
        <p:spPr>
          <a:xfrm>
            <a:off x="7913274" y="3311652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78" name="dsl:shape76"/>
          <p:cNvSpPr/>
          <p:nvPr/>
        </p:nvSpPr>
        <p:spPr>
          <a:xfrm>
            <a:off x="6701408" y="3544062"/>
            <a:ext cx="468534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sl:text77"/>
          <p:cNvSpPr txBox="1"/>
          <p:nvPr/>
        </p:nvSpPr>
        <p:spPr>
          <a:xfrm>
            <a:off x="6609969" y="3498341"/>
            <a:ext cx="651414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"@type"</a:t>
            </a:r>
          </a:p>
        </p:txBody>
      </p:sp>
      <p:sp>
        <p:nvSpPr>
          <p:cNvPr id="80" name="dsl:shape78"/>
          <p:cNvSpPr/>
          <p:nvPr/>
        </p:nvSpPr>
        <p:spPr>
          <a:xfrm>
            <a:off x="7175373" y="3544062"/>
            <a:ext cx="823912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sl:text79"/>
          <p:cNvSpPr txBox="1"/>
          <p:nvPr/>
        </p:nvSpPr>
        <p:spPr>
          <a:xfrm>
            <a:off x="7083933" y="3498341"/>
            <a:ext cx="1006792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"nif:Context"</a:t>
            </a:r>
          </a:p>
        </p:txBody>
      </p:sp>
      <p:sp>
        <p:nvSpPr>
          <p:cNvPr id="82" name="dsl:shape80"/>
          <p:cNvSpPr/>
          <p:nvPr/>
        </p:nvSpPr>
        <p:spPr>
          <a:xfrm>
            <a:off x="8004714" y="3544062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sl:text81"/>
          <p:cNvSpPr txBox="1"/>
          <p:nvPr/>
        </p:nvSpPr>
        <p:spPr>
          <a:xfrm>
            <a:off x="7913274" y="3498341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84" name="dsl:shape82"/>
          <p:cNvSpPr/>
          <p:nvPr/>
        </p:nvSpPr>
        <p:spPr>
          <a:xfrm>
            <a:off x="6701408" y="3730656"/>
            <a:ext cx="883158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sl:text83"/>
          <p:cNvSpPr txBox="1"/>
          <p:nvPr/>
        </p:nvSpPr>
        <p:spPr>
          <a:xfrm>
            <a:off x="6609969" y="3684936"/>
            <a:ext cx="1066038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"nif:isString"</a:t>
            </a:r>
          </a:p>
        </p:txBody>
      </p:sp>
      <p:sp>
        <p:nvSpPr>
          <p:cNvPr id="86" name="dsl:shape84"/>
          <p:cNvSpPr/>
          <p:nvPr/>
        </p:nvSpPr>
        <p:spPr>
          <a:xfrm>
            <a:off x="7590091" y="3730656"/>
            <a:ext cx="1416272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sl:text85"/>
          <p:cNvSpPr txBox="1"/>
          <p:nvPr/>
        </p:nvSpPr>
        <p:spPr>
          <a:xfrm>
            <a:off x="7498651" y="3684936"/>
            <a:ext cx="1599152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"Включи свет в спальне"</a:t>
            </a:r>
          </a:p>
        </p:txBody>
      </p:sp>
      <p:sp>
        <p:nvSpPr>
          <p:cNvPr id="88" name="dsl:shape86"/>
          <p:cNvSpPr/>
          <p:nvPr/>
        </p:nvSpPr>
        <p:spPr>
          <a:xfrm>
            <a:off x="9011793" y="3730656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sl:text87"/>
          <p:cNvSpPr txBox="1"/>
          <p:nvPr/>
        </p:nvSpPr>
        <p:spPr>
          <a:xfrm>
            <a:off x="8920353" y="3684936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90" name="dsl:shape88"/>
          <p:cNvSpPr/>
          <p:nvPr/>
        </p:nvSpPr>
        <p:spPr>
          <a:xfrm>
            <a:off x="6701408" y="3917346"/>
            <a:ext cx="1297781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sl:text89"/>
          <p:cNvSpPr txBox="1"/>
          <p:nvPr/>
        </p:nvSpPr>
        <p:spPr>
          <a:xfrm>
            <a:off x="6609969" y="3871626"/>
            <a:ext cx="1480661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"iot:hasAudioSegment"</a:t>
            </a:r>
          </a:p>
        </p:txBody>
      </p:sp>
      <p:sp>
        <p:nvSpPr>
          <p:cNvPr id="92" name="dsl:shape90"/>
          <p:cNvSpPr/>
          <p:nvPr/>
        </p:nvSpPr>
        <p:spPr>
          <a:xfrm>
            <a:off x="8004619" y="3917346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sl:text91"/>
          <p:cNvSpPr txBox="1"/>
          <p:nvPr/>
        </p:nvSpPr>
        <p:spPr>
          <a:xfrm>
            <a:off x="7913179" y="3871626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{</a:t>
            </a:r>
          </a:p>
        </p:txBody>
      </p:sp>
      <p:sp>
        <p:nvSpPr>
          <p:cNvPr id="94" name="dsl:shape92"/>
          <p:cNvSpPr/>
          <p:nvPr/>
        </p:nvSpPr>
        <p:spPr>
          <a:xfrm>
            <a:off x="6845141" y="4104036"/>
            <a:ext cx="468534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sl:text93"/>
          <p:cNvSpPr txBox="1"/>
          <p:nvPr/>
        </p:nvSpPr>
        <p:spPr>
          <a:xfrm>
            <a:off x="6753701" y="4058316"/>
            <a:ext cx="651414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"@type"</a:t>
            </a:r>
          </a:p>
        </p:txBody>
      </p:sp>
      <p:sp>
        <p:nvSpPr>
          <p:cNvPr id="96" name="dsl:shape94"/>
          <p:cNvSpPr/>
          <p:nvPr/>
        </p:nvSpPr>
        <p:spPr>
          <a:xfrm>
            <a:off x="7319010" y="4104036"/>
            <a:ext cx="1120044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sl:text95"/>
          <p:cNvSpPr txBox="1"/>
          <p:nvPr/>
        </p:nvSpPr>
        <p:spPr>
          <a:xfrm>
            <a:off x="7227570" y="4058316"/>
            <a:ext cx="1302924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"iot:AudioSegment"</a:t>
            </a:r>
          </a:p>
        </p:txBody>
      </p:sp>
      <p:sp>
        <p:nvSpPr>
          <p:cNvPr id="98" name="dsl:shape96"/>
          <p:cNvSpPr/>
          <p:nvPr/>
        </p:nvSpPr>
        <p:spPr>
          <a:xfrm>
            <a:off x="8444579" y="4104036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sl:text97"/>
          <p:cNvSpPr txBox="1"/>
          <p:nvPr/>
        </p:nvSpPr>
        <p:spPr>
          <a:xfrm>
            <a:off x="8353139" y="4058316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100" name="dsl:shape98"/>
          <p:cNvSpPr/>
          <p:nvPr/>
        </p:nvSpPr>
        <p:spPr>
          <a:xfrm>
            <a:off x="6845141" y="4290726"/>
            <a:ext cx="942403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sl:text99"/>
          <p:cNvSpPr txBox="1"/>
          <p:nvPr/>
        </p:nvSpPr>
        <p:spPr>
          <a:xfrm>
            <a:off x="6753701" y="4245006"/>
            <a:ext cx="1125283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"iot:startTime"</a:t>
            </a:r>
          </a:p>
        </p:txBody>
      </p:sp>
      <p:sp>
        <p:nvSpPr>
          <p:cNvPr id="102" name="dsl:shape100"/>
          <p:cNvSpPr/>
          <p:nvPr/>
        </p:nvSpPr>
        <p:spPr>
          <a:xfrm>
            <a:off x="7792878" y="4290726"/>
            <a:ext cx="231648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sl:text101"/>
          <p:cNvSpPr txBox="1"/>
          <p:nvPr/>
        </p:nvSpPr>
        <p:spPr>
          <a:xfrm>
            <a:off x="7701438" y="4245006"/>
            <a:ext cx="414528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0.5</a:t>
            </a:r>
          </a:p>
        </p:txBody>
      </p:sp>
      <p:sp>
        <p:nvSpPr>
          <p:cNvPr id="104" name="dsl:shape102"/>
          <p:cNvSpPr/>
          <p:nvPr/>
        </p:nvSpPr>
        <p:spPr>
          <a:xfrm>
            <a:off x="8029956" y="4290726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dsl:text103"/>
          <p:cNvSpPr txBox="1"/>
          <p:nvPr/>
        </p:nvSpPr>
        <p:spPr>
          <a:xfrm>
            <a:off x="7938516" y="4245006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106" name="dsl:shape104"/>
          <p:cNvSpPr/>
          <p:nvPr/>
        </p:nvSpPr>
        <p:spPr>
          <a:xfrm>
            <a:off x="6845141" y="4477321"/>
            <a:ext cx="823912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dsl:text105"/>
          <p:cNvSpPr txBox="1"/>
          <p:nvPr/>
        </p:nvSpPr>
        <p:spPr>
          <a:xfrm>
            <a:off x="6753701" y="4431601"/>
            <a:ext cx="1006792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"iot:endTime"</a:t>
            </a:r>
          </a:p>
        </p:txBody>
      </p:sp>
      <p:sp>
        <p:nvSpPr>
          <p:cNvPr id="108" name="dsl:shape106"/>
          <p:cNvSpPr/>
          <p:nvPr/>
        </p:nvSpPr>
        <p:spPr>
          <a:xfrm>
            <a:off x="7674387" y="4477321"/>
            <a:ext cx="231648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sl:text107"/>
          <p:cNvSpPr txBox="1"/>
          <p:nvPr/>
        </p:nvSpPr>
        <p:spPr>
          <a:xfrm>
            <a:off x="7582947" y="4431601"/>
            <a:ext cx="414528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2.9</a:t>
            </a:r>
          </a:p>
        </p:txBody>
      </p:sp>
      <p:sp>
        <p:nvSpPr>
          <p:cNvPr id="110" name="dsl:shape108"/>
          <p:cNvSpPr/>
          <p:nvPr/>
        </p:nvSpPr>
        <p:spPr>
          <a:xfrm>
            <a:off x="7911465" y="4477321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sl:text109"/>
          <p:cNvSpPr txBox="1"/>
          <p:nvPr/>
        </p:nvSpPr>
        <p:spPr>
          <a:xfrm>
            <a:off x="7820025" y="4431601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112" name="dsl:shape110"/>
          <p:cNvSpPr/>
          <p:nvPr/>
        </p:nvSpPr>
        <p:spPr>
          <a:xfrm>
            <a:off x="6845141" y="4664011"/>
            <a:ext cx="1001553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dsl:text111"/>
          <p:cNvSpPr txBox="1"/>
          <p:nvPr/>
        </p:nvSpPr>
        <p:spPr>
          <a:xfrm>
            <a:off x="6753701" y="4618291"/>
            <a:ext cx="1184433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"iot:sourceFile"</a:t>
            </a:r>
          </a:p>
        </p:txBody>
      </p:sp>
      <p:sp>
        <p:nvSpPr>
          <p:cNvPr id="114" name="dsl:shape112"/>
          <p:cNvSpPr/>
          <p:nvPr/>
        </p:nvSpPr>
        <p:spPr>
          <a:xfrm>
            <a:off x="7852124" y="4664011"/>
            <a:ext cx="942403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dsl:text113"/>
          <p:cNvSpPr txBox="1"/>
          <p:nvPr/>
        </p:nvSpPr>
        <p:spPr>
          <a:xfrm>
            <a:off x="7760684" y="4618291"/>
            <a:ext cx="1125283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"audio_001.wav"</a:t>
            </a:r>
          </a:p>
        </p:txBody>
      </p:sp>
      <p:sp>
        <p:nvSpPr>
          <p:cNvPr id="116" name="dsl:shape114"/>
          <p:cNvSpPr/>
          <p:nvPr/>
        </p:nvSpPr>
        <p:spPr>
          <a:xfrm>
            <a:off x="6701408" y="4850701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dsl:text115"/>
          <p:cNvSpPr txBox="1"/>
          <p:nvPr/>
        </p:nvSpPr>
        <p:spPr>
          <a:xfrm>
            <a:off x="6609969" y="4804981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}</a:t>
            </a:r>
          </a:p>
        </p:txBody>
      </p:sp>
      <p:sp>
        <p:nvSpPr>
          <p:cNvPr id="118" name="dsl:shape116"/>
          <p:cNvSpPr/>
          <p:nvPr/>
        </p:nvSpPr>
        <p:spPr>
          <a:xfrm>
            <a:off x="6819995" y="4850701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dsl:text117"/>
          <p:cNvSpPr txBox="1"/>
          <p:nvPr/>
        </p:nvSpPr>
        <p:spPr>
          <a:xfrm>
            <a:off x="6728555" y="4804981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120" name="dsl:shape118"/>
          <p:cNvSpPr/>
          <p:nvPr/>
        </p:nvSpPr>
        <p:spPr>
          <a:xfrm>
            <a:off x="6701408" y="5037391"/>
            <a:ext cx="942403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dsl:text119"/>
          <p:cNvSpPr txBox="1"/>
          <p:nvPr/>
        </p:nvSpPr>
        <p:spPr>
          <a:xfrm>
            <a:off x="6609969" y="4991671"/>
            <a:ext cx="1125283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"iot:hasIntent"</a:t>
            </a:r>
          </a:p>
        </p:txBody>
      </p:sp>
      <p:sp>
        <p:nvSpPr>
          <p:cNvPr id="122" name="dsl:shape120"/>
          <p:cNvSpPr/>
          <p:nvPr/>
        </p:nvSpPr>
        <p:spPr>
          <a:xfrm>
            <a:off x="7649241" y="5037391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dsl:text121"/>
          <p:cNvSpPr txBox="1"/>
          <p:nvPr/>
        </p:nvSpPr>
        <p:spPr>
          <a:xfrm>
            <a:off x="7557801" y="4991671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{</a:t>
            </a:r>
          </a:p>
        </p:txBody>
      </p:sp>
      <p:sp>
        <p:nvSpPr>
          <p:cNvPr id="124" name="dsl:shape122"/>
          <p:cNvSpPr/>
          <p:nvPr/>
        </p:nvSpPr>
        <p:spPr>
          <a:xfrm>
            <a:off x="6845141" y="5223986"/>
            <a:ext cx="468534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dsl:text123"/>
          <p:cNvSpPr txBox="1"/>
          <p:nvPr/>
        </p:nvSpPr>
        <p:spPr>
          <a:xfrm>
            <a:off x="6753701" y="5178266"/>
            <a:ext cx="651414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"@type"</a:t>
            </a:r>
          </a:p>
        </p:txBody>
      </p:sp>
      <p:sp>
        <p:nvSpPr>
          <p:cNvPr id="126" name="dsl:shape124"/>
          <p:cNvSpPr/>
          <p:nvPr/>
        </p:nvSpPr>
        <p:spPr>
          <a:xfrm>
            <a:off x="7319010" y="5223986"/>
            <a:ext cx="1120044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dsl:text125"/>
          <p:cNvSpPr txBox="1"/>
          <p:nvPr/>
        </p:nvSpPr>
        <p:spPr>
          <a:xfrm>
            <a:off x="7227570" y="5178266"/>
            <a:ext cx="1302924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"iot:TurnOnIntent"</a:t>
            </a:r>
          </a:p>
        </p:txBody>
      </p:sp>
      <p:sp>
        <p:nvSpPr>
          <p:cNvPr id="128" name="dsl:shape126"/>
          <p:cNvSpPr/>
          <p:nvPr/>
        </p:nvSpPr>
        <p:spPr>
          <a:xfrm>
            <a:off x="8444579" y="5223986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dsl:text127"/>
          <p:cNvSpPr txBox="1"/>
          <p:nvPr/>
        </p:nvSpPr>
        <p:spPr>
          <a:xfrm>
            <a:off x="8353139" y="5178266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130" name="dsl:shape128"/>
          <p:cNvSpPr/>
          <p:nvPr/>
        </p:nvSpPr>
        <p:spPr>
          <a:xfrm>
            <a:off x="6845141" y="5410676"/>
            <a:ext cx="1120044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dsl:text129"/>
          <p:cNvSpPr txBox="1"/>
          <p:nvPr/>
        </p:nvSpPr>
        <p:spPr>
          <a:xfrm>
            <a:off x="6753701" y="5364956"/>
            <a:ext cx="1302924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"iot:targetDevice"</a:t>
            </a:r>
          </a:p>
        </p:txBody>
      </p:sp>
      <p:sp>
        <p:nvSpPr>
          <p:cNvPr id="132" name="dsl:shape130"/>
          <p:cNvSpPr/>
          <p:nvPr/>
        </p:nvSpPr>
        <p:spPr>
          <a:xfrm>
            <a:off x="7970615" y="5410676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dsl:text131"/>
          <p:cNvSpPr txBox="1"/>
          <p:nvPr/>
        </p:nvSpPr>
        <p:spPr>
          <a:xfrm>
            <a:off x="7879175" y="5364956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{</a:t>
            </a:r>
          </a:p>
        </p:txBody>
      </p:sp>
      <p:sp>
        <p:nvSpPr>
          <p:cNvPr id="134" name="dsl:shape132"/>
          <p:cNvSpPr/>
          <p:nvPr/>
        </p:nvSpPr>
        <p:spPr>
          <a:xfrm>
            <a:off x="6988778" y="5597366"/>
            <a:ext cx="468534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dsl:text133"/>
          <p:cNvSpPr txBox="1"/>
          <p:nvPr/>
        </p:nvSpPr>
        <p:spPr>
          <a:xfrm>
            <a:off x="6897338" y="5551646"/>
            <a:ext cx="651414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"@type"</a:t>
            </a:r>
          </a:p>
        </p:txBody>
      </p:sp>
      <p:sp>
        <p:nvSpPr>
          <p:cNvPr id="136" name="dsl:shape134"/>
          <p:cNvSpPr/>
          <p:nvPr/>
        </p:nvSpPr>
        <p:spPr>
          <a:xfrm>
            <a:off x="7462742" y="5597366"/>
            <a:ext cx="705516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dsl:text135"/>
          <p:cNvSpPr txBox="1"/>
          <p:nvPr/>
        </p:nvSpPr>
        <p:spPr>
          <a:xfrm>
            <a:off x="7371302" y="5551646"/>
            <a:ext cx="888396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"iot:Light"</a:t>
            </a:r>
          </a:p>
        </p:txBody>
      </p:sp>
      <p:sp>
        <p:nvSpPr>
          <p:cNvPr id="138" name="dsl:shape136"/>
          <p:cNvSpPr/>
          <p:nvPr/>
        </p:nvSpPr>
        <p:spPr>
          <a:xfrm>
            <a:off x="8173593" y="5597366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dsl:text137"/>
          <p:cNvSpPr txBox="1"/>
          <p:nvPr/>
        </p:nvSpPr>
        <p:spPr>
          <a:xfrm>
            <a:off x="8082153" y="5551646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EFEFEF"/>
                </a:solidFill>
                <a:latin typeface="MiSans"/>
                <a:ea typeface="MiSans"/>
              </a:rPr>
              <a:t>,</a:t>
            </a:r>
          </a:p>
        </p:txBody>
      </p:sp>
      <p:sp>
        <p:nvSpPr>
          <p:cNvPr id="140" name="dsl:shape138"/>
          <p:cNvSpPr/>
          <p:nvPr/>
        </p:nvSpPr>
        <p:spPr>
          <a:xfrm>
            <a:off x="6988778" y="5784056"/>
            <a:ext cx="883158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dsl:text139"/>
          <p:cNvSpPr txBox="1"/>
          <p:nvPr/>
        </p:nvSpPr>
        <p:spPr>
          <a:xfrm>
            <a:off x="6897338" y="5738336"/>
            <a:ext cx="1066038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8F8F8F"/>
                </a:solidFill>
                <a:latin typeface="MiSans"/>
                <a:ea typeface="MiSans"/>
              </a:rPr>
              <a:t>"iot:location"</a:t>
            </a:r>
          </a:p>
        </p:txBody>
      </p:sp>
      <p:sp>
        <p:nvSpPr>
          <p:cNvPr id="142" name="dsl:shape140"/>
          <p:cNvSpPr/>
          <p:nvPr/>
        </p:nvSpPr>
        <p:spPr>
          <a:xfrm>
            <a:off x="7877365" y="5784056"/>
            <a:ext cx="587025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dsl:text141"/>
          <p:cNvSpPr txBox="1"/>
          <p:nvPr/>
        </p:nvSpPr>
        <p:spPr>
          <a:xfrm>
            <a:off x="7785925" y="5738336"/>
            <a:ext cx="769905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"bedroom"</a:t>
            </a:r>
          </a:p>
        </p:txBody>
      </p:sp>
      <p:sp>
        <p:nvSpPr>
          <p:cNvPr id="144" name="dsl:shape142"/>
          <p:cNvSpPr/>
          <p:nvPr/>
        </p:nvSpPr>
        <p:spPr>
          <a:xfrm>
            <a:off x="6845141" y="5970651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dsl:text143"/>
          <p:cNvSpPr txBox="1"/>
          <p:nvPr/>
        </p:nvSpPr>
        <p:spPr>
          <a:xfrm>
            <a:off x="6753701" y="5924931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}</a:t>
            </a:r>
          </a:p>
        </p:txBody>
      </p:sp>
      <p:sp>
        <p:nvSpPr>
          <p:cNvPr id="146" name="dsl:shape144"/>
          <p:cNvSpPr/>
          <p:nvPr/>
        </p:nvSpPr>
        <p:spPr>
          <a:xfrm>
            <a:off x="6701408" y="6157341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dsl:text145"/>
          <p:cNvSpPr txBox="1"/>
          <p:nvPr/>
        </p:nvSpPr>
        <p:spPr>
          <a:xfrm>
            <a:off x="6609969" y="6111621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}</a:t>
            </a:r>
          </a:p>
        </p:txBody>
      </p:sp>
      <p:sp>
        <p:nvSpPr>
          <p:cNvPr id="148" name="dsl:shape146"/>
          <p:cNvSpPr/>
          <p:nvPr/>
        </p:nvSpPr>
        <p:spPr>
          <a:xfrm>
            <a:off x="6557772" y="6344031"/>
            <a:ext cx="113157" cy="1316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dsl:text147"/>
          <p:cNvSpPr txBox="1"/>
          <p:nvPr/>
        </p:nvSpPr>
        <p:spPr>
          <a:xfrm>
            <a:off x="6466332" y="6298311"/>
            <a:ext cx="296037" cy="2230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noProof="1">
                <a:solidFill>
                  <a:srgbClr val="6366F1"/>
                </a:solidFill>
                <a:latin typeface="MiSans"/>
                <a:ea typeface="MiSan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  <a:effectLst/>
        </p:spPr>
      </p:sp>
      <p:sp>
        <p:nvSpPr>
          <p:cNvPr id="3" name="dsl:shape1"/>
          <p:cNvSpPr/>
          <p:nvPr/>
        </p:nvSpPr>
        <p:spPr>
          <a:xfrm>
            <a:off x="509587" y="485775"/>
            <a:ext cx="128587" cy="171450"/>
          </a:xfrm>
          <a:custGeom>
            <a:avLst/>
            <a:gdLst/>
            <a:ahLst/>
            <a:cxnLst/>
            <a:rect l="l" t="t" r="r" b="b"/>
            <a:pathLst>
              <a:path w="128587" h="171450">
                <a:moveTo>
                  <a:pt x="83681" y="22369"/>
                </a:moveTo>
                <a:cubicBezTo>
                  <a:pt x="87164" y="17580"/>
                  <a:pt x="86092" y="10883"/>
                  <a:pt x="81304" y="7400"/>
                </a:cubicBezTo>
                <a:cubicBezTo>
                  <a:pt x="76515" y="3918"/>
                  <a:pt x="69818" y="4989"/>
                  <a:pt x="66335" y="9778"/>
                </a:cubicBezTo>
                <a:lnTo>
                  <a:pt x="30840" y="58568"/>
                </a:lnTo>
                <a:lnTo>
                  <a:pt x="18283" y="46010"/>
                </a:lnTo>
                <a:cubicBezTo>
                  <a:pt x="14097" y="41824"/>
                  <a:pt x="7299" y="41824"/>
                  <a:pt x="3113" y="46010"/>
                </a:cubicBezTo>
                <a:cubicBezTo>
                  <a:pt x="-1071" y="50196"/>
                  <a:pt x="-1071" y="56994"/>
                  <a:pt x="3113" y="61180"/>
                </a:cubicBezTo>
                <a:lnTo>
                  <a:pt x="24544" y="82611"/>
                </a:lnTo>
                <a:cubicBezTo>
                  <a:pt x="26755" y="84821"/>
                  <a:pt x="29835" y="85959"/>
                  <a:pt x="32950" y="85725"/>
                </a:cubicBezTo>
                <a:cubicBezTo>
                  <a:pt x="36064" y="85491"/>
                  <a:pt x="38944" y="83883"/>
                  <a:pt x="40785" y="81338"/>
                </a:cubicBezTo>
                <a:lnTo>
                  <a:pt x="83648" y="22402"/>
                </a:lnTo>
                <a:close/>
                <a:moveTo>
                  <a:pt x="126544" y="67910"/>
                </a:moveTo>
                <a:cubicBezTo>
                  <a:pt x="130025" y="63122"/>
                  <a:pt x="128954" y="56424"/>
                  <a:pt x="124166" y="52942"/>
                </a:cubicBezTo>
                <a:cubicBezTo>
                  <a:pt x="119378" y="49459"/>
                  <a:pt x="112680" y="50531"/>
                  <a:pt x="109198" y="55319"/>
                </a:cubicBezTo>
                <a:lnTo>
                  <a:pt x="52271" y="133577"/>
                </a:lnTo>
                <a:lnTo>
                  <a:pt x="28998" y="110304"/>
                </a:lnTo>
                <a:cubicBezTo>
                  <a:pt x="24812" y="106118"/>
                  <a:pt x="18015" y="106118"/>
                  <a:pt x="13829" y="110304"/>
                </a:cubicBezTo>
                <a:cubicBezTo>
                  <a:pt x="9643" y="114490"/>
                  <a:pt x="9643" y="121287"/>
                  <a:pt x="13829" y="125473"/>
                </a:cubicBezTo>
                <a:lnTo>
                  <a:pt x="45976" y="157620"/>
                </a:lnTo>
                <a:cubicBezTo>
                  <a:pt x="48186" y="159830"/>
                  <a:pt x="51267" y="160969"/>
                  <a:pt x="54381" y="160734"/>
                </a:cubicBezTo>
                <a:cubicBezTo>
                  <a:pt x="57495" y="160500"/>
                  <a:pt x="60375" y="158893"/>
                  <a:pt x="62217" y="156348"/>
                </a:cubicBezTo>
                <a:lnTo>
                  <a:pt x="126510" y="67944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4" name="dsl:shape2"/>
          <p:cNvSpPr/>
          <p:nvPr/>
        </p:nvSpPr>
        <p:spPr>
          <a:xfrm>
            <a:off x="876300" y="457200"/>
            <a:ext cx="176212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ext3"/>
          <p:cNvSpPr txBox="1"/>
          <p:nvPr/>
        </p:nvSpPr>
        <p:spPr>
          <a:xfrm>
            <a:off x="784860" y="411480"/>
            <a:ext cx="1945005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 spc="60">
                <a:solidFill>
                  <a:srgbClr val="6366F1"/>
                </a:solidFill>
                <a:latin typeface="Liter"/>
                <a:ea typeface="Liter"/>
              </a:rPr>
              <a:t>Quality Assurance</a:t>
            </a:r>
          </a:p>
        </p:txBody>
      </p:sp>
      <p:sp>
        <p:nvSpPr>
          <p:cNvPr id="6" name="dsl:shape4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text5"/>
          <p:cNvSpPr txBox="1"/>
          <p:nvPr/>
        </p:nvSpPr>
        <p:spPr>
          <a:xfrm>
            <a:off x="289560" y="830580"/>
            <a:ext cx="11784330" cy="472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b="1" sz="2700" noProof="1">
                <a:solidFill>
                  <a:srgbClr val="EFEFEF"/>
                </a:solidFill>
                <a:latin typeface="Liter"/>
                <a:ea typeface="Liter"/>
              </a:rPr>
              <a:t>Золотой стандарт и контроль качества</a:t>
            </a:r>
          </a:p>
        </p:txBody>
      </p:sp>
      <p:sp>
        <p:nvSpPr>
          <p:cNvPr id="8" name="dsl:shape6"/>
          <p:cNvSpPr/>
          <p:nvPr/>
        </p:nvSpPr>
        <p:spPr>
          <a:xfrm>
            <a:off x="384143" y="1412843"/>
            <a:ext cx="5616606" cy="3978306"/>
          </a:xfrm>
          <a:custGeom>
            <a:avLst/>
            <a:gdLst/>
            <a:ahLst/>
            <a:cxnLst/>
            <a:rect l="l" t="t" r="r" b="b"/>
            <a:pathLst>
              <a:path w="5616606" h="3978306">
                <a:moveTo>
                  <a:pt x="114296" y="0"/>
                </a:moveTo>
                <a:lnTo>
                  <a:pt x="5502309" y="0"/>
                </a:lnTo>
                <a:cubicBezTo>
                  <a:pt x="5565433" y="0"/>
                  <a:pt x="5616606" y="51172"/>
                  <a:pt x="5616606" y="114296"/>
                </a:cubicBezTo>
                <a:lnTo>
                  <a:pt x="5616606" y="3864009"/>
                </a:lnTo>
                <a:cubicBezTo>
                  <a:pt x="5616606" y="3927133"/>
                  <a:pt x="5565433" y="3978306"/>
                  <a:pt x="5502309" y="3978306"/>
                </a:cubicBezTo>
                <a:lnTo>
                  <a:pt x="114296" y="3978306"/>
                </a:lnTo>
                <a:cubicBezTo>
                  <a:pt x="51172" y="3978306"/>
                  <a:pt x="0" y="3927133"/>
                  <a:pt x="0" y="386400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9" name="dsl:shape7"/>
          <p:cNvSpPr/>
          <p:nvPr/>
        </p:nvSpPr>
        <p:spPr>
          <a:xfrm>
            <a:off x="601694" y="16446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0" name="dsl:shape8"/>
          <p:cNvSpPr/>
          <p:nvPr/>
        </p:nvSpPr>
        <p:spPr>
          <a:xfrm>
            <a:off x="816006" y="1606581"/>
            <a:ext cx="5086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xt9"/>
          <p:cNvSpPr txBox="1"/>
          <p:nvPr/>
        </p:nvSpPr>
        <p:spPr>
          <a:xfrm>
            <a:off x="724566" y="1560861"/>
            <a:ext cx="526923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Метрики согласия</a:t>
            </a:r>
          </a:p>
        </p:txBody>
      </p:sp>
      <p:sp>
        <p:nvSpPr>
          <p:cNvPr id="12" name="dsl:shape10"/>
          <p:cNvSpPr/>
          <p:nvPr/>
        </p:nvSpPr>
        <p:spPr>
          <a:xfrm>
            <a:off x="581025" y="2028825"/>
            <a:ext cx="5216556" cy="996981"/>
          </a:xfrm>
          <a:custGeom>
            <a:avLst/>
            <a:gdLst/>
            <a:ahLst/>
            <a:cxnLst/>
            <a:rect l="l" t="t" r="r" b="b"/>
            <a:pathLst>
              <a:path w="5216556" h="996981">
                <a:moveTo>
                  <a:pt x="76197" y="0"/>
                </a:moveTo>
                <a:lnTo>
                  <a:pt x="5140358" y="0"/>
                </a:lnTo>
                <a:cubicBezTo>
                  <a:pt x="5182440" y="0"/>
                  <a:pt x="5216556" y="34116"/>
                  <a:pt x="5216556" y="76199"/>
                </a:cubicBezTo>
                <a:lnTo>
                  <a:pt x="5216556" y="920781"/>
                </a:lnTo>
                <a:cubicBezTo>
                  <a:pt x="5216556" y="962864"/>
                  <a:pt x="5182440" y="996980"/>
                  <a:pt x="5140358" y="996980"/>
                </a:cubicBezTo>
                <a:lnTo>
                  <a:pt x="76197" y="996980"/>
                </a:lnTo>
                <a:cubicBezTo>
                  <a:pt x="34115" y="996980"/>
                  <a:pt x="0" y="962864"/>
                  <a:pt x="0" y="920781"/>
                </a:cubicBezTo>
                <a:lnTo>
                  <a:pt x="0" y="76199"/>
                </a:lnTo>
                <a:cubicBezTo>
                  <a:pt x="0" y="34116"/>
                  <a:pt x="34115" y="0"/>
                  <a:pt x="76197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3" name="dsl:shape11"/>
          <p:cNvSpPr/>
          <p:nvPr/>
        </p:nvSpPr>
        <p:spPr>
          <a:xfrm>
            <a:off x="736568" y="2203418"/>
            <a:ext cx="128587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xt12"/>
          <p:cNvSpPr txBox="1"/>
          <p:nvPr/>
        </p:nvSpPr>
        <p:spPr>
          <a:xfrm>
            <a:off x="645128" y="2157698"/>
            <a:ext cx="1468755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EFEFEF"/>
                </a:solidFill>
                <a:latin typeface="Liter"/>
                <a:ea typeface="Liter"/>
              </a:rPr>
              <a:t>Cohen's κ (kappa)</a:t>
            </a:r>
          </a:p>
        </p:txBody>
      </p:sp>
      <p:sp>
        <p:nvSpPr>
          <p:cNvPr id="15" name="dsl:shape13"/>
          <p:cNvSpPr/>
          <p:nvPr/>
        </p:nvSpPr>
        <p:spPr>
          <a:xfrm>
            <a:off x="5049964" y="2184368"/>
            <a:ext cx="590550" cy="266700"/>
          </a:xfrm>
          <a:custGeom>
            <a:avLst/>
            <a:gdLst/>
            <a:ahLst/>
            <a:cxnLst/>
            <a:rect l="l" t="t" r="r" b="b"/>
            <a:pathLst>
              <a:path w="590550" h="266700">
                <a:moveTo>
                  <a:pt x="38101" y="0"/>
                </a:moveTo>
                <a:lnTo>
                  <a:pt x="552449" y="0"/>
                </a:lnTo>
                <a:cubicBezTo>
                  <a:pt x="573492" y="0"/>
                  <a:pt x="590550" y="17058"/>
                  <a:pt x="590550" y="38101"/>
                </a:cubicBezTo>
                <a:lnTo>
                  <a:pt x="590550" y="228599"/>
                </a:lnTo>
                <a:cubicBezTo>
                  <a:pt x="590550" y="249628"/>
                  <a:pt x="573478" y="266700"/>
                  <a:pt x="5524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6" name="dsl:shape14"/>
          <p:cNvSpPr/>
          <p:nvPr/>
        </p:nvSpPr>
        <p:spPr>
          <a:xfrm>
            <a:off x="5049964" y="2184368"/>
            <a:ext cx="6572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ext15"/>
          <p:cNvSpPr txBox="1"/>
          <p:nvPr/>
        </p:nvSpPr>
        <p:spPr>
          <a:xfrm>
            <a:off x="5072824" y="2176748"/>
            <a:ext cx="61150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MiSans"/>
                <a:ea typeface="MiSans"/>
              </a:rPr>
              <a:t>&gt; 0.8</a:t>
            </a:r>
          </a:p>
        </p:txBody>
      </p:sp>
      <p:sp>
        <p:nvSpPr>
          <p:cNvPr id="18" name="dsl:shape16"/>
          <p:cNvSpPr/>
          <p:nvPr/>
        </p:nvSpPr>
        <p:spPr>
          <a:xfrm>
            <a:off x="736568" y="2527268"/>
            <a:ext cx="497205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text17"/>
          <p:cNvSpPr txBox="1"/>
          <p:nvPr/>
        </p:nvSpPr>
        <p:spPr>
          <a:xfrm>
            <a:off x="645128" y="2481548"/>
            <a:ext cx="515493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Для интентов (между двумя аннотаторами)</a:t>
            </a:r>
          </a:p>
        </p:txBody>
      </p:sp>
      <p:sp>
        <p:nvSpPr>
          <p:cNvPr id="20" name="dsl:shape18"/>
          <p:cNvSpPr/>
          <p:nvPr/>
        </p:nvSpPr>
        <p:spPr>
          <a:xfrm>
            <a:off x="736568" y="2793968"/>
            <a:ext cx="4905375" cy="76200"/>
          </a:xfrm>
          <a:custGeom>
            <a:avLst/>
            <a:gdLst/>
            <a:ahLst/>
            <a:cxnLst/>
            <a:rect l="l" t="t" r="r" b="b"/>
            <a:pathLst>
              <a:path w="4905375" h="76200">
                <a:moveTo>
                  <a:pt x="38100" y="0"/>
                </a:moveTo>
                <a:lnTo>
                  <a:pt x="4867275" y="0"/>
                </a:lnTo>
                <a:cubicBezTo>
                  <a:pt x="4888303" y="0"/>
                  <a:pt x="4905375" y="17072"/>
                  <a:pt x="4905375" y="38100"/>
                </a:cubicBezTo>
                <a:lnTo>
                  <a:pt x="4905375" y="38100"/>
                </a:lnTo>
                <a:cubicBezTo>
                  <a:pt x="4905375" y="59128"/>
                  <a:pt x="4888303" y="76200"/>
                  <a:pt x="48672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</p:sp>
      <p:sp>
        <p:nvSpPr>
          <p:cNvPr id="21" name="dsl:shape19"/>
          <p:cNvSpPr/>
          <p:nvPr/>
        </p:nvSpPr>
        <p:spPr>
          <a:xfrm>
            <a:off x="736568" y="2793968"/>
            <a:ext cx="4171950" cy="76200"/>
          </a:xfrm>
          <a:custGeom>
            <a:avLst/>
            <a:gdLst/>
            <a:ahLst/>
            <a:cxnLst/>
            <a:rect l="l" t="t" r="r" b="b"/>
            <a:pathLst>
              <a:path w="4171950" h="762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38100"/>
                </a:lnTo>
                <a:cubicBezTo>
                  <a:pt x="4171950" y="59128"/>
                  <a:pt x="4154878" y="76200"/>
                  <a:pt x="4133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2" name="dsl:shape20"/>
          <p:cNvSpPr/>
          <p:nvPr/>
        </p:nvSpPr>
        <p:spPr>
          <a:xfrm>
            <a:off x="581025" y="3184493"/>
            <a:ext cx="5216556" cy="996981"/>
          </a:xfrm>
          <a:custGeom>
            <a:avLst/>
            <a:gdLst/>
            <a:ahLst/>
            <a:cxnLst/>
            <a:rect l="l" t="t" r="r" b="b"/>
            <a:pathLst>
              <a:path w="5216556" h="996981">
                <a:moveTo>
                  <a:pt x="76197" y="0"/>
                </a:moveTo>
                <a:lnTo>
                  <a:pt x="5140358" y="0"/>
                </a:lnTo>
                <a:cubicBezTo>
                  <a:pt x="5182440" y="0"/>
                  <a:pt x="5216556" y="34116"/>
                  <a:pt x="5216556" y="76199"/>
                </a:cubicBezTo>
                <a:lnTo>
                  <a:pt x="5216556" y="920781"/>
                </a:lnTo>
                <a:cubicBezTo>
                  <a:pt x="5216556" y="962864"/>
                  <a:pt x="5182440" y="996980"/>
                  <a:pt x="5140358" y="996980"/>
                </a:cubicBezTo>
                <a:lnTo>
                  <a:pt x="76197" y="996980"/>
                </a:lnTo>
                <a:cubicBezTo>
                  <a:pt x="34115" y="996980"/>
                  <a:pt x="0" y="962864"/>
                  <a:pt x="0" y="920781"/>
                </a:cubicBezTo>
                <a:lnTo>
                  <a:pt x="0" y="76199"/>
                </a:lnTo>
                <a:cubicBezTo>
                  <a:pt x="0" y="34116"/>
                  <a:pt x="34115" y="0"/>
                  <a:pt x="76197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23" name="dsl:shape21"/>
          <p:cNvSpPr/>
          <p:nvPr/>
        </p:nvSpPr>
        <p:spPr>
          <a:xfrm>
            <a:off x="736568" y="3359181"/>
            <a:ext cx="116205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text22"/>
          <p:cNvSpPr txBox="1"/>
          <p:nvPr/>
        </p:nvSpPr>
        <p:spPr>
          <a:xfrm>
            <a:off x="645128" y="3313461"/>
            <a:ext cx="134493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EFEFEF"/>
                </a:solidFill>
                <a:latin typeface="Liter"/>
                <a:ea typeface="Liter"/>
              </a:rPr>
              <a:t>Fleiss' κ (kappa)</a:t>
            </a:r>
          </a:p>
        </p:txBody>
      </p:sp>
      <p:sp>
        <p:nvSpPr>
          <p:cNvPr id="25" name="dsl:shape23"/>
          <p:cNvSpPr/>
          <p:nvPr/>
        </p:nvSpPr>
        <p:spPr>
          <a:xfrm>
            <a:off x="5049964" y="3340131"/>
            <a:ext cx="590550" cy="266700"/>
          </a:xfrm>
          <a:custGeom>
            <a:avLst/>
            <a:gdLst/>
            <a:ahLst/>
            <a:cxnLst/>
            <a:rect l="l" t="t" r="r" b="b"/>
            <a:pathLst>
              <a:path w="590550" h="266700">
                <a:moveTo>
                  <a:pt x="38101" y="0"/>
                </a:moveTo>
                <a:lnTo>
                  <a:pt x="552449" y="0"/>
                </a:lnTo>
                <a:cubicBezTo>
                  <a:pt x="573492" y="0"/>
                  <a:pt x="590550" y="17058"/>
                  <a:pt x="590550" y="38101"/>
                </a:cubicBezTo>
                <a:lnTo>
                  <a:pt x="590550" y="228599"/>
                </a:lnTo>
                <a:cubicBezTo>
                  <a:pt x="590550" y="249628"/>
                  <a:pt x="573478" y="266700"/>
                  <a:pt x="5524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6" name="dsl:shape24"/>
          <p:cNvSpPr/>
          <p:nvPr/>
        </p:nvSpPr>
        <p:spPr>
          <a:xfrm>
            <a:off x="5049964" y="3340131"/>
            <a:ext cx="6572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text25"/>
          <p:cNvSpPr txBox="1"/>
          <p:nvPr/>
        </p:nvSpPr>
        <p:spPr>
          <a:xfrm>
            <a:off x="5072824" y="3332511"/>
            <a:ext cx="61150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FFFFFF"/>
                </a:solidFill>
                <a:latin typeface="MiSans"/>
                <a:ea typeface="MiSans"/>
              </a:rPr>
              <a:t>&gt; 0.8</a:t>
            </a:r>
          </a:p>
        </p:txBody>
      </p:sp>
      <p:sp>
        <p:nvSpPr>
          <p:cNvPr id="28" name="dsl:shape26"/>
          <p:cNvSpPr/>
          <p:nvPr/>
        </p:nvSpPr>
        <p:spPr>
          <a:xfrm>
            <a:off x="736568" y="3683031"/>
            <a:ext cx="497205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text27"/>
          <p:cNvSpPr txBox="1"/>
          <p:nvPr/>
        </p:nvSpPr>
        <p:spPr>
          <a:xfrm>
            <a:off x="645128" y="3637311"/>
            <a:ext cx="515493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Для слотов (между несколькими аннотаторами)</a:t>
            </a:r>
          </a:p>
        </p:txBody>
      </p:sp>
      <p:sp>
        <p:nvSpPr>
          <p:cNvPr id="30" name="dsl:shape28"/>
          <p:cNvSpPr/>
          <p:nvPr/>
        </p:nvSpPr>
        <p:spPr>
          <a:xfrm>
            <a:off x="736568" y="3949731"/>
            <a:ext cx="4905375" cy="76200"/>
          </a:xfrm>
          <a:custGeom>
            <a:avLst/>
            <a:gdLst/>
            <a:ahLst/>
            <a:cxnLst/>
            <a:rect l="l" t="t" r="r" b="b"/>
            <a:pathLst>
              <a:path w="4905375" h="76200">
                <a:moveTo>
                  <a:pt x="38100" y="0"/>
                </a:moveTo>
                <a:lnTo>
                  <a:pt x="4867275" y="0"/>
                </a:lnTo>
                <a:cubicBezTo>
                  <a:pt x="4888303" y="0"/>
                  <a:pt x="4905375" y="17072"/>
                  <a:pt x="4905375" y="38100"/>
                </a:cubicBezTo>
                <a:lnTo>
                  <a:pt x="4905375" y="38100"/>
                </a:lnTo>
                <a:cubicBezTo>
                  <a:pt x="4905375" y="59128"/>
                  <a:pt x="4888303" y="76200"/>
                  <a:pt x="48672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</p:sp>
      <p:sp>
        <p:nvSpPr>
          <p:cNvPr id="31" name="dsl:shape29"/>
          <p:cNvSpPr/>
          <p:nvPr/>
        </p:nvSpPr>
        <p:spPr>
          <a:xfrm>
            <a:off x="736568" y="3949731"/>
            <a:ext cx="4029075" cy="76200"/>
          </a:xfrm>
          <a:custGeom>
            <a:avLst/>
            <a:gdLst/>
            <a:ahLst/>
            <a:cxnLst/>
            <a:rect l="l" t="t" r="r" b="b"/>
            <a:pathLst>
              <a:path w="4029075" h="76200">
                <a:moveTo>
                  <a:pt x="38100" y="0"/>
                </a:moveTo>
                <a:lnTo>
                  <a:pt x="3990975" y="0"/>
                </a:lnTo>
                <a:cubicBezTo>
                  <a:pt x="4012003" y="0"/>
                  <a:pt x="4029075" y="17072"/>
                  <a:pt x="4029075" y="38100"/>
                </a:cubicBezTo>
                <a:lnTo>
                  <a:pt x="4029075" y="38100"/>
                </a:lnTo>
                <a:cubicBezTo>
                  <a:pt x="4029075" y="59128"/>
                  <a:pt x="4012003" y="76200"/>
                  <a:pt x="39909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32" name="dsl:shape30"/>
          <p:cNvSpPr/>
          <p:nvPr/>
        </p:nvSpPr>
        <p:spPr>
          <a:xfrm>
            <a:off x="384143" y="5553075"/>
            <a:ext cx="5616606" cy="920781"/>
          </a:xfrm>
          <a:custGeom>
            <a:avLst/>
            <a:gdLst/>
            <a:ahLst/>
            <a:cxnLst/>
            <a:rect l="l" t="t" r="r" b="b"/>
            <a:pathLst>
              <a:path w="5616606" h="920781">
                <a:moveTo>
                  <a:pt x="114302" y="0"/>
                </a:moveTo>
                <a:lnTo>
                  <a:pt x="5502303" y="0"/>
                </a:lnTo>
                <a:cubicBezTo>
                  <a:pt x="5565430" y="0"/>
                  <a:pt x="5616606" y="51176"/>
                  <a:pt x="5616606" y="114305"/>
                </a:cubicBezTo>
                <a:lnTo>
                  <a:pt x="5616606" y="806475"/>
                </a:lnTo>
                <a:cubicBezTo>
                  <a:pt x="5616606" y="869604"/>
                  <a:pt x="5565430" y="920781"/>
                  <a:pt x="5502303" y="920781"/>
                </a:cubicBezTo>
                <a:lnTo>
                  <a:pt x="114302" y="920781"/>
                </a:lnTo>
                <a:cubicBezTo>
                  <a:pt x="51217" y="920781"/>
                  <a:pt x="0" y="869562"/>
                  <a:pt x="0" y="806475"/>
                </a:cubicBezTo>
                <a:lnTo>
                  <a:pt x="0" y="114305"/>
                </a:lnTo>
                <a:cubicBezTo>
                  <a:pt x="0" y="51176"/>
                  <a:pt x="51175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33" name="dsl:shape31"/>
          <p:cNvSpPr/>
          <p:nvPr/>
        </p:nvSpPr>
        <p:spPr>
          <a:xfrm>
            <a:off x="552831" y="575624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0716"/>
                </a:moveTo>
                <a:cubicBezTo>
                  <a:pt x="69384" y="10716"/>
                  <a:pt x="47718" y="23039"/>
                  <a:pt x="31946" y="37706"/>
                </a:cubicBezTo>
                <a:cubicBezTo>
                  <a:pt x="16274" y="52272"/>
                  <a:pt x="5793" y="69652"/>
                  <a:pt x="804" y="81606"/>
                </a:cubicBezTo>
                <a:cubicBezTo>
                  <a:pt x="-301" y="84252"/>
                  <a:pt x="-301" y="87198"/>
                  <a:pt x="804" y="89844"/>
                </a:cubicBezTo>
                <a:cubicBezTo>
                  <a:pt x="5793" y="101798"/>
                  <a:pt x="16274" y="119211"/>
                  <a:pt x="31946" y="133744"/>
                </a:cubicBezTo>
                <a:cubicBezTo>
                  <a:pt x="47718" y="148378"/>
                  <a:pt x="69384" y="160734"/>
                  <a:pt x="96441" y="160734"/>
                </a:cubicBezTo>
                <a:cubicBezTo>
                  <a:pt x="123498" y="160734"/>
                  <a:pt x="145163" y="148411"/>
                  <a:pt x="160935" y="133744"/>
                </a:cubicBezTo>
                <a:cubicBezTo>
                  <a:pt x="176607" y="119178"/>
                  <a:pt x="187088" y="101798"/>
                  <a:pt x="192078" y="89844"/>
                </a:cubicBezTo>
                <a:cubicBezTo>
                  <a:pt x="193183" y="87198"/>
                  <a:pt x="193183" y="84252"/>
                  <a:pt x="192078" y="81606"/>
                </a:cubicBezTo>
                <a:cubicBezTo>
                  <a:pt x="187088" y="69652"/>
                  <a:pt x="176607" y="52239"/>
                  <a:pt x="160935" y="37706"/>
                </a:cubicBezTo>
                <a:cubicBezTo>
                  <a:pt x="145163" y="23072"/>
                  <a:pt x="123498" y="10716"/>
                  <a:pt x="96441" y="10716"/>
                </a:cubicBezTo>
                <a:close/>
                <a:moveTo>
                  <a:pt x="48220" y="85725"/>
                </a:moveTo>
                <a:cubicBezTo>
                  <a:pt x="48220" y="59111"/>
                  <a:pt x="69827" y="37505"/>
                  <a:pt x="96441" y="37505"/>
                </a:cubicBezTo>
                <a:cubicBezTo>
                  <a:pt x="123054" y="37505"/>
                  <a:pt x="144661" y="59111"/>
                  <a:pt x="144661" y="85725"/>
                </a:cubicBezTo>
                <a:cubicBezTo>
                  <a:pt x="144661" y="112339"/>
                  <a:pt x="123054" y="133945"/>
                  <a:pt x="96441" y="133945"/>
                </a:cubicBezTo>
                <a:cubicBezTo>
                  <a:pt x="69827" y="133945"/>
                  <a:pt x="48220" y="112339"/>
                  <a:pt x="48220" y="85725"/>
                </a:cubicBezTo>
                <a:close/>
                <a:moveTo>
                  <a:pt x="96441" y="64294"/>
                </a:moveTo>
                <a:cubicBezTo>
                  <a:pt x="96441" y="76114"/>
                  <a:pt x="86830" y="85725"/>
                  <a:pt x="75009" y="85725"/>
                </a:cubicBezTo>
                <a:cubicBezTo>
                  <a:pt x="71158" y="85725"/>
                  <a:pt x="67542" y="84720"/>
                  <a:pt x="64394" y="82912"/>
                </a:cubicBezTo>
                <a:cubicBezTo>
                  <a:pt x="64059" y="86562"/>
                  <a:pt x="64361" y="90313"/>
                  <a:pt x="65365" y="94030"/>
                </a:cubicBezTo>
                <a:cubicBezTo>
                  <a:pt x="69953" y="111175"/>
                  <a:pt x="87600" y="121354"/>
                  <a:pt x="104745" y="116767"/>
                </a:cubicBezTo>
                <a:cubicBezTo>
                  <a:pt x="121890" y="112179"/>
                  <a:pt x="132070" y="94532"/>
                  <a:pt x="127482" y="77387"/>
                </a:cubicBezTo>
                <a:cubicBezTo>
                  <a:pt x="123397" y="62084"/>
                  <a:pt x="108898" y="52339"/>
                  <a:pt x="93628" y="53679"/>
                </a:cubicBezTo>
                <a:cubicBezTo>
                  <a:pt x="95403" y="56793"/>
                  <a:pt x="96441" y="60409"/>
                  <a:pt x="96441" y="64294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34" name="dsl:shape32"/>
          <p:cNvSpPr/>
          <p:nvPr/>
        </p:nvSpPr>
        <p:spPr>
          <a:xfrm>
            <a:off x="758856" y="5708618"/>
            <a:ext cx="517207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sl:text33"/>
          <p:cNvSpPr txBox="1"/>
          <p:nvPr/>
        </p:nvSpPr>
        <p:spPr>
          <a:xfrm>
            <a:off x="667416" y="5662898"/>
            <a:ext cx="535495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350" noProof="1">
                <a:solidFill>
                  <a:srgbClr val="EFEFEF"/>
                </a:solidFill>
                <a:latin typeface="Liter"/>
                <a:ea typeface="Liter"/>
              </a:rPr>
              <a:t>Визуальная проверка</a:t>
            </a:r>
          </a:p>
        </p:txBody>
      </p:sp>
      <p:sp>
        <p:nvSpPr>
          <p:cNvPr id="36" name="dsl:shape34"/>
          <p:cNvSpPr/>
          <p:nvPr/>
        </p:nvSpPr>
        <p:spPr>
          <a:xfrm>
            <a:off x="539781" y="6089618"/>
            <a:ext cx="538162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sl:text35"/>
          <p:cNvSpPr txBox="1"/>
          <p:nvPr/>
        </p:nvSpPr>
        <p:spPr>
          <a:xfrm>
            <a:off x="448341" y="6043898"/>
            <a:ext cx="5564505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Прослушивание аудио с наложенной разметкой в </a:t>
            </a:r>
            <a:r>
              <a:rPr b="1" sz="1200" noProof="1">
                <a:solidFill>
                  <a:srgbClr val="6366F1"/>
                </a:solidFill>
                <a:latin typeface="Liter"/>
                <a:ea typeface="Liter"/>
              </a:rPr>
              <a:t>Praat</a:t>
            </a:r>
          </a:p>
        </p:txBody>
      </p:sp>
      <p:sp>
        <p:nvSpPr>
          <p:cNvPr id="38" name="dsl:shape36"/>
          <p:cNvSpPr/>
          <p:nvPr/>
        </p:nvSpPr>
        <p:spPr>
          <a:xfrm>
            <a:off x="6194393" y="1412843"/>
            <a:ext cx="5616606" cy="3711606"/>
          </a:xfrm>
          <a:custGeom>
            <a:avLst/>
            <a:gdLst/>
            <a:ahLst/>
            <a:cxnLst/>
            <a:rect l="l" t="t" r="r" b="b"/>
            <a:pathLst>
              <a:path w="5616606" h="3711606">
                <a:moveTo>
                  <a:pt x="114317" y="0"/>
                </a:moveTo>
                <a:lnTo>
                  <a:pt x="5502288" y="0"/>
                </a:lnTo>
                <a:cubicBezTo>
                  <a:pt x="5565424" y="0"/>
                  <a:pt x="5616606" y="51181"/>
                  <a:pt x="5616606" y="114317"/>
                </a:cubicBezTo>
                <a:lnTo>
                  <a:pt x="5616606" y="3597288"/>
                </a:lnTo>
                <a:cubicBezTo>
                  <a:pt x="5616606" y="3660424"/>
                  <a:pt x="5565424" y="3711605"/>
                  <a:pt x="5502288" y="3711605"/>
                </a:cubicBezTo>
                <a:lnTo>
                  <a:pt x="114317" y="3711605"/>
                </a:lnTo>
                <a:cubicBezTo>
                  <a:pt x="51181" y="3711605"/>
                  <a:pt x="0" y="3660424"/>
                  <a:pt x="0" y="3597288"/>
                </a:cubicBezTo>
                <a:lnTo>
                  <a:pt x="0" y="114317"/>
                </a:lnTo>
                <a:cubicBezTo>
                  <a:pt x="0" y="51181"/>
                  <a:pt x="51181" y="0"/>
                  <a:pt x="114317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39" name="dsl:shape37"/>
          <p:cNvSpPr/>
          <p:nvPr/>
        </p:nvSpPr>
        <p:spPr>
          <a:xfrm>
            <a:off x="6388131" y="164468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40" name="dsl:shape38"/>
          <p:cNvSpPr/>
          <p:nvPr/>
        </p:nvSpPr>
        <p:spPr>
          <a:xfrm>
            <a:off x="6626256" y="1606581"/>
            <a:ext cx="5086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sl:text39"/>
          <p:cNvSpPr txBox="1"/>
          <p:nvPr/>
        </p:nvSpPr>
        <p:spPr>
          <a:xfrm>
            <a:off x="6534816" y="1560861"/>
            <a:ext cx="526923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500" noProof="1">
                <a:solidFill>
                  <a:srgbClr val="EFEFEF"/>
                </a:solidFill>
                <a:latin typeface="Liter"/>
                <a:ea typeface="Liter"/>
              </a:rPr>
              <a:t>Сравнение с золотым стандартом</a:t>
            </a:r>
          </a:p>
        </p:txBody>
      </p:sp>
      <p:sp>
        <p:nvSpPr>
          <p:cNvPr id="42" name="dsl:shape40"/>
          <p:cNvSpPr/>
          <p:nvPr/>
        </p:nvSpPr>
        <p:spPr>
          <a:xfrm>
            <a:off x="6391275" y="2028825"/>
            <a:ext cx="5216556" cy="996981"/>
          </a:xfrm>
          <a:custGeom>
            <a:avLst/>
            <a:gdLst/>
            <a:ahLst/>
            <a:cxnLst/>
            <a:rect l="l" t="t" r="r" b="b"/>
            <a:pathLst>
              <a:path w="5216556" h="996981">
                <a:moveTo>
                  <a:pt x="76197" y="0"/>
                </a:moveTo>
                <a:lnTo>
                  <a:pt x="5140358" y="0"/>
                </a:lnTo>
                <a:cubicBezTo>
                  <a:pt x="5182440" y="0"/>
                  <a:pt x="5216556" y="34116"/>
                  <a:pt x="5216556" y="76199"/>
                </a:cubicBezTo>
                <a:lnTo>
                  <a:pt x="5216556" y="920781"/>
                </a:lnTo>
                <a:cubicBezTo>
                  <a:pt x="5216556" y="962864"/>
                  <a:pt x="5182440" y="996980"/>
                  <a:pt x="5140358" y="996980"/>
                </a:cubicBezTo>
                <a:lnTo>
                  <a:pt x="76197" y="996980"/>
                </a:lnTo>
                <a:cubicBezTo>
                  <a:pt x="34115" y="996980"/>
                  <a:pt x="0" y="962864"/>
                  <a:pt x="0" y="920781"/>
                </a:cubicBezTo>
                <a:lnTo>
                  <a:pt x="0" y="76199"/>
                </a:lnTo>
                <a:cubicBezTo>
                  <a:pt x="0" y="34116"/>
                  <a:pt x="34115" y="0"/>
                  <a:pt x="76197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43" name="dsl:shape41"/>
          <p:cNvSpPr/>
          <p:nvPr/>
        </p:nvSpPr>
        <p:spPr>
          <a:xfrm>
            <a:off x="6546818" y="2184368"/>
            <a:ext cx="138112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sl:text42"/>
          <p:cNvSpPr txBox="1"/>
          <p:nvPr/>
        </p:nvSpPr>
        <p:spPr>
          <a:xfrm>
            <a:off x="6455378" y="2138648"/>
            <a:ext cx="1564005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EFEFEF"/>
                </a:solidFill>
                <a:latin typeface="Liter"/>
                <a:ea typeface="Liter"/>
              </a:rPr>
              <a:t>Accuracy интентов</a:t>
            </a:r>
          </a:p>
        </p:txBody>
      </p:sp>
      <p:sp>
        <p:nvSpPr>
          <p:cNvPr id="45" name="dsl:shape43"/>
          <p:cNvSpPr/>
          <p:nvPr/>
        </p:nvSpPr>
        <p:spPr>
          <a:xfrm>
            <a:off x="11241119" y="220341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46" name="dsl:shape44"/>
          <p:cNvSpPr/>
          <p:nvPr/>
        </p:nvSpPr>
        <p:spPr>
          <a:xfrm>
            <a:off x="6546818" y="2527268"/>
            <a:ext cx="62865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sl:text45"/>
          <p:cNvSpPr txBox="1"/>
          <p:nvPr/>
        </p:nvSpPr>
        <p:spPr>
          <a:xfrm>
            <a:off x="6455378" y="2481548"/>
            <a:ext cx="81153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Точность</a:t>
            </a:r>
          </a:p>
        </p:txBody>
      </p:sp>
      <p:sp>
        <p:nvSpPr>
          <p:cNvPr id="48" name="dsl:shape46"/>
          <p:cNvSpPr/>
          <p:nvPr/>
        </p:nvSpPr>
        <p:spPr>
          <a:xfrm>
            <a:off x="11083861" y="2527268"/>
            <a:ext cx="43815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sl:text47"/>
          <p:cNvSpPr txBox="1"/>
          <p:nvPr/>
        </p:nvSpPr>
        <p:spPr>
          <a:xfrm>
            <a:off x="10992421" y="2481548"/>
            <a:ext cx="62103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6366F1"/>
                </a:solidFill>
                <a:latin typeface="Liter"/>
                <a:ea typeface="Liter"/>
              </a:rPr>
              <a:t>94.5%</a:t>
            </a:r>
          </a:p>
        </p:txBody>
      </p:sp>
      <p:sp>
        <p:nvSpPr>
          <p:cNvPr id="50" name="dsl:shape48"/>
          <p:cNvSpPr/>
          <p:nvPr/>
        </p:nvSpPr>
        <p:spPr>
          <a:xfrm>
            <a:off x="6546818" y="2755868"/>
            <a:ext cx="4905375" cy="114300"/>
          </a:xfrm>
          <a:custGeom>
            <a:avLst/>
            <a:gdLst/>
            <a:ahLst/>
            <a:cxnLst/>
            <a:rect l="l" t="t" r="r" b="b"/>
            <a:pathLst>
              <a:path w="4905375" h="114300">
                <a:moveTo>
                  <a:pt x="57150" y="0"/>
                </a:moveTo>
                <a:lnTo>
                  <a:pt x="4848225" y="0"/>
                </a:lnTo>
                <a:cubicBezTo>
                  <a:pt x="4879767" y="0"/>
                  <a:pt x="4905375" y="25608"/>
                  <a:pt x="4905375" y="57150"/>
                </a:cubicBezTo>
                <a:lnTo>
                  <a:pt x="4905375" y="57150"/>
                </a:lnTo>
                <a:cubicBezTo>
                  <a:pt x="4905375" y="88692"/>
                  <a:pt x="4879767" y="114300"/>
                  <a:pt x="48482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</p:sp>
      <p:sp>
        <p:nvSpPr>
          <p:cNvPr id="51" name="dsl:shape49"/>
          <p:cNvSpPr/>
          <p:nvPr/>
        </p:nvSpPr>
        <p:spPr>
          <a:xfrm>
            <a:off x="6546818" y="2755868"/>
            <a:ext cx="4638675" cy="114300"/>
          </a:xfrm>
          <a:custGeom>
            <a:avLst/>
            <a:gdLst/>
            <a:ahLst/>
            <a:cxnLst/>
            <a:rect l="l" t="t" r="r" b="b"/>
            <a:pathLst>
              <a:path w="4638675" h="114300">
                <a:moveTo>
                  <a:pt x="57150" y="0"/>
                </a:moveTo>
                <a:lnTo>
                  <a:pt x="4581525" y="0"/>
                </a:lnTo>
                <a:cubicBezTo>
                  <a:pt x="4613067" y="0"/>
                  <a:pt x="4638675" y="25608"/>
                  <a:pt x="4638675" y="57150"/>
                </a:cubicBezTo>
                <a:lnTo>
                  <a:pt x="4638675" y="57150"/>
                </a:lnTo>
                <a:cubicBezTo>
                  <a:pt x="4638675" y="88692"/>
                  <a:pt x="4613067" y="114300"/>
                  <a:pt x="45815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rotWithShape="1">
            <a:gsLst>
              <a:gs pos="0">
                <a:srgbClr val="6366F1"/>
              </a:gs>
              <a:gs pos="100000">
                <a:srgbClr val="8F8F8F"/>
              </a:gs>
            </a:gsLst>
            <a:lin scaled="0" ang="0"/>
          </a:gradFill>
          <a:ln>
            <a:noFill/>
          </a:ln>
          <a:effectLst/>
        </p:spPr>
      </p:sp>
      <p:sp>
        <p:nvSpPr>
          <p:cNvPr id="52" name="dsl:shape50"/>
          <p:cNvSpPr/>
          <p:nvPr/>
        </p:nvSpPr>
        <p:spPr>
          <a:xfrm>
            <a:off x="6391275" y="3184493"/>
            <a:ext cx="5216556" cy="1463706"/>
          </a:xfrm>
          <a:custGeom>
            <a:avLst/>
            <a:gdLst/>
            <a:ahLst/>
            <a:cxnLst/>
            <a:rect l="l" t="t" r="r" b="b"/>
            <a:pathLst>
              <a:path w="5216556" h="1463706">
                <a:moveTo>
                  <a:pt x="76199" y="0"/>
                </a:moveTo>
                <a:lnTo>
                  <a:pt x="5140356" y="0"/>
                </a:lnTo>
                <a:cubicBezTo>
                  <a:pt x="5182440" y="0"/>
                  <a:pt x="5216556" y="34115"/>
                  <a:pt x="5216556" y="76200"/>
                </a:cubicBezTo>
                <a:lnTo>
                  <a:pt x="5216556" y="1387505"/>
                </a:lnTo>
                <a:cubicBezTo>
                  <a:pt x="5216556" y="1429590"/>
                  <a:pt x="5182440" y="1463706"/>
                  <a:pt x="5140356" y="1463706"/>
                </a:cubicBezTo>
                <a:lnTo>
                  <a:pt x="76199" y="1463706"/>
                </a:lnTo>
                <a:cubicBezTo>
                  <a:pt x="34144" y="1463706"/>
                  <a:pt x="0" y="1429561"/>
                  <a:pt x="0" y="1387505"/>
                </a:cubicBezTo>
                <a:lnTo>
                  <a:pt x="0" y="76200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53" name="dsl:shape51"/>
          <p:cNvSpPr/>
          <p:nvPr/>
        </p:nvSpPr>
        <p:spPr>
          <a:xfrm>
            <a:off x="6546818" y="3340131"/>
            <a:ext cx="126682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sl:text52"/>
          <p:cNvSpPr txBox="1"/>
          <p:nvPr/>
        </p:nvSpPr>
        <p:spPr>
          <a:xfrm>
            <a:off x="6455378" y="3294411"/>
            <a:ext cx="1449705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EFEFEF"/>
                </a:solidFill>
                <a:latin typeface="Liter"/>
                <a:ea typeface="Liter"/>
              </a:rPr>
              <a:t>F1-score для NER</a:t>
            </a:r>
          </a:p>
        </p:txBody>
      </p:sp>
      <p:sp>
        <p:nvSpPr>
          <p:cNvPr id="55" name="dsl:shape53"/>
          <p:cNvSpPr/>
          <p:nvPr/>
        </p:nvSpPr>
        <p:spPr>
          <a:xfrm>
            <a:off x="11229213" y="3359181"/>
            <a:ext cx="214312" cy="190500"/>
          </a:xfrm>
          <a:custGeom>
            <a:avLst/>
            <a:gdLst/>
            <a:ahLst/>
            <a:cxnLst/>
            <a:rect l="l" t="t" r="r" b="b"/>
            <a:pathLst>
              <a:path w="214312" h="190500">
                <a:moveTo>
                  <a:pt x="149274" y="14548"/>
                </a:moveTo>
                <a:lnTo>
                  <a:pt x="204414" y="70470"/>
                </a:lnTo>
                <a:cubicBezTo>
                  <a:pt x="214720" y="80925"/>
                  <a:pt x="214720" y="97668"/>
                  <a:pt x="204414" y="108124"/>
                </a:cubicBezTo>
                <a:lnTo>
                  <a:pt x="146223" y="167022"/>
                </a:lnTo>
                <a:cubicBezTo>
                  <a:pt x="142762" y="170520"/>
                  <a:pt x="137107" y="170557"/>
                  <a:pt x="133609" y="167097"/>
                </a:cubicBezTo>
                <a:cubicBezTo>
                  <a:pt x="130112" y="163637"/>
                  <a:pt x="130075" y="157981"/>
                  <a:pt x="133535" y="154484"/>
                </a:cubicBezTo>
                <a:lnTo>
                  <a:pt x="191727" y="95548"/>
                </a:lnTo>
                <a:cubicBezTo>
                  <a:pt x="195150" y="92087"/>
                  <a:pt x="195150" y="86469"/>
                  <a:pt x="191727" y="83009"/>
                </a:cubicBezTo>
                <a:lnTo>
                  <a:pt x="136549" y="27124"/>
                </a:lnTo>
                <a:cubicBezTo>
                  <a:pt x="133089" y="23626"/>
                  <a:pt x="133126" y="17971"/>
                  <a:pt x="136623" y="14511"/>
                </a:cubicBezTo>
                <a:cubicBezTo>
                  <a:pt x="140121" y="11050"/>
                  <a:pt x="145776" y="11088"/>
                  <a:pt x="149236" y="14585"/>
                </a:cubicBezTo>
                <a:close/>
                <a:moveTo>
                  <a:pt x="11942" y="85390"/>
                </a:moveTo>
                <a:lnTo>
                  <a:pt x="11942" y="35719"/>
                </a:lnTo>
                <a:cubicBezTo>
                  <a:pt x="11942" y="22585"/>
                  <a:pt x="22621" y="11906"/>
                  <a:pt x="35755" y="11906"/>
                </a:cubicBezTo>
                <a:lnTo>
                  <a:pt x="85426" y="11906"/>
                </a:lnTo>
                <a:cubicBezTo>
                  <a:pt x="91752" y="11906"/>
                  <a:pt x="97816" y="14399"/>
                  <a:pt x="102281" y="18864"/>
                </a:cubicBezTo>
                <a:lnTo>
                  <a:pt x="155859" y="72442"/>
                </a:lnTo>
                <a:cubicBezTo>
                  <a:pt x="165161" y="81744"/>
                  <a:pt x="165161" y="96813"/>
                  <a:pt x="155859" y="106114"/>
                </a:cubicBezTo>
                <a:lnTo>
                  <a:pt x="106188" y="155786"/>
                </a:lnTo>
                <a:cubicBezTo>
                  <a:pt x="96886" y="165088"/>
                  <a:pt x="81817" y="165088"/>
                  <a:pt x="72516" y="155786"/>
                </a:cubicBezTo>
                <a:lnTo>
                  <a:pt x="18937" y="102208"/>
                </a:lnTo>
                <a:cubicBezTo>
                  <a:pt x="14473" y="97743"/>
                  <a:pt x="11980" y="91678"/>
                  <a:pt x="11980" y="85353"/>
                </a:cubicBezTo>
                <a:close/>
                <a:moveTo>
                  <a:pt x="65521" y="53578"/>
                </a:moveTo>
                <a:cubicBezTo>
                  <a:pt x="65521" y="47007"/>
                  <a:pt x="60186" y="41672"/>
                  <a:pt x="53614" y="41672"/>
                </a:cubicBezTo>
                <a:cubicBezTo>
                  <a:pt x="47043" y="41672"/>
                  <a:pt x="41708" y="47007"/>
                  <a:pt x="41708" y="53578"/>
                </a:cubicBezTo>
                <a:cubicBezTo>
                  <a:pt x="41708" y="60149"/>
                  <a:pt x="47043" y="65484"/>
                  <a:pt x="53614" y="65484"/>
                </a:cubicBezTo>
                <a:cubicBezTo>
                  <a:pt x="60186" y="65484"/>
                  <a:pt x="65521" y="60149"/>
                  <a:pt x="65521" y="5357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56" name="dsl:shape54"/>
          <p:cNvSpPr/>
          <p:nvPr/>
        </p:nvSpPr>
        <p:spPr>
          <a:xfrm>
            <a:off x="6546818" y="3683031"/>
            <a:ext cx="6096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sl:text55"/>
          <p:cNvSpPr txBox="1"/>
          <p:nvPr/>
        </p:nvSpPr>
        <p:spPr>
          <a:xfrm>
            <a:off x="6455378" y="3637311"/>
            <a:ext cx="79248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Precision</a:t>
            </a:r>
          </a:p>
        </p:txBody>
      </p:sp>
      <p:sp>
        <p:nvSpPr>
          <p:cNvPr id="58" name="dsl:shape56"/>
          <p:cNvSpPr/>
          <p:nvPr/>
        </p:nvSpPr>
        <p:spPr>
          <a:xfrm>
            <a:off x="8571642" y="3683031"/>
            <a:ext cx="43815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sl:text57"/>
          <p:cNvSpPr txBox="1"/>
          <p:nvPr/>
        </p:nvSpPr>
        <p:spPr>
          <a:xfrm>
            <a:off x="8480202" y="3637311"/>
            <a:ext cx="62103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6366F1"/>
                </a:solidFill>
                <a:latin typeface="Liter"/>
                <a:ea typeface="Liter"/>
              </a:rPr>
              <a:t>92.3%</a:t>
            </a:r>
          </a:p>
        </p:txBody>
      </p:sp>
      <p:sp>
        <p:nvSpPr>
          <p:cNvPr id="60" name="dsl:shape58"/>
          <p:cNvSpPr/>
          <p:nvPr/>
        </p:nvSpPr>
        <p:spPr>
          <a:xfrm>
            <a:off x="6546818" y="3911631"/>
            <a:ext cx="2400300" cy="76200"/>
          </a:xfrm>
          <a:custGeom>
            <a:avLst/>
            <a:gdLst/>
            <a:ahLst/>
            <a:cxnLst/>
            <a:rect l="l" t="t" r="r" b="b"/>
            <a:pathLst>
              <a:path w="2400300" h="76200">
                <a:moveTo>
                  <a:pt x="38100" y="0"/>
                </a:moveTo>
                <a:lnTo>
                  <a:pt x="2362200" y="0"/>
                </a:lnTo>
                <a:cubicBezTo>
                  <a:pt x="2383228" y="0"/>
                  <a:pt x="2400300" y="17072"/>
                  <a:pt x="2400300" y="38100"/>
                </a:cubicBezTo>
                <a:lnTo>
                  <a:pt x="2400300" y="38100"/>
                </a:lnTo>
                <a:cubicBezTo>
                  <a:pt x="2400300" y="59128"/>
                  <a:pt x="2383228" y="76200"/>
                  <a:pt x="23622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</p:sp>
      <p:sp>
        <p:nvSpPr>
          <p:cNvPr id="61" name="dsl:shape59"/>
          <p:cNvSpPr/>
          <p:nvPr/>
        </p:nvSpPr>
        <p:spPr>
          <a:xfrm>
            <a:off x="6546818" y="3911631"/>
            <a:ext cx="2209800" cy="76200"/>
          </a:xfrm>
          <a:custGeom>
            <a:avLst/>
            <a:gdLst/>
            <a:ahLst/>
            <a:cxnLst/>
            <a:rect l="l" t="t" r="r" b="b"/>
            <a:pathLst>
              <a:path w="2209800" h="76200">
                <a:moveTo>
                  <a:pt x="38100" y="0"/>
                </a:moveTo>
                <a:lnTo>
                  <a:pt x="2171700" y="0"/>
                </a:lnTo>
                <a:cubicBezTo>
                  <a:pt x="2192728" y="0"/>
                  <a:pt x="2209800" y="17072"/>
                  <a:pt x="2209800" y="38100"/>
                </a:cubicBezTo>
                <a:lnTo>
                  <a:pt x="2209800" y="38100"/>
                </a:lnTo>
                <a:cubicBezTo>
                  <a:pt x="2209800" y="59128"/>
                  <a:pt x="2192728" y="76200"/>
                  <a:pt x="2171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62" name="dsl:shape60"/>
          <p:cNvSpPr/>
          <p:nvPr/>
        </p:nvSpPr>
        <p:spPr>
          <a:xfrm>
            <a:off x="9058275" y="3683031"/>
            <a:ext cx="4191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sl:text61"/>
          <p:cNvSpPr txBox="1"/>
          <p:nvPr/>
        </p:nvSpPr>
        <p:spPr>
          <a:xfrm>
            <a:off x="8966835" y="3637311"/>
            <a:ext cx="60198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Recall</a:t>
            </a:r>
          </a:p>
        </p:txBody>
      </p:sp>
      <p:sp>
        <p:nvSpPr>
          <p:cNvPr id="64" name="dsl:shape62"/>
          <p:cNvSpPr/>
          <p:nvPr/>
        </p:nvSpPr>
        <p:spPr>
          <a:xfrm>
            <a:off x="11089100" y="3683031"/>
            <a:ext cx="428625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sl:text63"/>
          <p:cNvSpPr txBox="1"/>
          <p:nvPr/>
        </p:nvSpPr>
        <p:spPr>
          <a:xfrm>
            <a:off x="10997660" y="3637311"/>
            <a:ext cx="611505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050" noProof="1">
                <a:solidFill>
                  <a:srgbClr val="6366F1"/>
                </a:solidFill>
                <a:latin typeface="Liter"/>
                <a:ea typeface="Liter"/>
              </a:rPr>
              <a:t>89.7%</a:t>
            </a:r>
          </a:p>
        </p:txBody>
      </p:sp>
      <p:sp>
        <p:nvSpPr>
          <p:cNvPr id="66" name="dsl:shape64"/>
          <p:cNvSpPr/>
          <p:nvPr/>
        </p:nvSpPr>
        <p:spPr>
          <a:xfrm>
            <a:off x="9058275" y="3911631"/>
            <a:ext cx="2400300" cy="76200"/>
          </a:xfrm>
          <a:custGeom>
            <a:avLst/>
            <a:gdLst/>
            <a:ahLst/>
            <a:cxnLst/>
            <a:rect l="l" t="t" r="r" b="b"/>
            <a:pathLst>
              <a:path w="2400300" h="76200">
                <a:moveTo>
                  <a:pt x="38100" y="0"/>
                </a:moveTo>
                <a:lnTo>
                  <a:pt x="2362200" y="0"/>
                </a:lnTo>
                <a:cubicBezTo>
                  <a:pt x="2383228" y="0"/>
                  <a:pt x="2400300" y="17072"/>
                  <a:pt x="2400300" y="38100"/>
                </a:cubicBezTo>
                <a:lnTo>
                  <a:pt x="2400300" y="38100"/>
                </a:lnTo>
                <a:cubicBezTo>
                  <a:pt x="2400300" y="59128"/>
                  <a:pt x="2383228" y="76200"/>
                  <a:pt x="23622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</p:sp>
      <p:sp>
        <p:nvSpPr>
          <p:cNvPr id="67" name="dsl:shape65"/>
          <p:cNvSpPr/>
          <p:nvPr/>
        </p:nvSpPr>
        <p:spPr>
          <a:xfrm>
            <a:off x="9058275" y="3911631"/>
            <a:ext cx="2152650" cy="76200"/>
          </a:xfrm>
          <a:custGeom>
            <a:avLst/>
            <a:gdLst/>
            <a:ahLst/>
            <a:cxnLst/>
            <a:rect l="l" t="t" r="r" b="b"/>
            <a:pathLst>
              <a:path w="2152650" h="76200">
                <a:moveTo>
                  <a:pt x="38100" y="0"/>
                </a:moveTo>
                <a:lnTo>
                  <a:pt x="2114550" y="0"/>
                </a:lnTo>
                <a:cubicBezTo>
                  <a:pt x="2135578" y="0"/>
                  <a:pt x="2152650" y="17072"/>
                  <a:pt x="2152650" y="38100"/>
                </a:cubicBezTo>
                <a:lnTo>
                  <a:pt x="2152650" y="38100"/>
                </a:lnTo>
                <a:cubicBezTo>
                  <a:pt x="2152650" y="59128"/>
                  <a:pt x="2135578" y="76200"/>
                  <a:pt x="21145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68" name="dsl:shape66"/>
          <p:cNvSpPr/>
          <p:nvPr/>
        </p:nvSpPr>
        <p:spPr>
          <a:xfrm>
            <a:off x="6546818" y="4105275"/>
            <a:ext cx="4905375" cy="6381"/>
          </a:xfrm>
          <a:custGeom>
            <a:avLst/>
            <a:gdLst/>
            <a:ahLst/>
            <a:cxnLst/>
            <a:rect l="l" t="t" r="r" b="b"/>
            <a:pathLst>
              <a:path w="4905375" h="6381">
                <a:moveTo>
                  <a:pt x="0" y="0"/>
                </a:moveTo>
                <a:lnTo>
                  <a:pt x="4905375" y="0"/>
                </a:lnTo>
                <a:lnTo>
                  <a:pt x="4905375" y="6381"/>
                </a:lnTo>
                <a:lnTo>
                  <a:pt x="0" y="638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ffectLst/>
        </p:spPr>
      </p:sp>
      <p:sp>
        <p:nvSpPr>
          <p:cNvPr id="69" name="dsl:shape67"/>
          <p:cNvSpPr/>
          <p:nvPr/>
        </p:nvSpPr>
        <p:spPr>
          <a:xfrm>
            <a:off x="6546818" y="4222718"/>
            <a:ext cx="6572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sl:text68"/>
          <p:cNvSpPr txBox="1"/>
          <p:nvPr/>
        </p:nvSpPr>
        <p:spPr>
          <a:xfrm>
            <a:off x="6455378" y="4176998"/>
            <a:ext cx="84010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EFEFEF"/>
                </a:solidFill>
                <a:latin typeface="Liter"/>
                <a:ea typeface="Liter"/>
              </a:rPr>
              <a:t>F1-score</a:t>
            </a:r>
          </a:p>
        </p:txBody>
      </p:sp>
      <p:sp>
        <p:nvSpPr>
          <p:cNvPr id="71" name="dsl:shape69"/>
          <p:cNvSpPr/>
          <p:nvPr/>
        </p:nvSpPr>
        <p:spPr>
          <a:xfrm>
            <a:off x="10999470" y="4222718"/>
            <a:ext cx="5429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sl:text70"/>
          <p:cNvSpPr txBox="1"/>
          <p:nvPr/>
        </p:nvSpPr>
        <p:spPr>
          <a:xfrm>
            <a:off x="10908030" y="4176998"/>
            <a:ext cx="72580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350" noProof="1">
                <a:solidFill>
                  <a:srgbClr val="6366F1"/>
                </a:solidFill>
                <a:latin typeface="Liter"/>
                <a:ea typeface="Liter"/>
              </a:rPr>
              <a:t>91.0%</a:t>
            </a:r>
          </a:p>
        </p:txBody>
      </p:sp>
      <p:sp>
        <p:nvSpPr>
          <p:cNvPr id="73" name="dsl:shape71"/>
          <p:cNvSpPr/>
          <p:nvPr/>
        </p:nvSpPr>
        <p:spPr>
          <a:xfrm>
            <a:off x="6194393" y="5286375"/>
            <a:ext cx="5616606" cy="1187481"/>
          </a:xfrm>
          <a:custGeom>
            <a:avLst/>
            <a:gdLst/>
            <a:ahLst/>
            <a:cxnLst/>
            <a:rect l="l" t="t" r="r" b="b"/>
            <a:pathLst>
              <a:path w="5616606" h="1187481">
                <a:moveTo>
                  <a:pt x="114304" y="0"/>
                </a:moveTo>
                <a:lnTo>
                  <a:pt x="5502301" y="0"/>
                </a:lnTo>
                <a:cubicBezTo>
                  <a:pt x="5565429" y="0"/>
                  <a:pt x="5616606" y="51177"/>
                  <a:pt x="5616606" y="114306"/>
                </a:cubicBezTo>
                <a:lnTo>
                  <a:pt x="5616606" y="1073174"/>
                </a:lnTo>
                <a:cubicBezTo>
                  <a:pt x="5616606" y="1136303"/>
                  <a:pt x="5565429" y="1187481"/>
                  <a:pt x="5502301" y="1187481"/>
                </a:cubicBezTo>
                <a:lnTo>
                  <a:pt x="114304" y="1187481"/>
                </a:lnTo>
                <a:cubicBezTo>
                  <a:pt x="51176" y="1187481"/>
                  <a:pt x="0" y="1136303"/>
                  <a:pt x="0" y="1073174"/>
                </a:cubicBezTo>
                <a:lnTo>
                  <a:pt x="0" y="114306"/>
                </a:lnTo>
                <a:cubicBezTo>
                  <a:pt x="0" y="51177"/>
                  <a:pt x="51176" y="0"/>
                  <a:pt x="114304" y="0"/>
                </a:cubicBezTo>
                <a:close/>
              </a:path>
            </a:pathLst>
          </a:custGeom>
          <a:solidFill>
            <a:srgbClr val="262626"/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74" name="dsl:shape72"/>
          <p:cNvSpPr/>
          <p:nvPr/>
        </p:nvSpPr>
        <p:spPr>
          <a:xfrm>
            <a:off x="6373844" y="548954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5218" y="11519"/>
                </a:moveTo>
                <a:cubicBezTo>
                  <a:pt x="139236" y="9845"/>
                  <a:pt x="143824" y="10783"/>
                  <a:pt x="146905" y="13830"/>
                </a:cubicBezTo>
                <a:lnTo>
                  <a:pt x="168336" y="35261"/>
                </a:lnTo>
                <a:cubicBezTo>
                  <a:pt x="170345" y="37270"/>
                  <a:pt x="171483" y="39983"/>
                  <a:pt x="171483" y="42829"/>
                </a:cubicBezTo>
                <a:cubicBezTo>
                  <a:pt x="171483" y="45675"/>
                  <a:pt x="170345" y="48388"/>
                  <a:pt x="168336" y="50397"/>
                </a:cubicBezTo>
                <a:lnTo>
                  <a:pt x="146905" y="71828"/>
                </a:lnTo>
                <a:cubicBezTo>
                  <a:pt x="143824" y="74909"/>
                  <a:pt x="139236" y="75813"/>
                  <a:pt x="135218" y="74139"/>
                </a:cubicBezTo>
                <a:cubicBezTo>
                  <a:pt x="131199" y="72464"/>
                  <a:pt x="128588" y="68613"/>
                  <a:pt x="128588" y="64294"/>
                </a:cubicBezTo>
                <a:lnTo>
                  <a:pt x="128588" y="53578"/>
                </a:lnTo>
                <a:lnTo>
                  <a:pt x="117872" y="53578"/>
                </a:lnTo>
                <a:cubicBezTo>
                  <a:pt x="114490" y="53578"/>
                  <a:pt x="111309" y="55152"/>
                  <a:pt x="109299" y="57864"/>
                </a:cubicBezTo>
                <a:lnTo>
                  <a:pt x="98450" y="72330"/>
                </a:lnTo>
                <a:lnTo>
                  <a:pt x="85055" y="54482"/>
                </a:lnTo>
                <a:lnTo>
                  <a:pt x="92154" y="45006"/>
                </a:lnTo>
                <a:cubicBezTo>
                  <a:pt x="98215" y="36902"/>
                  <a:pt x="107759" y="32147"/>
                  <a:pt x="117872" y="32147"/>
                </a:cubicBezTo>
                <a:lnTo>
                  <a:pt x="128588" y="32147"/>
                </a:lnTo>
                <a:lnTo>
                  <a:pt x="128588" y="21431"/>
                </a:lnTo>
                <a:cubicBezTo>
                  <a:pt x="128588" y="17112"/>
                  <a:pt x="131199" y="13194"/>
                  <a:pt x="135218" y="11519"/>
                </a:cubicBezTo>
                <a:close/>
                <a:moveTo>
                  <a:pt x="51569" y="99120"/>
                </a:moveTo>
                <a:lnTo>
                  <a:pt x="64963" y="116968"/>
                </a:lnTo>
                <a:lnTo>
                  <a:pt x="57864" y="126444"/>
                </a:lnTo>
                <a:cubicBezTo>
                  <a:pt x="51803" y="134548"/>
                  <a:pt x="42260" y="139303"/>
                  <a:pt x="32147" y="139303"/>
                </a:cubicBezTo>
                <a:lnTo>
                  <a:pt x="10716" y="139303"/>
                </a:lnTo>
                <a:cubicBezTo>
                  <a:pt x="4789" y="139303"/>
                  <a:pt x="0" y="134515"/>
                  <a:pt x="0" y="128588"/>
                </a:cubicBezTo>
                <a:cubicBezTo>
                  <a:pt x="0" y="122660"/>
                  <a:pt x="4789" y="117872"/>
                  <a:pt x="10716" y="117872"/>
                </a:cubicBezTo>
                <a:lnTo>
                  <a:pt x="32147" y="117872"/>
                </a:lnTo>
                <a:cubicBezTo>
                  <a:pt x="35529" y="117872"/>
                  <a:pt x="38710" y="116298"/>
                  <a:pt x="40719" y="113586"/>
                </a:cubicBezTo>
                <a:lnTo>
                  <a:pt x="51569" y="99120"/>
                </a:lnTo>
                <a:close/>
                <a:moveTo>
                  <a:pt x="146871" y="157587"/>
                </a:moveTo>
                <a:cubicBezTo>
                  <a:pt x="143790" y="160667"/>
                  <a:pt x="139203" y="161572"/>
                  <a:pt x="135184" y="159897"/>
                </a:cubicBezTo>
                <a:cubicBezTo>
                  <a:pt x="131166" y="158223"/>
                  <a:pt x="128588" y="154338"/>
                  <a:pt x="128588" y="150019"/>
                </a:cubicBezTo>
                <a:lnTo>
                  <a:pt x="128588" y="139303"/>
                </a:lnTo>
                <a:lnTo>
                  <a:pt x="117872" y="139303"/>
                </a:lnTo>
                <a:cubicBezTo>
                  <a:pt x="107759" y="139303"/>
                  <a:pt x="98215" y="134548"/>
                  <a:pt x="92154" y="126444"/>
                </a:cubicBezTo>
                <a:lnTo>
                  <a:pt x="40719" y="57864"/>
                </a:lnTo>
                <a:cubicBezTo>
                  <a:pt x="38710" y="55152"/>
                  <a:pt x="35529" y="53578"/>
                  <a:pt x="32147" y="53578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cubicBezTo>
                  <a:pt x="42260" y="32147"/>
                  <a:pt x="51803" y="36902"/>
                  <a:pt x="57864" y="45006"/>
                </a:cubicBezTo>
                <a:lnTo>
                  <a:pt x="109299" y="113586"/>
                </a:lnTo>
                <a:cubicBezTo>
                  <a:pt x="111309" y="116298"/>
                  <a:pt x="114490" y="117872"/>
                  <a:pt x="117872" y="117872"/>
                </a:cubicBezTo>
                <a:lnTo>
                  <a:pt x="128588" y="117872"/>
                </a:lnTo>
                <a:lnTo>
                  <a:pt x="128588" y="107156"/>
                </a:lnTo>
                <a:cubicBezTo>
                  <a:pt x="128588" y="102837"/>
                  <a:pt x="131199" y="98919"/>
                  <a:pt x="135218" y="97244"/>
                </a:cubicBezTo>
                <a:cubicBezTo>
                  <a:pt x="139236" y="95570"/>
                  <a:pt x="143824" y="96508"/>
                  <a:pt x="146905" y="99555"/>
                </a:cubicBezTo>
                <a:lnTo>
                  <a:pt x="168336" y="120986"/>
                </a:lnTo>
                <a:cubicBezTo>
                  <a:pt x="170345" y="122995"/>
                  <a:pt x="171483" y="125708"/>
                  <a:pt x="171483" y="128554"/>
                </a:cubicBezTo>
                <a:cubicBezTo>
                  <a:pt x="171483" y="131400"/>
                  <a:pt x="170345" y="134113"/>
                  <a:pt x="168336" y="136122"/>
                </a:cubicBezTo>
                <a:lnTo>
                  <a:pt x="146905" y="157553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75" name="dsl:shape73"/>
          <p:cNvSpPr/>
          <p:nvPr/>
        </p:nvSpPr>
        <p:spPr>
          <a:xfrm>
            <a:off x="6569106" y="5441918"/>
            <a:ext cx="517207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sl:text74"/>
          <p:cNvSpPr txBox="1"/>
          <p:nvPr/>
        </p:nvSpPr>
        <p:spPr>
          <a:xfrm>
            <a:off x="6477666" y="5396198"/>
            <a:ext cx="535495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350" noProof="1">
                <a:solidFill>
                  <a:srgbClr val="EFEFEF"/>
                </a:solidFill>
                <a:latin typeface="Liter"/>
                <a:ea typeface="Liter"/>
              </a:rPr>
              <a:t>Кросс-валидация</a:t>
            </a:r>
          </a:p>
        </p:txBody>
      </p:sp>
      <p:sp>
        <p:nvSpPr>
          <p:cNvPr id="77" name="dsl:shape75"/>
          <p:cNvSpPr/>
          <p:nvPr/>
        </p:nvSpPr>
        <p:spPr>
          <a:xfrm>
            <a:off x="6350031" y="5822918"/>
            <a:ext cx="5381625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sl:text76"/>
          <p:cNvSpPr txBox="1"/>
          <p:nvPr/>
        </p:nvSpPr>
        <p:spPr>
          <a:xfrm>
            <a:off x="6258591" y="5777198"/>
            <a:ext cx="5564505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200" noProof="1">
                <a:solidFill>
                  <a:srgbClr val="6366F1"/>
                </a:solidFill>
                <a:highlight>
                  <a:srgbClr val="6366F1"/>
                </a:highlight>
                <a:latin typeface="Liter"/>
                <a:ea typeface="Liter"/>
              </a:rPr>
              <a:t>5-fold </a:t>
            </a:r>
            <a:r>
              <a:rPr sz="1200" noProof="1">
                <a:solidFill>
                  <a:srgbClr val="EFEFEF"/>
                </a:solidFill>
                <a:latin typeface="Liter"/>
                <a:ea typeface="Liter"/>
              </a:rPr>
              <a:t>на уровне спикеров</a:t>
            </a:r>
          </a:p>
        </p:txBody>
      </p:sp>
      <p:sp>
        <p:nvSpPr>
          <p:cNvPr id="79" name="dsl:shape77"/>
          <p:cNvSpPr/>
          <p:nvPr/>
        </p:nvSpPr>
        <p:spPr>
          <a:xfrm>
            <a:off x="6350031" y="6127718"/>
            <a:ext cx="53721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sl:text78"/>
          <p:cNvSpPr txBox="1"/>
          <p:nvPr/>
        </p:nvSpPr>
        <p:spPr>
          <a:xfrm>
            <a:off x="6258591" y="6081998"/>
            <a:ext cx="5554980" cy="281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noProof="1">
                <a:solidFill>
                  <a:srgbClr val="8F8F8F"/>
                </a:solidFill>
                <a:latin typeface="Liter"/>
                <a:ea typeface="Liter"/>
              </a:rPr>
              <a:t>Не допускаем утечку данных между train/test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dpi="0" rotWithShape="1">
            <a:blip r:embed="rId2">
              <a:alphaModFix amt="30000"/>
            </a:blip>
            <a:srcRect t="7829" b="7829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shape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191919">
                  <a:alpha val="94901"/>
                </a:srgbClr>
              </a:gs>
              <a:gs pos="50000">
                <a:srgbClr val="191919">
                  <a:alpha val="89803"/>
                </a:srgbClr>
              </a:gs>
              <a:gs pos="100000">
                <a:srgbClr val="6366F1">
                  <a:alpha val="20000"/>
                </a:srgbClr>
              </a:gs>
            </a:gsLst>
            <a:lin scaled="0" ang="2700000"/>
          </a:gradFill>
          <a:ln>
            <a:noFill/>
          </a:ln>
          <a:effectLst/>
        </p:spPr>
      </p:sp>
      <p:sp>
        <p:nvSpPr>
          <p:cNvPr id="4" name="dsl:shape2"/>
          <p:cNvSpPr/>
          <p:nvPr/>
        </p:nvSpPr>
        <p:spPr>
          <a:xfrm>
            <a:off x="5715000" y="7905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5" name="dsl:shape3"/>
          <p:cNvSpPr/>
          <p:nvPr/>
        </p:nvSpPr>
        <p:spPr>
          <a:xfrm>
            <a:off x="5955506" y="10287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</p:sp>
      <p:sp>
        <p:nvSpPr>
          <p:cNvPr id="6" name="dsl:shape4"/>
          <p:cNvSpPr/>
          <p:nvPr/>
        </p:nvSpPr>
        <p:spPr>
          <a:xfrm>
            <a:off x="2672429" y="1781175"/>
            <a:ext cx="6848475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text5"/>
          <p:cNvSpPr txBox="1"/>
          <p:nvPr/>
        </p:nvSpPr>
        <p:spPr>
          <a:xfrm>
            <a:off x="2580989" y="1735455"/>
            <a:ext cx="7031355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b="1" sz="3600" noProof="1">
                <a:solidFill>
                  <a:srgbClr val="EFEFEF"/>
                </a:solidFill>
                <a:latin typeface="Liter"/>
                <a:ea typeface="Liter"/>
              </a:rPr>
              <a:t>Ключевые принципы аннотации</a:t>
            </a:r>
          </a:p>
        </p:txBody>
      </p:sp>
      <p:sp>
        <p:nvSpPr>
          <p:cNvPr id="8" name="dsl:shape6"/>
          <p:cNvSpPr/>
          <p:nvPr/>
        </p:nvSpPr>
        <p:spPr>
          <a:xfrm>
            <a:off x="1831943" y="2774918"/>
            <a:ext cx="8531256" cy="1082706"/>
          </a:xfrm>
          <a:custGeom>
            <a:avLst/>
            <a:gdLst/>
            <a:ahLst/>
            <a:cxnLst/>
            <a:rect l="l" t="t" r="r" b="b"/>
            <a:pathLst>
              <a:path w="8531256" h="1082706">
                <a:moveTo>
                  <a:pt x="114298" y="0"/>
                </a:moveTo>
                <a:lnTo>
                  <a:pt x="8416957" y="0"/>
                </a:lnTo>
                <a:cubicBezTo>
                  <a:pt x="8480082" y="0"/>
                  <a:pt x="8531256" y="51174"/>
                  <a:pt x="8531256" y="114301"/>
                </a:cubicBezTo>
                <a:lnTo>
                  <a:pt x="8531256" y="968404"/>
                </a:lnTo>
                <a:cubicBezTo>
                  <a:pt x="8531256" y="1031531"/>
                  <a:pt x="8480082" y="1082706"/>
                  <a:pt x="8416957" y="1082706"/>
                </a:cubicBezTo>
                <a:lnTo>
                  <a:pt x="114298" y="1082706"/>
                </a:lnTo>
                <a:cubicBezTo>
                  <a:pt x="51215" y="1082706"/>
                  <a:pt x="0" y="1031489"/>
                  <a:pt x="0" y="968404"/>
                </a:cubicBezTo>
                <a:lnTo>
                  <a:pt x="0" y="114301"/>
                </a:lnTo>
                <a:cubicBezTo>
                  <a:pt x="0" y="51174"/>
                  <a:pt x="51173" y="0"/>
                  <a:pt x="114298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9" name="dsl:shape7"/>
          <p:cNvSpPr/>
          <p:nvPr/>
        </p:nvSpPr>
        <p:spPr>
          <a:xfrm>
            <a:off x="2016156" y="3006756"/>
            <a:ext cx="8162925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ext8"/>
          <p:cNvSpPr txBox="1"/>
          <p:nvPr/>
        </p:nvSpPr>
        <p:spPr>
          <a:xfrm>
            <a:off x="1924716" y="2961036"/>
            <a:ext cx="8345805" cy="7105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1500" noProof="1">
                <a:solidFill>
                  <a:srgbClr val="6366F1"/>
                </a:solidFill>
                <a:latin typeface="Liter"/>
                <a:ea typeface="Liter"/>
              </a:rPr>
              <a:t>Многоуровневая разметка</a:t>
            </a:r>
            <a:r>
              <a:rPr sz="1500" noProof="1">
                <a:solidFill>
                  <a:srgbClr val="EFEFEF"/>
                </a:solidFill>
                <a:latin typeface="Liter"/>
                <a:ea typeface="Liter"/>
              </a:rPr>
              <a:t> обеспечивает полное понимание голосовых команд — от акустики до семантики</a:t>
            </a:r>
          </a:p>
        </p:txBody>
      </p:sp>
      <p:sp>
        <p:nvSpPr>
          <p:cNvPr id="11" name="dsl:shape9"/>
          <p:cNvSpPr/>
          <p:nvPr/>
        </p:nvSpPr>
        <p:spPr>
          <a:xfrm>
            <a:off x="1831943" y="4092606"/>
            <a:ext cx="8531256" cy="1082706"/>
          </a:xfrm>
          <a:custGeom>
            <a:avLst/>
            <a:gdLst/>
            <a:ahLst/>
            <a:cxnLst/>
            <a:rect l="l" t="t" r="r" b="b"/>
            <a:pathLst>
              <a:path w="8531256" h="1082706">
                <a:moveTo>
                  <a:pt x="114298" y="0"/>
                </a:moveTo>
                <a:lnTo>
                  <a:pt x="8416957" y="0"/>
                </a:lnTo>
                <a:cubicBezTo>
                  <a:pt x="8480082" y="0"/>
                  <a:pt x="8531256" y="51174"/>
                  <a:pt x="8531256" y="114301"/>
                </a:cubicBezTo>
                <a:lnTo>
                  <a:pt x="8531256" y="968404"/>
                </a:lnTo>
                <a:cubicBezTo>
                  <a:pt x="8531256" y="1031531"/>
                  <a:pt x="8480082" y="1082706"/>
                  <a:pt x="8416957" y="1082706"/>
                </a:cubicBezTo>
                <a:lnTo>
                  <a:pt x="114298" y="1082706"/>
                </a:lnTo>
                <a:cubicBezTo>
                  <a:pt x="51215" y="1082706"/>
                  <a:pt x="0" y="1031489"/>
                  <a:pt x="0" y="968404"/>
                </a:cubicBezTo>
                <a:lnTo>
                  <a:pt x="0" y="114301"/>
                </a:lnTo>
                <a:cubicBezTo>
                  <a:pt x="0" y="51174"/>
                  <a:pt x="51173" y="0"/>
                  <a:pt x="114298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2" name="dsl:shape10"/>
          <p:cNvSpPr/>
          <p:nvPr/>
        </p:nvSpPr>
        <p:spPr>
          <a:xfrm>
            <a:off x="2016156" y="4324350"/>
            <a:ext cx="8162925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text11"/>
          <p:cNvSpPr txBox="1"/>
          <p:nvPr/>
        </p:nvSpPr>
        <p:spPr>
          <a:xfrm>
            <a:off x="1924716" y="4278630"/>
            <a:ext cx="8345805" cy="7105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1500" noProof="1">
                <a:solidFill>
                  <a:srgbClr val="6366F1"/>
                </a:solidFill>
                <a:latin typeface="Liter"/>
                <a:ea typeface="Liter"/>
              </a:rPr>
              <a:t>Строгие форматы</a:t>
            </a:r>
            <a:r>
              <a:rPr sz="1500" noProof="1">
                <a:solidFill>
                  <a:srgbClr val="EFEFEF"/>
                </a:solidFill>
                <a:latin typeface="Liter"/>
                <a:ea typeface="Liter"/>
              </a:rPr>
              <a:t> (CoNLL-U, JSON-LD, IOB2) и </a:t>
            </a:r>
            <a:r>
              <a:rPr b="1" sz="1500" noProof="1">
                <a:solidFill>
                  <a:srgbClr val="6366F1"/>
                </a:solidFill>
                <a:latin typeface="Liter"/>
                <a:ea typeface="Liter"/>
              </a:rPr>
              <a:t>метрики качества</a:t>
            </a:r>
            <a:r>
              <a:rPr sz="1500" noProof="1">
                <a:solidFill>
                  <a:srgbClr val="EFEFEF"/>
                </a:solidFill>
                <a:latin typeface="Liter"/>
                <a:ea typeface="Liter"/>
              </a:rPr>
              <a:t> гарантируют надёжность данных для обучения ML-моделей</a:t>
            </a:r>
          </a:p>
        </p:txBody>
      </p:sp>
      <p:sp>
        <p:nvSpPr>
          <p:cNvPr id="14" name="dsl:shape12"/>
          <p:cNvSpPr/>
          <p:nvPr/>
        </p:nvSpPr>
        <p:spPr>
          <a:xfrm>
            <a:off x="1893284" y="5562600"/>
            <a:ext cx="2282856" cy="501681"/>
          </a:xfrm>
          <a:custGeom>
            <a:avLst/>
            <a:gdLst/>
            <a:ahLst/>
            <a:cxnLst/>
            <a:rect l="l" t="t" r="r" b="b"/>
            <a:pathLst>
              <a:path w="2282856" h="501681">
                <a:moveTo>
                  <a:pt x="76202" y="0"/>
                </a:moveTo>
                <a:lnTo>
                  <a:pt x="2206653" y="0"/>
                </a:lnTo>
                <a:cubicBezTo>
                  <a:pt x="2248711" y="0"/>
                  <a:pt x="2282856" y="34146"/>
                  <a:pt x="2282856" y="76205"/>
                </a:cubicBezTo>
                <a:lnTo>
                  <a:pt x="2282856" y="425475"/>
                </a:lnTo>
                <a:cubicBezTo>
                  <a:pt x="2282856" y="467534"/>
                  <a:pt x="2248711" y="501681"/>
                  <a:pt x="2206653" y="501681"/>
                </a:cubicBezTo>
                <a:lnTo>
                  <a:pt x="76202" y="501681"/>
                </a:lnTo>
                <a:cubicBezTo>
                  <a:pt x="34144" y="501681"/>
                  <a:pt x="0" y="467534"/>
                  <a:pt x="0" y="425475"/>
                </a:cubicBezTo>
                <a:lnTo>
                  <a:pt x="0" y="76205"/>
                </a:lnTo>
                <a:cubicBezTo>
                  <a:pt x="0" y="34146"/>
                  <a:pt x="34144" y="0"/>
                  <a:pt x="76202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5" name="dsl:shape13"/>
          <p:cNvSpPr/>
          <p:nvPr/>
        </p:nvSpPr>
        <p:spPr>
          <a:xfrm>
            <a:off x="2110740" y="571814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16" name="dsl:shape14"/>
          <p:cNvSpPr/>
          <p:nvPr/>
        </p:nvSpPr>
        <p:spPr>
          <a:xfrm>
            <a:off x="2396490" y="5680043"/>
            <a:ext cx="162877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ext15"/>
          <p:cNvSpPr txBox="1"/>
          <p:nvPr/>
        </p:nvSpPr>
        <p:spPr>
          <a:xfrm>
            <a:off x="2305050" y="5634323"/>
            <a:ext cx="1811655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350" noProof="1">
                <a:solidFill>
                  <a:srgbClr val="EFEFEF"/>
                </a:solidFill>
                <a:latin typeface="Liter"/>
                <a:ea typeface="Liter"/>
              </a:rPr>
              <a:t>7 уровней разметки</a:t>
            </a:r>
          </a:p>
        </p:txBody>
      </p:sp>
      <p:sp>
        <p:nvSpPr>
          <p:cNvPr id="18" name="dsl:shape16"/>
          <p:cNvSpPr/>
          <p:nvPr/>
        </p:nvSpPr>
        <p:spPr>
          <a:xfrm>
            <a:off x="4490085" y="5562600"/>
            <a:ext cx="3282981" cy="501681"/>
          </a:xfrm>
          <a:custGeom>
            <a:avLst/>
            <a:gdLst/>
            <a:ahLst/>
            <a:cxnLst/>
            <a:rect l="l" t="t" r="r" b="b"/>
            <a:pathLst>
              <a:path w="3282981" h="501681">
                <a:moveTo>
                  <a:pt x="76201" y="0"/>
                </a:moveTo>
                <a:lnTo>
                  <a:pt x="3206779" y="0"/>
                </a:lnTo>
                <a:cubicBezTo>
                  <a:pt x="3248836" y="0"/>
                  <a:pt x="3282981" y="34146"/>
                  <a:pt x="3282981" y="76205"/>
                </a:cubicBezTo>
                <a:lnTo>
                  <a:pt x="3282981" y="425475"/>
                </a:lnTo>
                <a:cubicBezTo>
                  <a:pt x="3282981" y="467534"/>
                  <a:pt x="3248836" y="501681"/>
                  <a:pt x="3206779" y="501681"/>
                </a:cubicBezTo>
                <a:lnTo>
                  <a:pt x="76201" y="501681"/>
                </a:lnTo>
                <a:cubicBezTo>
                  <a:pt x="34144" y="501681"/>
                  <a:pt x="0" y="467534"/>
                  <a:pt x="0" y="425475"/>
                </a:cubicBezTo>
                <a:lnTo>
                  <a:pt x="0" y="76205"/>
                </a:lnTo>
                <a:cubicBezTo>
                  <a:pt x="0" y="34146"/>
                  <a:pt x="34144" y="0"/>
                  <a:pt x="76201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19" name="dsl:shape17"/>
          <p:cNvSpPr/>
          <p:nvPr/>
        </p:nvSpPr>
        <p:spPr>
          <a:xfrm>
            <a:off x="4707540" y="571814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0" name="dsl:shape18"/>
          <p:cNvSpPr/>
          <p:nvPr/>
        </p:nvSpPr>
        <p:spPr>
          <a:xfrm>
            <a:off x="4993290" y="5680043"/>
            <a:ext cx="26289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xt19"/>
          <p:cNvSpPr txBox="1"/>
          <p:nvPr/>
        </p:nvSpPr>
        <p:spPr>
          <a:xfrm>
            <a:off x="4901850" y="5634323"/>
            <a:ext cx="281178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350" noProof="1">
                <a:solidFill>
                  <a:srgbClr val="EFEFEF"/>
                </a:solidFill>
                <a:latin typeface="Liter"/>
                <a:ea typeface="Liter"/>
              </a:rPr>
              <a:t>Стандартизированные форматы</a:t>
            </a:r>
          </a:p>
        </p:txBody>
      </p:sp>
      <p:sp>
        <p:nvSpPr>
          <p:cNvPr id="22" name="dsl:shape20"/>
          <p:cNvSpPr/>
          <p:nvPr/>
        </p:nvSpPr>
        <p:spPr>
          <a:xfrm>
            <a:off x="8083486" y="5562600"/>
            <a:ext cx="2216181" cy="501681"/>
          </a:xfrm>
          <a:custGeom>
            <a:avLst/>
            <a:gdLst/>
            <a:ahLst/>
            <a:cxnLst/>
            <a:rect l="l" t="t" r="r" b="b"/>
            <a:pathLst>
              <a:path w="2216181" h="501681">
                <a:moveTo>
                  <a:pt x="76202" y="0"/>
                </a:moveTo>
                <a:lnTo>
                  <a:pt x="2139978" y="0"/>
                </a:lnTo>
                <a:cubicBezTo>
                  <a:pt x="2182036" y="0"/>
                  <a:pt x="2216181" y="34146"/>
                  <a:pt x="2216181" y="76205"/>
                </a:cubicBezTo>
                <a:lnTo>
                  <a:pt x="2216181" y="425475"/>
                </a:lnTo>
                <a:cubicBezTo>
                  <a:pt x="2216181" y="467534"/>
                  <a:pt x="2182036" y="501681"/>
                  <a:pt x="2139978" y="501681"/>
                </a:cubicBezTo>
                <a:lnTo>
                  <a:pt x="76202" y="501681"/>
                </a:lnTo>
                <a:cubicBezTo>
                  <a:pt x="34144" y="501681"/>
                  <a:pt x="0" y="467534"/>
                  <a:pt x="0" y="425475"/>
                </a:cubicBezTo>
                <a:lnTo>
                  <a:pt x="0" y="76205"/>
                </a:lnTo>
                <a:cubicBezTo>
                  <a:pt x="0" y="34146"/>
                  <a:pt x="34144" y="0"/>
                  <a:pt x="76202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8509">
            <a:solidFill>
              <a:srgbClr val="333333"/>
            </a:solidFill>
            <a:prstDash val="solid"/>
          </a:ln>
          <a:effectLst/>
        </p:spPr>
      </p:sp>
      <p:sp>
        <p:nvSpPr>
          <p:cNvPr id="23" name="dsl:shape21"/>
          <p:cNvSpPr/>
          <p:nvPr/>
        </p:nvSpPr>
        <p:spPr>
          <a:xfrm>
            <a:off x="8300942" y="571814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  <a:effectLst/>
        </p:spPr>
      </p:sp>
      <p:sp>
        <p:nvSpPr>
          <p:cNvPr id="24" name="dsl:shape22"/>
          <p:cNvSpPr/>
          <p:nvPr/>
        </p:nvSpPr>
        <p:spPr>
          <a:xfrm>
            <a:off x="8586692" y="5680043"/>
            <a:ext cx="15621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text23"/>
          <p:cNvSpPr txBox="1"/>
          <p:nvPr/>
        </p:nvSpPr>
        <p:spPr>
          <a:xfrm>
            <a:off x="8495252" y="5634323"/>
            <a:ext cx="1744980" cy="3581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350" noProof="1">
                <a:solidFill>
                  <a:srgbClr val="EFEFEF"/>
                </a:solidFill>
                <a:latin typeface="Liter"/>
                <a:ea typeface="Liter"/>
              </a:rPr>
              <a:t>Контроль качества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_header"/>
          <p:cNvSpPr/>
          <p:nvPr/>
        </p:nvSpPr>
        <p:spPr>
          <a:xfrm>
            <a:off x="381000" y="381000"/>
            <a:ext cx="381000" cy="381000"/>
          </a:xfrm>
          <a:prstGeom prst="rect">
            <a:avLst/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ext_title"/>
          <p:cNvSpPr txBox="1"/>
          <p:nvPr/>
        </p:nvSpPr>
        <p:spPr>
          <a:xfrm>
            <a:off x="857250" y="381000"/>
            <a:ext cx="5715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100" noProof="1">
                <a:solidFill>
                  <a:srgbClr val="EFEFEF"/>
                </a:solidFill>
                <a:latin typeface="Liter"/>
                <a:ea typeface="Liter"/>
              </a:rPr>
              <a:t>Видео-уровни разметки</a:t>
            </a:r>
          </a:p>
        </p:txBody>
      </p:sp>
      <p:sp>
        <p:nvSpPr>
          <p:cNvPr id="4" name="dsl:shape_line"/>
          <p:cNvSpPr/>
          <p:nvPr/>
        </p:nvSpPr>
        <p:spPr>
          <a:xfrm>
            <a:off x="381000" y="857250"/>
            <a:ext cx="11430000" cy="190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dsl:table_levels"/>
          <p:cNvGraphicFramePr>
            <a:graphicFrameLocks noGrp="1"/>
          </p:cNvGraphicFramePr>
          <p:nvPr/>
        </p:nvGraphicFramePr>
        <p:xfrm>
          <a:off x="381000" y="1047750"/>
          <a:ext cx="11430000" cy="52387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714500"/>
                <a:gridCol w="2286000"/>
                <a:gridCol w="1714500"/>
                <a:gridCol w="1714500"/>
                <a:gridCol w="2286000"/>
                <a:gridCol w="1714500"/>
              </a:tblGrid>
              <a:tr h="5238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Уровень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Тип разметки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Модальность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Формат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Визуализация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ID сущности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</a:tr>
              <a:tr h="15716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7. Видео-кадровый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Сегментация на кадры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Видеопоток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JSON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CVAT, VIA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video_id, frame_id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</a:tr>
              <a:tr h="15716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8. Видео-жестовый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Bounding box, классификация жеста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Видеопоток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JSON / COCO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CVAT, Label Studio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video_id, gesture_id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5716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9. Кросс-модальный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Связи audio ↔ video ↔ text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Мета-уровень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RDF / JSON-LD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Граф знаний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multimodal_event_id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6" name="dsl:text_note"/>
          <p:cNvSpPr txBox="1"/>
          <p:nvPr/>
        </p:nvSpPr>
        <p:spPr>
          <a:xfrm>
            <a:off x="381000" y="6381750"/>
            <a:ext cx="114300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noProof="1">
                <a:solidFill>
                  <a:srgbClr val="666666"/>
                </a:solidFill>
                <a:latin typeface="微软雅黑"/>
                <a:ea typeface="微软雅黑"/>
              </a:rPr>
              <a:t>Дополнение к 7 уровням аудио/текстовой разметки — 3 уровня видео и кросс-модальной интеграции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_header"/>
          <p:cNvSpPr/>
          <p:nvPr/>
        </p:nvSpPr>
        <p:spPr>
          <a:xfrm>
            <a:off x="381000" y="381000"/>
            <a:ext cx="381000" cy="381000"/>
          </a:xfrm>
          <a:prstGeom prst="rect">
            <a:avLst/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ext_title"/>
          <p:cNvSpPr txBox="1"/>
          <p:nvPr/>
        </p:nvSpPr>
        <p:spPr>
          <a:xfrm>
            <a:off x="857250" y="381000"/>
            <a:ext cx="66675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100" noProof="1">
                <a:solidFill>
                  <a:srgbClr val="EFEFEF"/>
                </a:solidFill>
                <a:latin typeface="Liter"/>
                <a:ea typeface="Liter"/>
              </a:rPr>
              <a:t>Жесты и связь с устройствами</a:t>
            </a:r>
          </a:p>
        </p:txBody>
      </p:sp>
      <p:sp>
        <p:nvSpPr>
          <p:cNvPr id="4" name="dsl:shape_line"/>
          <p:cNvSpPr/>
          <p:nvPr/>
        </p:nvSpPr>
        <p:spPr>
          <a:xfrm>
            <a:off x="381000" y="857250"/>
            <a:ext cx="11430000" cy="190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dsl:table_gestures"/>
          <p:cNvGraphicFramePr>
            <a:graphicFrameLocks noGrp="1"/>
          </p:cNvGraphicFramePr>
          <p:nvPr/>
        </p:nvGraphicFramePr>
        <p:xfrm>
          <a:off x="381000" y="1047750"/>
          <a:ext cx="11430000" cy="4762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71600"/>
                <a:gridCol w="2286000"/>
                <a:gridCol w="2057400"/>
                <a:gridCol w="1143000"/>
                <a:gridCol w="1143000"/>
                <a:gridCol w="1143000"/>
                <a:gridCol w="1143000"/>
                <a:gridCol w="1143000"/>
              </a:tblGrid>
              <a:tr h="5715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Жест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Описание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IoT-команда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Cond.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Curt.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Lamp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Lock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TV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</a:tr>
              <a:tr h="7143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Круг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Вращение ладонью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Регулировка знач.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Темп.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Процент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Яркость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Громк.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</a:tr>
              <a:tr h="7143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Ладонь-стоп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Открытая ладонь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Пауза / Стоп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Стоп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Останов.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Выключ.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Блок.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Mute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7143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Свайп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Гориз. махание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Переключение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Режимы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Откр/закр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Канал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</a:tr>
              <a:tr h="7143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Хлопок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Двойной хлопок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Вкл/выкл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Вкл/выкл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Toggle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Закрыть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Вкл/выкл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7143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Щелчок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Щелчок пальц.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Подтвержд.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OK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OK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</a:tr>
              <a:tr h="6191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Поднятие р.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Wake-up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Активация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Разбл.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Wake-up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6" name="dsl:text_note"/>
          <p:cNvSpPr txBox="1"/>
          <p:nvPr/>
        </p:nvSpPr>
        <p:spPr>
          <a:xfrm>
            <a:off x="381000" y="5905500"/>
            <a:ext cx="11430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noProof="1">
                <a:solidFill>
                  <a:srgbClr val="888888"/>
                </a:solidFill>
                <a:latin typeface="微软雅黑"/>
                <a:ea typeface="微软雅黑"/>
              </a:rPr>
              <a:t>Каждый жест отснят с 2 ракурсов (лицо / сбоку) × 2 диктора (мужской / женский)</a:t>
            </a:r>
          </a:p>
          <a:p>
            <a:pPr algn="l"/>
            <a:r>
              <a:rPr sz="900" noProof="1">
                <a:solidFill>
                  <a:srgbClr val="888888"/>
                </a:solidFill>
                <a:latin typeface="微软雅黑"/>
                <a:ea typeface="微软雅黑"/>
              </a:rPr>
              <a:t>Ракурс влияет на видимость ключевых точек рук (MediaPipe Hands 21 точка)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_header"/>
          <p:cNvSpPr/>
          <p:nvPr/>
        </p:nvSpPr>
        <p:spPr>
          <a:xfrm>
            <a:off x="381000" y="381000"/>
            <a:ext cx="381000" cy="381000"/>
          </a:xfrm>
          <a:prstGeom prst="rect">
            <a:avLst/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ext_title"/>
          <p:cNvSpPr txBox="1"/>
          <p:nvPr/>
        </p:nvSpPr>
        <p:spPr>
          <a:xfrm>
            <a:off x="857250" y="381000"/>
            <a:ext cx="66675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100" noProof="1">
                <a:solidFill>
                  <a:srgbClr val="EFEFEF"/>
                </a:solidFill>
                <a:latin typeface="Liter"/>
                <a:ea typeface="Liter"/>
              </a:rPr>
              <a:t>Cross-modal Fusion: audio + video</a:t>
            </a:r>
          </a:p>
        </p:txBody>
      </p:sp>
      <p:sp>
        <p:nvSpPr>
          <p:cNvPr id="4" name="dsl:shape_line"/>
          <p:cNvSpPr/>
          <p:nvPr/>
        </p:nvSpPr>
        <p:spPr>
          <a:xfrm>
            <a:off x="381000" y="857250"/>
            <a:ext cx="11430000" cy="190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ext_content"/>
          <p:cNvSpPr txBox="1"/>
          <p:nvPr/>
        </p:nvSpPr>
        <p:spPr>
          <a:xfrm>
            <a:off x="381000" y="1143000"/>
            <a:ext cx="5524500" cy="495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CCCCCC"/>
                </a:solidFill>
                <a:latin typeface="微软雅黑"/>
                <a:ea typeface="微软雅黑"/>
              </a:rPr>
              <a:t>Архитектура фьюжна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1. </a:t>
            </a:r>
            <a:r>
              <a:rPr b="1" sz="1200" noProof="1">
                <a:solidFill>
                  <a:srgbClr val="CCCCCC"/>
                </a:solidFill>
                <a:latin typeface="微软雅黑"/>
                <a:ea typeface="微软雅黑"/>
              </a:rPr>
              <a:t>Аудио как триггер</a:t>
            </a: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 (always-on)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   - VAD + Onset Detection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   - MFCC + ZCR + Spectral Centroid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2. </a:t>
            </a:r>
            <a:r>
              <a:rPr b="1" sz="1200" noProof="1">
                <a:solidFill>
                  <a:srgbClr val="CCCCCC"/>
                </a:solidFill>
                <a:latin typeface="微软雅黑"/>
                <a:ea typeface="微软雅黑"/>
              </a:rPr>
              <a:t>Видео как валидатор</a:t>
            </a: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 (sleep mode)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   - MediaPipe Hands (21 keypoints)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   - Optical Flow для свайпов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   - Камера просыпается по аудио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3. </a:t>
            </a:r>
            <a:r>
              <a:rPr b="1" sz="1200" noProof="1">
                <a:solidFill>
                  <a:srgbClr val="CCCCCC"/>
                </a:solidFill>
                <a:latin typeface="微软雅黑"/>
                <a:ea typeface="微软雅黑"/>
              </a:rPr>
              <a:t>Late Fusion Layer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   - Score multiply / lightweight MLP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   - Threshold = 0.6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4. </a:t>
            </a:r>
            <a:r>
              <a:rPr b="1" sz="1200" noProof="1">
                <a:solidFill>
                  <a:srgbClr val="CCCCCC"/>
                </a:solidFill>
                <a:latin typeface="微软雅黑"/>
                <a:ea typeface="微软雅黑"/>
              </a:rPr>
              <a:t>Device Router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CCCCCC"/>
                </a:solidFill>
                <a:latin typeface="微软雅黑"/>
                <a:ea typeface="微软雅黑"/>
              </a:rPr>
              <a:t>   - Lamp / Cond. / Curt. / TV / Lock</a:t>
            </a:r>
          </a:p>
        </p:txBody>
      </p:sp>
      <p:sp>
        <p:nvSpPr>
          <p:cNvPr id="6" name="dsl:shape_box"/>
          <p:cNvSpPr/>
          <p:nvPr/>
        </p:nvSpPr>
        <p:spPr>
          <a:xfrm>
            <a:off x="6286500" y="1143000"/>
            <a:ext cx="5524500" cy="4953000"/>
          </a:xfrm>
          <a:prstGeom prst="rect">
            <a:avLst/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text_rdf"/>
          <p:cNvSpPr txBox="1"/>
          <p:nvPr/>
        </p:nvSpPr>
        <p:spPr>
          <a:xfrm>
            <a:off x="6477000" y="1333500"/>
            <a:ext cx="5143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050" noProof="1">
                <a:solidFill>
                  <a:srgbClr val="CCCCCC"/>
                </a:solidFill>
                <a:latin typeface="微软雅黑"/>
                <a:ea typeface="微软雅黑"/>
              </a:rPr>
              <a:t>RDF-граф знаний (rdflib)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- </a:t>
            </a:r>
            <a:r>
              <a:rPr b="1" sz="1050" noProof="1">
                <a:solidFill>
                  <a:srgbClr val="CCCCCC"/>
                </a:solidFill>
                <a:latin typeface="微软雅黑"/>
                <a:ea typeface="微软雅黑"/>
              </a:rPr>
              <a:t>Классы:</a:t>
            </a: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 AudioCommand, VideoGesture,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  IoTDevice, GestureType, Intent, Slot, Speaker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- </a:t>
            </a:r>
            <a:r>
              <a:rPr b="1" sz="1050" noProof="1">
                <a:solidFill>
                  <a:srgbClr val="CCCCCC"/>
                </a:solidFill>
                <a:latin typeface="微软雅黑"/>
                <a:ea typeface="微软雅黑"/>
              </a:rPr>
              <a:t>Свойства: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  hasDevice, hasGestureType, hasIntent,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  hasSlot, performedBy, correspondsTo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- </a:t>
            </a:r>
            <a:r>
              <a:rPr b="1" sz="1050" noProof="1">
                <a:solidFill>
                  <a:srgbClr val="CCCCCC"/>
                </a:solidFill>
                <a:latin typeface="微软雅黑"/>
                <a:ea typeface="微软雅黑"/>
              </a:rPr>
              <a:t>Кросс-модальные связи: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  audio_001 ↔ video_001 (same speaker + device)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- </a:t>
            </a:r>
            <a:r>
              <a:rPr b="1" sz="1050" noProof="1">
                <a:solidFill>
                  <a:srgbClr val="CCCCCC"/>
                </a:solidFill>
                <a:latin typeface="微软雅黑"/>
                <a:ea typeface="微软雅黑"/>
              </a:rPr>
              <a:t>SPARQL-запросы: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  — Команды по устройству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  — Cross-modal пары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  — Распределение интентов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  — Типы жестов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- </a:t>
            </a:r>
            <a:r>
              <a:rPr b="1" sz="1050" noProof="1">
                <a:solidFill>
                  <a:srgbClr val="CCCCCC"/>
                </a:solidFill>
                <a:latin typeface="微软雅黑"/>
                <a:ea typeface="微软雅黑"/>
              </a:rPr>
              <a:t>Форматы:</a:t>
            </a:r>
            <a:r>
              <a:rPr sz="1050" noProof="1">
                <a:solidFill>
                  <a:srgbClr val="CCCCCC"/>
                </a:solidFill>
                <a:latin typeface="微软雅黑"/>
                <a:ea typeface="微软雅黑"/>
              </a:rPr>
              <a:t> Turtle (.ttl), RDF/XML (.rdf)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_header"/>
          <p:cNvSpPr/>
          <p:nvPr/>
        </p:nvSpPr>
        <p:spPr>
          <a:xfrm>
            <a:off x="381000" y="381000"/>
            <a:ext cx="381000" cy="381000"/>
          </a:xfrm>
          <a:prstGeom prst="rect">
            <a:avLst/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ext_title"/>
          <p:cNvSpPr txBox="1"/>
          <p:nvPr/>
        </p:nvSpPr>
        <p:spPr>
          <a:xfrm>
            <a:off x="857250" y="381000"/>
            <a:ext cx="66675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100" noProof="1">
                <a:solidFill>
                  <a:srgbClr val="EFEFEF"/>
                </a:solidFill>
                <a:latin typeface="Liter"/>
                <a:ea typeface="Liter"/>
              </a:rPr>
              <a:t>Структура датасета и статистика</a:t>
            </a:r>
          </a:p>
        </p:txBody>
      </p:sp>
      <p:sp>
        <p:nvSpPr>
          <p:cNvPr id="4" name="dsl:shape_line"/>
          <p:cNvSpPr/>
          <p:nvPr/>
        </p:nvSpPr>
        <p:spPr>
          <a:xfrm>
            <a:off x="381000" y="857250"/>
            <a:ext cx="11430000" cy="190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dsl:table_stats"/>
          <p:cNvGraphicFramePr>
            <a:graphicFrameLocks noGrp="1"/>
          </p:cNvGraphicFramePr>
          <p:nvPr/>
        </p:nvGraphicFramePr>
        <p:xfrm>
          <a:off x="381000" y="1047750"/>
          <a:ext cx="5524500" cy="2857497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3314700"/>
                <a:gridCol w="2209800"/>
              </a:tblGrid>
              <a:tr h="3429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Показатель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6366F1"/>
                          </a:solidFill>
                          <a:latin typeface="微软雅黑"/>
                          <a:ea typeface="微软雅黑"/>
                        </a:rPr>
                        <a:t>Значение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</a:tr>
              <a:tr h="3571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Аудиофайлов (.ogg)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100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</a:tr>
              <a:tr h="3571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Видеофайлов (.webm)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80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3571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Устройств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</a:tr>
              <a:tr h="3571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Голосовых команд (на устр.)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3571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Типов жестов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</a:tr>
              <a:tr h="3571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Ракурсов камеры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2 (лицо, сбоку)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Дикторов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CCCCCC"/>
                          </a:solidFill>
                          <a:latin typeface="微软雅黑"/>
                          <a:ea typeface="微软雅黑"/>
                        </a:rPr>
                        <a:t>2 (муж id=2, жен id=1)</a:t>
                      </a: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333333"/>
                      </a:solidFill>
                      <a:prstDash val="soli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</a:lnB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6" name="dsl:text_structure"/>
          <p:cNvSpPr txBox="1"/>
          <p:nvPr/>
        </p:nvSpPr>
        <p:spPr>
          <a:xfrm>
            <a:off x="6286500" y="1047750"/>
            <a:ext cx="5524500" cy="533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975" noProof="1">
                <a:solidFill>
                  <a:srgbClr val="CCCCCC"/>
                </a:solidFill>
                <a:latin typeface="微软雅黑"/>
                <a:ea typeface="微软雅黑"/>
              </a:rPr>
              <a:t>Дерево датасета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dataset/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├── audio/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│   ├── man/2/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│   │   ├── conditioner/*.ogg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│   │   ├── curtains/*.ogg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│   │   ├── lamp/*.ogg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│   │   ├── lock/*.ogg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│   │   └── tv/*.ogg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│   └── woman/1/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│       ├── conditioner/*.ogg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│       ├── curtains/*.ogg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│       ├── lamp/*.ogg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│       ├── lock/*.ogg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│       └── tv/*.ogg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└── video/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    ├── man/2/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    │   ├── conditioner/*.webm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    │   ├── curtains/*.webm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    │   ├── lamp/*.webm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    │   ├── lock/*.webm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    │   └── tv/*.webm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    └── woman/1/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        ├── conditioner/*.webm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        ├── curtains/*.webm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        ├── lamp/*.webm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        ├── lock/*.webm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CCCCC"/>
                </a:solidFill>
                <a:latin typeface="微软雅黑"/>
                <a:ea typeface="微软雅黑"/>
              </a:rPr>
              <a:t>        └── tv/*.webm</a:t>
            </a:r>
          </a:p>
        </p:txBody>
      </p:sp>
      <p:sp>
        <p:nvSpPr>
          <p:cNvPr id="7" name="dsl:text_bottom"/>
          <p:cNvSpPr txBox="1"/>
          <p:nvPr/>
        </p:nvSpPr>
        <p:spPr>
          <a:xfrm>
            <a:off x="381000" y="4095750"/>
            <a:ext cx="5524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975" noProof="1">
                <a:solidFill>
                  <a:srgbClr val="888888"/>
                </a:solidFill>
                <a:latin typeface="微软雅黑"/>
                <a:ea typeface="微软雅黑"/>
              </a:rPr>
              <a:t>Форматы аннотаций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888888"/>
                </a:solidFill>
                <a:latin typeface="微软雅黑"/>
                <a:ea typeface="微软雅黑"/>
              </a:rPr>
              <a:t>- Текст: TSV (CoNLL-U + IOB2)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888888"/>
                </a:solidFill>
                <a:latin typeface="微软雅黑"/>
                <a:ea typeface="微软雅黑"/>
              </a:rPr>
              <a:t>- Аудио: CSV (Praat TextGrid + акустика)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888888"/>
                </a:solidFill>
                <a:latin typeface="微软雅黑"/>
                <a:ea typeface="微软雅黑"/>
              </a:rPr>
              <a:t>- Видео: JSON (COCO-like, bounding boxes)</a:t>
            </a:r>
          </a:p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888888"/>
                </a:solidFill>
                <a:latin typeface="微软雅黑"/>
                <a:ea typeface="微软雅黑"/>
              </a:rPr>
              <a:t>- Граф: RDF/Turtle (rdflib) + SPARQL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b="1" sz="975" noProof="1">
                <a:solidFill>
                  <a:srgbClr val="888888"/>
                </a:solidFill>
                <a:latin typeface="微软雅黑"/>
                <a:ea typeface="微软雅黑"/>
              </a:rPr>
              <a:t>Устройства:</a:t>
            </a:r>
            <a:r>
              <a:rPr sz="975" noProof="1">
                <a:solidFill>
                  <a:srgbClr val="888888"/>
                </a:solidFill>
                <a:latin typeface="微软雅黑"/>
                <a:ea typeface="微软雅黑"/>
              </a:rPr>
              <a:t> Lamp, Conditioner, Curtains, TV, Lock</a:t>
            </a:r>
          </a:p>
          <a:p>
            <a:pPr algn="l">
              <a:lnSpc>
                <a:spcPct val="140000"/>
              </a:lnSpc>
            </a:pPr>
            <a:r>
              <a:rPr b="1" sz="975" noProof="1">
                <a:solidFill>
                  <a:srgbClr val="888888"/>
                </a:solidFill>
                <a:latin typeface="微软雅黑"/>
                <a:ea typeface="微软雅黑"/>
              </a:rPr>
              <a:t>Жесты:</a:t>
            </a:r>
            <a:r>
              <a:rPr sz="975" noProof="1">
                <a:solidFill>
                  <a:srgbClr val="888888"/>
                </a:solidFill>
                <a:latin typeface="微软雅黑"/>
                <a:ea typeface="微软雅黑"/>
              </a:rPr>
              <a:t> Круг, Ладонь-стоп, Свайп, Хлопок, Щелчок, Поднятие руки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8daac2"/>
    <Color name="secondary" value="#ed7d31"/>
    <Color name="dark" value="#000000"/>
    <Color name="light" value="#ffffff"/>
    <Color name="accent3" value="#a5a5a5"/>
    <Color name="accent4" value="#ffc000"/>
    <Color name="accent5" value="#4472c4"/>
    <Color name="accent6" value="#70ad47"/>
  </Colors>
</DslMetadata>
</file>

<file path=customXml/itemProps1.xml><?xml version="1.0" encoding="utf-8"?>
<ns0:datastoreItem xmlns:ns0="http://schemas.openxmlformats.org/officeDocument/2006/customXml" ns0:itemID="{15A1CBAA-AB82-4D8C-91D6-554F938E1A47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